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43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44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45" r:id="rId40"/>
    <p:sldId id="295" r:id="rId41"/>
    <p:sldId id="296" r:id="rId42"/>
    <p:sldId id="297" r:id="rId43"/>
    <p:sldId id="298" r:id="rId44"/>
    <p:sldId id="299" r:id="rId45"/>
    <p:sldId id="346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47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48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49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97" autoAdjust="0"/>
  </p:normalViewPr>
  <p:slideViewPr>
    <p:cSldViewPr>
      <p:cViewPr varScale="1">
        <p:scale>
          <a:sx n="75" d="100"/>
          <a:sy n="75" d="100"/>
        </p:scale>
        <p:origin x="946" y="28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A61C5-C50B-4AF8-9819-9DE240DDFEAA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8E3D5-65A2-46D3-BBB7-6BACFFEB0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09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149f1776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149f1776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149f1776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149f1776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149f1776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149f1776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149f1776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149f1776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149f1776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149f1776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149f1776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149f1776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149f1776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149f1776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149f1776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149f1776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149f17760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149f17760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149f1776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149f1776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149f1776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149f1776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149f177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149f177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149f1776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149f1776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149f17760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149f17760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149f17760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149f17760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149f17760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149f17760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149f17760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149f17760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149f1776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149f17760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149f17760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149f17760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149f1776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149f17760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149f1776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149f1776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149f17760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149f17760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149f1776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149f1776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149f17760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149f17760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149f1776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149f1776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149f1776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149f1776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149f17760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149f17760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149f1776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149f17760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149f17760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6149f17760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149f17760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149f17760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149f17760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149f17760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149f17760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6149f17760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149f17760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6149f17760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149f17760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6149f17760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149f17760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6149f17760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149f17760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149f17760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149f17760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149f17760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149f17760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6149f17760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149f17760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149f17760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149f17760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6149f17760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149f17760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149f17760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149f17760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149f17760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149f17760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6149f17760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149f17760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6149f17760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149f17760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6149f17760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149f17760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6149f17760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6149f17760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6149f17760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6149f17760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6149f17760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149f17760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6149f17760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6149f17760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6149f17760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149f17760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149f17760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149f17760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6149f17760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6149f17760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6149f17760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6149f17760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6149f17760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6149f17760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6149f17760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149f17760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6149f17760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149f17760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6149f17760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149f17760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6149f17760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149f17760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6149f17760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6149f17760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6149f17760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149f17760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6149f17760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6149f17760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6149f17760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149f17760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6149f17760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6149f17760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6149f17760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6149f17760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6149f17760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6149f17760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6149f17760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149f17760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6149f17760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6149f17760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6149f17760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6149f1776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6149f1776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6149f17760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6149f17760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6149f17760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6149f17760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149f17760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6149f17760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149f17760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6149f17760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6149f17760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6149f17760_0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6149f17760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6149f17760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6149f17760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6149f17760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6149f17760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6149f17760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6149f17760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6149f17760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5F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C55A1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5F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5F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95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90448"/>
            <a:ext cx="247396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1F5F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48994" y="1796542"/>
            <a:ext cx="6645275" cy="1439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C55A1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352800"/>
              <a:ext cx="11582400" cy="2743200"/>
            </a:xfrm>
            <a:custGeom>
              <a:avLst/>
              <a:gdLst/>
              <a:ahLst/>
              <a:cxnLst/>
              <a:rect l="l" t="t" r="r" b="b"/>
              <a:pathLst>
                <a:path w="11582400" h="2743200">
                  <a:moveTo>
                    <a:pt x="11582400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11582400" y="2743200"/>
                  </a:lnTo>
                  <a:lnTo>
                    <a:pt x="11582400" y="0"/>
                  </a:lnTo>
                  <a:close/>
                </a:path>
              </a:pathLst>
            </a:custGeom>
            <a:solidFill>
              <a:srgbClr val="0F11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60291" y="6096000"/>
              <a:ext cx="3862070" cy="76200"/>
            </a:xfrm>
            <a:custGeom>
              <a:avLst/>
              <a:gdLst/>
              <a:ahLst/>
              <a:cxnLst/>
              <a:rect l="l" t="t" r="r" b="b"/>
              <a:pathLst>
                <a:path w="3862070" h="76200">
                  <a:moveTo>
                    <a:pt x="386181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1816" y="76200"/>
                  </a:lnTo>
                  <a:lnTo>
                    <a:pt x="3861816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096000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1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1" y="76200"/>
                  </a:lnTo>
                  <a:lnTo>
                    <a:pt x="3860291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22107" y="6096000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2" y="76200"/>
                  </a:lnTo>
                  <a:lnTo>
                    <a:pt x="38602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107" y="3352800"/>
              <a:ext cx="2743200" cy="197967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94741" y="5328731"/>
            <a:ext cx="1911985" cy="56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985">
              <a:lnSpc>
                <a:spcPts val="3105"/>
              </a:lnSpc>
            </a:pPr>
            <a:r>
              <a:rPr sz="2900" b="1" spc="-15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900" b="1" spc="-16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900" b="1" spc="-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65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r>
              <a:rPr sz="2900" spc="-155" dirty="0">
                <a:solidFill>
                  <a:srgbClr val="FFFFFF"/>
                </a:solidFill>
                <a:latin typeface="Arial MT"/>
                <a:cs typeface="Arial MT"/>
              </a:rPr>
              <a:t>ilan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900">
              <a:latin typeface="Arial MT"/>
              <a:cs typeface="Arial MT"/>
            </a:endParaRPr>
          </a:p>
          <a:p>
            <a:pPr>
              <a:lnSpc>
                <a:spcPts val="1335"/>
              </a:lnSpc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Pilani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Campus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19233" y="786513"/>
            <a:ext cx="1675764" cy="9448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900" b="1" spc="-15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900" b="1" spc="-1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900" b="1" spc="-1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900" b="1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60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r>
              <a:rPr sz="2900" spc="-155" dirty="0">
                <a:solidFill>
                  <a:srgbClr val="FFFFFF"/>
                </a:solidFill>
                <a:latin typeface="Arial MT"/>
                <a:cs typeface="Arial MT"/>
              </a:rPr>
              <a:t>ilan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900">
              <a:latin typeface="Arial MT"/>
              <a:cs typeface="Arial MT"/>
            </a:endParaRPr>
          </a:p>
          <a:p>
            <a:pPr marL="55880">
              <a:lnSpc>
                <a:spcPct val="100000"/>
              </a:lnSpc>
              <a:spcBef>
                <a:spcPts val="39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WILP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9200" y="0"/>
            <a:ext cx="2924555" cy="6918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073645" y="2773807"/>
            <a:ext cx="4716145" cy="10239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0">
              <a:lnSpc>
                <a:spcPct val="100000"/>
              </a:lnSpc>
              <a:spcBef>
                <a:spcPts val="105"/>
              </a:spcBef>
            </a:pPr>
            <a:r>
              <a:rPr sz="3200" i="1" spc="-5" dirty="0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sz="3200" i="1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i="1" dirty="0">
                <a:latin typeface="Arial" panose="020B0604020202020204" pitchFamily="34" charset="0"/>
                <a:cs typeface="Arial" panose="020B0604020202020204" pitchFamily="34" charset="0"/>
              </a:rPr>
              <a:t>CLZG516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z="3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3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0"/>
            <a:ext cx="12198350" cy="6861175"/>
            <a:chOff x="-3175" y="0"/>
            <a:chExt cx="12198350" cy="6861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12192000" y="0"/>
                  </a:moveTo>
                  <a:lnTo>
                    <a:pt x="0" y="0"/>
                  </a:lnTo>
                  <a:lnTo>
                    <a:pt x="0" y="2577083"/>
                  </a:lnTo>
                  <a:lnTo>
                    <a:pt x="12192000" y="257708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0" y="2577083"/>
                  </a:moveTo>
                  <a:lnTo>
                    <a:pt x="12192000" y="257708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77083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00" y="0"/>
              <a:ext cx="2924555" cy="6918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43528" y="6775703"/>
              <a:ext cx="3862070" cy="76200"/>
            </a:xfrm>
            <a:custGeom>
              <a:avLst/>
              <a:gdLst/>
              <a:ahLst/>
              <a:cxnLst/>
              <a:rect l="l" t="t" r="r" b="b"/>
              <a:pathLst>
                <a:path w="3862070" h="76200">
                  <a:moveTo>
                    <a:pt x="386181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1816" y="76200"/>
                  </a:lnTo>
                  <a:lnTo>
                    <a:pt x="3861816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775703"/>
              <a:ext cx="3843654" cy="76200"/>
            </a:xfrm>
            <a:custGeom>
              <a:avLst/>
              <a:gdLst/>
              <a:ahLst/>
              <a:cxnLst/>
              <a:rect l="l" t="t" r="r" b="b"/>
              <a:pathLst>
                <a:path w="3843654" h="76200">
                  <a:moveTo>
                    <a:pt x="3843528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43528" y="76200"/>
                  </a:lnTo>
                  <a:lnTo>
                    <a:pt x="3843528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5343" y="6775703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2" y="76200"/>
                  </a:lnTo>
                  <a:lnTo>
                    <a:pt x="38602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576306" y="730276"/>
            <a:ext cx="1398270" cy="8909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Pil</a:t>
            </a:r>
            <a:r>
              <a:rPr sz="2400" spc="-16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748665">
              <a:lnSpc>
                <a:spcPct val="100000"/>
              </a:lnSpc>
              <a:spcBef>
                <a:spcPts val="7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WILP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343" y="4262120"/>
            <a:ext cx="6220257" cy="1649169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Multicore and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GPGPU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SIMD vs. </a:t>
            </a:r>
            <a:r>
              <a:rPr lang="en-US" sz="2400" spc="-155" dirty="0" err="1">
                <a:latin typeface="Arial" panose="020B0604020202020204" pitchFamily="34" charset="0"/>
                <a:cs typeface="Arial" panose="020B0604020202020204" pitchFamily="34" charset="0"/>
              </a:rPr>
              <a:t>MIMD</a:t>
            </a: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 execution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Memory hierarchies and bandwidth considerations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705600" y="1730593"/>
            <a:ext cx="54102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2145">
              <a:lnSpc>
                <a:spcPts val="4560"/>
              </a:lnSpc>
              <a:spcBef>
                <a:spcPts val="95"/>
              </a:spcBef>
            </a:pPr>
            <a:r>
              <a:rPr sz="4000" i="1" spc="-35" dirty="0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sz="4000" i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CLZG516</a:t>
            </a:r>
            <a:r>
              <a:rPr sz="4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4560"/>
              </a:lnSpc>
            </a:pPr>
            <a:r>
              <a:rPr sz="4000" i="1" spc="-40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z="4000" i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5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4000" i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Multicore CPUs and GPGPU: An Overview</a:t>
            </a:r>
            <a:endParaRPr b="1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914400" y="1704353"/>
            <a:ext cx="10963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Multicore CPUs: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Multiple independent cores on a single chip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Each core has its own L1/L2 cache and may share L3 cache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Executes different tasks or threads (</a:t>
            </a:r>
            <a:r>
              <a:rPr lang="en-GB" dirty="0" err="1">
                <a:solidFill>
                  <a:schemeClr val="dk1"/>
                </a:solidFill>
              </a:rPr>
              <a:t>MIMD</a:t>
            </a:r>
            <a:r>
              <a:rPr lang="en-GB" dirty="0">
                <a:solidFill>
                  <a:schemeClr val="dk1"/>
                </a:solidFill>
              </a:rPr>
              <a:t>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 err="1">
                <a:solidFill>
                  <a:schemeClr val="dk1"/>
                </a:solidFill>
              </a:rPr>
              <a:t>GPGPU</a:t>
            </a:r>
            <a:r>
              <a:rPr lang="en-GB" sz="1800" b="1" dirty="0">
                <a:solidFill>
                  <a:schemeClr val="dk1"/>
                </a:solidFill>
              </a:rPr>
              <a:t> (General-Purpose Graphics Processing Unit):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Thousands of smaller, simpler cores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Executes massive number of threads in parallel (SIMD model)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Optimized for high throughput, not latency</a:t>
            </a:r>
            <a:br>
              <a:rPr lang="en-GB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467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SIMD – Single Instruction, Multiple Data</a:t>
            </a:r>
            <a:endParaRPr b="1"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07701" y="1912825"/>
            <a:ext cx="7366200" cy="399934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Executes the </a:t>
            </a:r>
            <a:r>
              <a:rPr lang="en-GB" sz="1800" b="1" dirty="0">
                <a:solidFill>
                  <a:schemeClr val="dk1"/>
                </a:solidFill>
              </a:rPr>
              <a:t>same instruction</a:t>
            </a:r>
            <a:r>
              <a:rPr lang="en-GB" sz="1800" dirty="0">
                <a:solidFill>
                  <a:schemeClr val="dk1"/>
                </a:solidFill>
              </a:rPr>
              <a:t> across multiple data elements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Key Features: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Suitable for </a:t>
            </a:r>
            <a:r>
              <a:rPr lang="en-GB" b="1" dirty="0">
                <a:solidFill>
                  <a:schemeClr val="dk1"/>
                </a:solidFill>
              </a:rPr>
              <a:t>data-parallel</a:t>
            </a:r>
            <a:r>
              <a:rPr lang="en-GB" dirty="0">
                <a:solidFill>
                  <a:schemeClr val="dk1"/>
                </a:solidFill>
              </a:rPr>
              <a:t> applications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Lockstep execution – all processing elements perform same operation simultaneously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Examples of Use: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Vector and matrix operations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Image filters, audio processing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Scientific computation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Hardware Support: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spcAft>
                <a:spcPts val="1600"/>
              </a:spcAft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Intel </a:t>
            </a:r>
            <a:r>
              <a:rPr lang="en-GB" dirty="0" err="1">
                <a:solidFill>
                  <a:schemeClr val="dk1"/>
                </a:solidFill>
              </a:rPr>
              <a:t>AVX</a:t>
            </a:r>
            <a:r>
              <a:rPr lang="en-GB" dirty="0">
                <a:solidFill>
                  <a:schemeClr val="dk1"/>
                </a:solidFill>
              </a:rPr>
              <a:t>, ARM NEON, NVIDIA CUDA (warps/wavefronts)</a:t>
            </a:r>
            <a:endParaRPr b="1" dirty="0">
              <a:solidFill>
                <a:schemeClr val="dk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1200" y="1560167"/>
            <a:ext cx="3886000" cy="3999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MIMD – Multiple Instruction, Multiple Data</a:t>
            </a:r>
            <a:endParaRPr b="1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57200" y="1739833"/>
            <a:ext cx="7752033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Each processor or core can execute </a:t>
            </a:r>
            <a:r>
              <a:rPr lang="en-GB" sz="1800" b="1" dirty="0">
                <a:solidFill>
                  <a:schemeClr val="dk1"/>
                </a:solidFill>
              </a:rPr>
              <a:t>different instructions</a:t>
            </a:r>
            <a:r>
              <a:rPr lang="en-GB" sz="1800" dirty="0">
                <a:solidFill>
                  <a:schemeClr val="dk1"/>
                </a:solidFill>
              </a:rPr>
              <a:t> on </a:t>
            </a:r>
            <a:r>
              <a:rPr lang="en-GB" sz="1800" b="1" dirty="0">
                <a:solidFill>
                  <a:schemeClr val="dk1"/>
                </a:solidFill>
              </a:rPr>
              <a:t>different data</a:t>
            </a:r>
            <a:endParaRPr sz="1800"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Key Features: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Flexible and versatile execution model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Ideal for task-parallel workloads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Examples of Use: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Operating systems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Web servers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Multithreaded applications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Hardware Support: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Multicore CPUs (Intel, AMD)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Some heterogeneous compute platforms (e.g., ARM </a:t>
            </a:r>
            <a:r>
              <a:rPr lang="en-GB" dirty="0" err="1">
                <a:solidFill>
                  <a:schemeClr val="dk1"/>
                </a:solidFill>
              </a:rPr>
              <a:t>big.LITTLE</a:t>
            </a:r>
            <a:r>
              <a:rPr lang="en-GB" dirty="0">
                <a:solidFill>
                  <a:schemeClr val="dk1"/>
                </a:solidFill>
              </a:rPr>
              <a:t>)</a:t>
            </a:r>
            <a:br>
              <a:rPr lang="en-GB" sz="1467" dirty="0">
                <a:solidFill>
                  <a:schemeClr val="dk1"/>
                </a:solidFill>
              </a:rPr>
            </a:br>
            <a:endParaRPr sz="1467" b="1" dirty="0">
              <a:solidFill>
                <a:schemeClr val="dk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8033" y="1864967"/>
            <a:ext cx="3650768" cy="3650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SIMD vs. MIMD – Key Differences</a:t>
            </a:r>
            <a:endParaRPr b="1"/>
          </a:p>
        </p:txBody>
      </p:sp>
      <p:graphicFrame>
        <p:nvGraphicFramePr>
          <p:cNvPr id="80" name="Google Shape;80;p17"/>
          <p:cNvGraphicFramePr/>
          <p:nvPr>
            <p:extLst>
              <p:ext uri="{D42A27DB-BD31-4B8C-83A1-F6EECF244321}">
                <p14:modId xmlns:p14="http://schemas.microsoft.com/office/powerpoint/2010/main" val="3246390799"/>
              </p:ext>
            </p:extLst>
          </p:nvPr>
        </p:nvGraphicFramePr>
        <p:xfrm>
          <a:off x="1075733" y="1724933"/>
          <a:ext cx="10084367" cy="429973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20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4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 dirty="0"/>
                        <a:t>Aspect</a:t>
                      </a:r>
                      <a:endParaRPr sz="15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 dirty="0"/>
                        <a:t>SIMD</a:t>
                      </a:r>
                      <a:endParaRPr sz="15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MIMD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4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Instruction Stream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Single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Multiple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4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Data Stream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Multiple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Multiple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4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Synchronization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High (lockstep)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Low (independent threads)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4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Control Flow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Less flexible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Highly flexible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4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Hardware Examples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GPUs, Vector Units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Multicore CPUs, Clusters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4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Use Cases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Matrix ops, signal processing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Web servers, OS-level tasks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4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Efficiency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High for regular data structures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High for diverse workloads</a:t>
                      </a:r>
                      <a:endParaRPr sz="15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Challenges in SIMD &amp; MIMD Execution</a:t>
            </a:r>
            <a:endParaRPr b="1"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8364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SIMD Limitations: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Branch divergence</a:t>
            </a:r>
            <a:r>
              <a:rPr lang="en-GB" dirty="0">
                <a:solidFill>
                  <a:schemeClr val="dk1"/>
                </a:solidFill>
              </a:rPr>
              <a:t>: Different threads follow different execution paths (common in GPU warps)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Memory alignment</a:t>
            </a:r>
            <a:r>
              <a:rPr lang="en-GB" dirty="0">
                <a:solidFill>
                  <a:schemeClr val="dk1"/>
                </a:solidFill>
              </a:rPr>
              <a:t>: Poor alignment leads to performance penalties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Limited for irregular, task-diverse workloads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 err="1">
                <a:solidFill>
                  <a:schemeClr val="dk1"/>
                </a:solidFill>
              </a:rPr>
              <a:t>MIMD</a:t>
            </a:r>
            <a:r>
              <a:rPr lang="en-GB" sz="1800" b="1" dirty="0">
                <a:solidFill>
                  <a:schemeClr val="dk1"/>
                </a:solidFill>
              </a:rPr>
              <a:t> Limitations: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Thread management</a:t>
            </a:r>
            <a:r>
              <a:rPr lang="en-GB" dirty="0">
                <a:solidFill>
                  <a:schemeClr val="dk1"/>
                </a:solidFill>
              </a:rPr>
              <a:t>: Requires careful synchronization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Race conditions</a:t>
            </a:r>
            <a:r>
              <a:rPr lang="en-GB" dirty="0">
                <a:solidFill>
                  <a:schemeClr val="dk1"/>
                </a:solidFill>
              </a:rPr>
              <a:t> and deadlocks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Cache coherence</a:t>
            </a:r>
            <a:r>
              <a:rPr lang="en-GB" dirty="0">
                <a:solidFill>
                  <a:schemeClr val="dk1"/>
                </a:solidFill>
              </a:rPr>
              <a:t>: Shared data consistency becomes complex.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Memory Hierarchy in Multicore &amp; GPGPU</a:t>
            </a:r>
            <a:endParaRPr b="1"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533400" y="1551367"/>
            <a:ext cx="62115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Purpose:</a:t>
            </a:r>
            <a:r>
              <a:rPr lang="en-GB" sz="1800" dirty="0">
                <a:solidFill>
                  <a:schemeClr val="dk1"/>
                </a:solidFill>
              </a:rPr>
              <a:t> Bridge speed gap between fast processors and slow memory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Hierarchy Levels: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Registers</a:t>
            </a:r>
            <a:r>
              <a:rPr lang="en-GB" dirty="0">
                <a:solidFill>
                  <a:schemeClr val="dk1"/>
                </a:solidFill>
              </a:rPr>
              <a:t>: Fastest, smallest, processor-specific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L1, L2, L3 Cache</a:t>
            </a:r>
            <a:r>
              <a:rPr lang="en-GB" dirty="0">
                <a:solidFill>
                  <a:schemeClr val="dk1"/>
                </a:solidFill>
              </a:rPr>
              <a:t>: On-chip, close to core, progressively larger and slower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Main Memory (RAM)</a:t>
            </a:r>
            <a:r>
              <a:rPr lang="en-GB" dirty="0">
                <a:solidFill>
                  <a:schemeClr val="dk1"/>
                </a:solidFill>
              </a:rPr>
              <a:t>: Shared DRAM, slower than cache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Disk/SSD</a:t>
            </a:r>
            <a:r>
              <a:rPr lang="en-GB" dirty="0">
                <a:solidFill>
                  <a:schemeClr val="dk1"/>
                </a:solidFill>
              </a:rPr>
              <a:t>: Persistent storage, very high latency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GPU-Specific: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Shared Memory</a:t>
            </a:r>
            <a:r>
              <a:rPr lang="en-GB" dirty="0">
                <a:solidFill>
                  <a:schemeClr val="dk1"/>
                </a:solidFill>
              </a:rPr>
              <a:t>: Fast, limited, user-controlled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Global Memory</a:t>
            </a:r>
            <a:r>
              <a:rPr lang="en-GB" dirty="0">
                <a:solidFill>
                  <a:schemeClr val="dk1"/>
                </a:solidFill>
              </a:rPr>
              <a:t>: Accessible by all threads, high latency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Constant/Texture Memory</a:t>
            </a:r>
            <a:r>
              <a:rPr lang="en-GB" dirty="0">
                <a:solidFill>
                  <a:schemeClr val="dk1"/>
                </a:solidFill>
              </a:rPr>
              <a:t>: Specialized, cached memory for specific use cases</a:t>
            </a:r>
            <a:endParaRPr b="1" dirty="0">
              <a:solidFill>
                <a:schemeClr val="dk1"/>
              </a:solidFill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4134" y="2456134"/>
            <a:ext cx="5377501" cy="3139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Memory Bandwidth Considerations</a:t>
            </a:r>
            <a:endParaRPr b="1"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255067" y="1447800"/>
            <a:ext cx="57504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Memory Bandwidth: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Maximum rate at which data can be transferred between memory and processors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Why Important?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High computation speeds are meaningless without fast data access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Multicore CPUs: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Shared bandwidth among cores → contention possible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Cache reduces memory access latency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 err="1">
                <a:solidFill>
                  <a:schemeClr val="dk1"/>
                </a:solidFill>
              </a:rPr>
              <a:t>GPGPUs</a:t>
            </a:r>
            <a:r>
              <a:rPr lang="en-GB" sz="1800" b="1" dirty="0">
                <a:solidFill>
                  <a:schemeClr val="dk1"/>
                </a:solidFill>
              </a:rPr>
              <a:t>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Very high theoretical memory bandwidth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Sensitive to </a:t>
            </a:r>
            <a:r>
              <a:rPr lang="en-GB" b="1" dirty="0">
                <a:solidFill>
                  <a:schemeClr val="dk1"/>
                </a:solidFill>
              </a:rPr>
              <a:t>access patterns</a:t>
            </a:r>
            <a:endParaRPr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Coalesced access</a:t>
            </a:r>
            <a:r>
              <a:rPr lang="en-GB" dirty="0">
                <a:solidFill>
                  <a:schemeClr val="dk1"/>
                </a:solidFill>
              </a:rPr>
              <a:t> (threads accessing adjacent memory) is critical for performance</a:t>
            </a:r>
            <a:endParaRPr b="1" dirty="0">
              <a:solidFill>
                <a:schemeClr val="dk1"/>
              </a:solidFill>
            </a:endParaRPr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1534" y="1966567"/>
            <a:ext cx="5620068" cy="3143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Optimizing Memory Performance</a:t>
            </a:r>
            <a:endParaRPr b="1"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822000" y="1536633"/>
            <a:ext cx="611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For Multicore CPUs: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Use </a:t>
            </a:r>
            <a:r>
              <a:rPr lang="en-GB" b="1" dirty="0">
                <a:solidFill>
                  <a:schemeClr val="dk1"/>
                </a:solidFill>
              </a:rPr>
              <a:t>locality of reference</a:t>
            </a:r>
            <a:r>
              <a:rPr lang="en-GB" dirty="0">
                <a:solidFill>
                  <a:schemeClr val="dk1"/>
                </a:solidFill>
              </a:rPr>
              <a:t> to benefit from caches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Avoid </a:t>
            </a:r>
            <a:r>
              <a:rPr lang="en-GB" b="1" dirty="0">
                <a:solidFill>
                  <a:schemeClr val="dk1"/>
                </a:solidFill>
              </a:rPr>
              <a:t>false sharing</a:t>
            </a:r>
            <a:r>
              <a:rPr lang="en-GB" dirty="0">
                <a:solidFill>
                  <a:schemeClr val="dk1"/>
                </a:solidFill>
              </a:rPr>
              <a:t> – separate data written by different threads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Use cache-aware data structures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For </a:t>
            </a:r>
            <a:r>
              <a:rPr lang="en-GB" sz="1800" b="1" dirty="0" err="1">
                <a:solidFill>
                  <a:schemeClr val="dk1"/>
                </a:solidFill>
              </a:rPr>
              <a:t>GPGPU</a:t>
            </a:r>
            <a:r>
              <a:rPr lang="en-GB" sz="1800" b="1" dirty="0">
                <a:solidFill>
                  <a:schemeClr val="dk1"/>
                </a:solidFill>
              </a:rPr>
              <a:t>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Align memory access for coalescing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Utilize </a:t>
            </a:r>
            <a:r>
              <a:rPr lang="en-GB" b="1" dirty="0">
                <a:solidFill>
                  <a:schemeClr val="dk1"/>
                </a:solidFill>
              </a:rPr>
              <a:t>shared memory</a:t>
            </a:r>
            <a:r>
              <a:rPr lang="en-GB" dirty="0">
                <a:solidFill>
                  <a:schemeClr val="dk1"/>
                </a:solidFill>
              </a:rPr>
              <a:t> to avoid global memory latency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Minimize </a:t>
            </a:r>
            <a:r>
              <a:rPr lang="en-GB" b="1" dirty="0">
                <a:solidFill>
                  <a:schemeClr val="dk1"/>
                </a:solidFill>
              </a:rPr>
              <a:t>bank conflicts</a:t>
            </a:r>
            <a:r>
              <a:rPr lang="en-GB" dirty="0">
                <a:solidFill>
                  <a:schemeClr val="dk1"/>
                </a:solidFill>
              </a:rPr>
              <a:t> in shared memory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General Strategies: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Balance </a:t>
            </a:r>
            <a:r>
              <a:rPr lang="en-GB" b="1" dirty="0">
                <a:solidFill>
                  <a:schemeClr val="dk1"/>
                </a:solidFill>
              </a:rPr>
              <a:t>compute vs memory</a:t>
            </a:r>
            <a:r>
              <a:rPr lang="en-GB" dirty="0">
                <a:solidFill>
                  <a:schemeClr val="dk1"/>
                </a:solidFill>
              </a:rPr>
              <a:t> loads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Use </a:t>
            </a:r>
            <a:r>
              <a:rPr lang="en-GB" b="1" dirty="0">
                <a:solidFill>
                  <a:schemeClr val="dk1"/>
                </a:solidFill>
              </a:rPr>
              <a:t>pipelining and tiling</a:t>
            </a:r>
            <a:r>
              <a:rPr lang="en-GB" dirty="0">
                <a:solidFill>
                  <a:schemeClr val="dk1"/>
                </a:solidFill>
              </a:rPr>
              <a:t> techniques</a:t>
            </a:r>
            <a:endParaRPr b="1" dirty="0">
              <a:solidFill>
                <a:schemeClr val="dk1"/>
              </a:solidFill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8267" y="1661767"/>
            <a:ext cx="4415733" cy="3563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Real-World Applications</a:t>
            </a:r>
            <a:endParaRPr b="1"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7138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Multicore CPUs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Databases, compilers, real-time analytics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Multithreaded software, OS multitasking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 err="1">
                <a:solidFill>
                  <a:schemeClr val="dk1"/>
                </a:solidFill>
              </a:rPr>
              <a:t>GPGPUs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Deep learning (training and inference)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High-performance computing (</a:t>
            </a:r>
            <a:r>
              <a:rPr lang="en-GB" dirty="0" err="1">
                <a:solidFill>
                  <a:schemeClr val="dk1"/>
                </a:solidFill>
              </a:rPr>
              <a:t>HPC</a:t>
            </a:r>
            <a:r>
              <a:rPr lang="en-GB" dirty="0">
                <a:solidFill>
                  <a:schemeClr val="dk1"/>
                </a:solidFill>
              </a:rPr>
              <a:t>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Real-time rendering and image processing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17389-89B2-757E-2919-294CD1E70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0616D18-34D7-C9B4-B529-6AF681606388}"/>
              </a:ext>
            </a:extLst>
          </p:cNvPr>
          <p:cNvGrpSpPr/>
          <p:nvPr/>
        </p:nvGrpSpPr>
        <p:grpSpPr>
          <a:xfrm>
            <a:off x="-3175" y="0"/>
            <a:ext cx="12198350" cy="6861175"/>
            <a:chOff x="-3175" y="0"/>
            <a:chExt cx="12198350" cy="686117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391A59F-5AD5-1716-A9A2-B64288328B1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B2B6205-A2C5-E00C-3D51-EC3BE8C33516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12192000" y="0"/>
                  </a:moveTo>
                  <a:lnTo>
                    <a:pt x="0" y="0"/>
                  </a:lnTo>
                  <a:lnTo>
                    <a:pt x="0" y="2577083"/>
                  </a:lnTo>
                  <a:lnTo>
                    <a:pt x="12192000" y="257708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2120CF4-31D8-4601-021A-ACC10CDF01B1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0" y="2577083"/>
                  </a:moveTo>
                  <a:lnTo>
                    <a:pt x="12192000" y="257708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77083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158A1B5-4A22-7746-8AF4-51F1F05A66B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00" y="0"/>
              <a:ext cx="2924555" cy="691896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4A92861-04AE-AA23-4901-CCF9F059BE7B}"/>
                </a:ext>
              </a:extLst>
            </p:cNvPr>
            <p:cNvSpPr/>
            <p:nvPr/>
          </p:nvSpPr>
          <p:spPr>
            <a:xfrm>
              <a:off x="3843528" y="6775703"/>
              <a:ext cx="3862070" cy="76200"/>
            </a:xfrm>
            <a:custGeom>
              <a:avLst/>
              <a:gdLst/>
              <a:ahLst/>
              <a:cxnLst/>
              <a:rect l="l" t="t" r="r" b="b"/>
              <a:pathLst>
                <a:path w="3862070" h="76200">
                  <a:moveTo>
                    <a:pt x="386181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1816" y="76200"/>
                  </a:lnTo>
                  <a:lnTo>
                    <a:pt x="3861816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EA788FF-6A13-ADA8-93AF-AB2DD6DE0007}"/>
                </a:ext>
              </a:extLst>
            </p:cNvPr>
            <p:cNvSpPr/>
            <p:nvPr/>
          </p:nvSpPr>
          <p:spPr>
            <a:xfrm>
              <a:off x="0" y="6775703"/>
              <a:ext cx="3843654" cy="76200"/>
            </a:xfrm>
            <a:custGeom>
              <a:avLst/>
              <a:gdLst/>
              <a:ahLst/>
              <a:cxnLst/>
              <a:rect l="l" t="t" r="r" b="b"/>
              <a:pathLst>
                <a:path w="3843654" h="76200">
                  <a:moveTo>
                    <a:pt x="3843528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43528" y="76200"/>
                  </a:lnTo>
                  <a:lnTo>
                    <a:pt x="3843528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0680CA0-8D02-FBA7-8F3F-FA176DE7CD6A}"/>
                </a:ext>
              </a:extLst>
            </p:cNvPr>
            <p:cNvSpPr/>
            <p:nvPr/>
          </p:nvSpPr>
          <p:spPr>
            <a:xfrm>
              <a:off x="7705343" y="6775703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2" y="76200"/>
                  </a:lnTo>
                  <a:lnTo>
                    <a:pt x="38602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C9B616A5-7A5A-DA3D-7506-C47F4D9CAAC5}"/>
              </a:ext>
            </a:extLst>
          </p:cNvPr>
          <p:cNvSpPr txBox="1"/>
          <p:nvPr/>
        </p:nvSpPr>
        <p:spPr>
          <a:xfrm>
            <a:off x="10576306" y="730276"/>
            <a:ext cx="1398270" cy="8909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Pil</a:t>
            </a:r>
            <a:r>
              <a:rPr sz="2400" spc="-16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748665">
              <a:lnSpc>
                <a:spcPct val="100000"/>
              </a:lnSpc>
              <a:spcBef>
                <a:spcPts val="7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WILP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8317D26-D38B-A0B1-235C-4738480E03CC}"/>
              </a:ext>
            </a:extLst>
          </p:cNvPr>
          <p:cNvSpPr txBox="1"/>
          <p:nvPr/>
        </p:nvSpPr>
        <p:spPr>
          <a:xfrm>
            <a:off x="485343" y="4262120"/>
            <a:ext cx="6220257" cy="2198038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Distributed Clusters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CPU-only vs. GPU-accelerated clusters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Data sharding (horizontal vs. vertical)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Parameter-server vs. all-reduce paradigms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D5E5083-47BE-73E5-B498-27A97283C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5600" y="1730593"/>
            <a:ext cx="54102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2145">
              <a:lnSpc>
                <a:spcPts val="4560"/>
              </a:lnSpc>
              <a:spcBef>
                <a:spcPts val="95"/>
              </a:spcBef>
            </a:pPr>
            <a:r>
              <a:rPr sz="4000" i="1" spc="-35" dirty="0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sz="4000" i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CLZG516</a:t>
            </a:r>
            <a:r>
              <a:rPr sz="4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4560"/>
              </a:lnSpc>
            </a:pPr>
            <a:r>
              <a:rPr sz="4000" i="1" spc="-40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z="4000" i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5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4000" i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881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Introduction to Distributed Clusters</a:t>
            </a:r>
            <a:endParaRPr b="1"/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1"/>
          </p:nvPr>
        </p:nvSpPr>
        <p:spPr>
          <a:xfrm>
            <a:off x="1228400" y="1143000"/>
            <a:ext cx="9917600" cy="51520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A </a:t>
            </a:r>
            <a:r>
              <a:rPr lang="en-GB" sz="1800" b="1" dirty="0">
                <a:solidFill>
                  <a:schemeClr val="dk1"/>
                </a:solidFill>
              </a:rPr>
              <a:t>distributed cluster</a:t>
            </a:r>
            <a:r>
              <a:rPr lang="en-GB" sz="1800" dirty="0">
                <a:solidFill>
                  <a:schemeClr val="dk1"/>
                </a:solidFill>
              </a:rPr>
              <a:t> is a network of independent computing nodes working together to process large-scale data or computational tasks.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Used in cloud computing, deep learning, big data analytics, and scientific simulations.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Key Goals: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High availability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Scalability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Fault tolerance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Load balancing</a:t>
            </a:r>
            <a:endParaRPr b="1" dirty="0">
              <a:solidFill>
                <a:schemeClr val="dk1"/>
              </a:solidFill>
            </a:endParaRPr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2120" y="2913760"/>
            <a:ext cx="4534168" cy="3416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CPU-only Clusters</a:t>
            </a:r>
            <a:endParaRPr b="1"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1"/>
          </p:nvPr>
        </p:nvSpPr>
        <p:spPr>
          <a:xfrm>
            <a:off x="532467" y="1435367"/>
            <a:ext cx="5951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Comprised solely of </a:t>
            </a:r>
            <a:r>
              <a:rPr lang="en-GB" sz="1800" b="1" dirty="0">
                <a:solidFill>
                  <a:schemeClr val="dk1"/>
                </a:solidFill>
              </a:rPr>
              <a:t>multicore CPU-based nodes</a:t>
            </a:r>
            <a:r>
              <a:rPr lang="en-GB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Suitable for: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Applications with control-heavy logic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Large in-memory databases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Distributed file systems and ETL pipelines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Benefits: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More memory per node (better for large datasets)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Well-supported by traditional distributed frameworks (e.g., Hadoop, Spark, </a:t>
            </a:r>
            <a:r>
              <a:rPr lang="en-GB" dirty="0" err="1">
                <a:solidFill>
                  <a:schemeClr val="dk1"/>
                </a:solidFill>
              </a:rPr>
              <a:t>MPI</a:t>
            </a:r>
            <a:r>
              <a:rPr lang="en-GB" dirty="0">
                <a:solidFill>
                  <a:schemeClr val="dk1"/>
                </a:solidFill>
              </a:rPr>
              <a:t>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Easier to manage and deploy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Limitations: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Lower computational throughput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Slower performance in compute-intensive tasks like deep learning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5501" y="1847230"/>
            <a:ext cx="5769335" cy="316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GPU-Accelerated Clusters</a:t>
            </a:r>
            <a:endParaRPr b="1"/>
          </a:p>
        </p:txBody>
      </p:sp>
      <p:sp>
        <p:nvSpPr>
          <p:cNvPr id="138" name="Google Shape;138;p26"/>
          <p:cNvSpPr txBox="1">
            <a:spLocks noGrp="1"/>
          </p:cNvSpPr>
          <p:nvPr>
            <p:ph type="body" idx="1"/>
          </p:nvPr>
        </p:nvSpPr>
        <p:spPr>
          <a:xfrm>
            <a:off x="575967" y="1478867"/>
            <a:ext cx="7010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Consist of nodes with both CPUs and </a:t>
            </a:r>
            <a:r>
              <a:rPr lang="en-GB" sz="1800" b="1" dirty="0">
                <a:solidFill>
                  <a:schemeClr val="dk1"/>
                </a:solidFill>
              </a:rPr>
              <a:t>one or more GPUs</a:t>
            </a:r>
            <a:r>
              <a:rPr lang="en-GB" sz="1800" dirty="0">
                <a:solidFill>
                  <a:schemeClr val="dk1"/>
                </a:solidFill>
              </a:rPr>
              <a:t> (NVIDIA, AMD).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Ideal for: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Training large-scale deep learning models (CNNs, Transformers)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Image/video processing, simulations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Benefits: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Massive parallelism using thousands of CUDA cores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Faster matrix operations (e.g., GEMM, convolutions)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High floating-point throughput (</a:t>
            </a:r>
            <a:r>
              <a:rPr lang="en-GB" dirty="0" err="1">
                <a:solidFill>
                  <a:schemeClr val="dk1"/>
                </a:solidFill>
              </a:rPr>
              <a:t>TFLOPs</a:t>
            </a:r>
            <a:r>
              <a:rPr lang="en-GB" dirty="0">
                <a:solidFill>
                  <a:schemeClr val="dk1"/>
                </a:solidFill>
              </a:rPr>
              <a:t> range)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Limitations: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Lower memory per GPU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Requires GPU-compatible libraries (e.g., TensorFlow GPU, CUDA, </a:t>
            </a:r>
            <a:r>
              <a:rPr lang="en-GB" dirty="0" err="1">
                <a:solidFill>
                  <a:schemeClr val="dk1"/>
                </a:solidFill>
              </a:rPr>
              <a:t>NCCL</a:t>
            </a:r>
            <a:r>
              <a:rPr lang="en-GB" dirty="0">
                <a:solidFill>
                  <a:schemeClr val="dk1"/>
                </a:solidFill>
              </a:rPr>
              <a:t>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Higher hardware and maintenance cost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367" y="1545667"/>
            <a:ext cx="4135133" cy="42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CPU-only vs GPU-Accelerated Clusters</a:t>
            </a:r>
            <a:endParaRPr b="1"/>
          </a:p>
        </p:txBody>
      </p:sp>
      <p:graphicFrame>
        <p:nvGraphicFramePr>
          <p:cNvPr id="145" name="Google Shape;145;p27"/>
          <p:cNvGraphicFramePr/>
          <p:nvPr>
            <p:extLst>
              <p:ext uri="{D42A27DB-BD31-4B8C-83A1-F6EECF244321}">
                <p14:modId xmlns:p14="http://schemas.microsoft.com/office/powerpoint/2010/main" val="1068403738"/>
              </p:ext>
            </p:extLst>
          </p:nvPr>
        </p:nvGraphicFramePr>
        <p:xfrm>
          <a:off x="1156833" y="1643800"/>
          <a:ext cx="9893800" cy="446633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77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13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 dirty="0"/>
                        <a:t>Feature</a:t>
                      </a:r>
                      <a:endParaRPr sz="15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CPU-only Clusters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GPU-Accelerated Clusters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3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Compute Units</a:t>
                      </a:r>
                      <a:endParaRPr sz="15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Multicore CPUs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CPUs + Dedicated GPUs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3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Memory per Node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High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Lower (per GPU)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23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Programming Model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Threading, MPI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CUDA, OpenCL, TensorFlow, PyTorch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23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Power Consumption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Lower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Higher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23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Ideal Use Cases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Control-heavy tasks, I/O-bound jobs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Deep learning, simulations, HPC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023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Cost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Lower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Higher (GPUs, cooling systems, etc.)</a:t>
                      </a:r>
                      <a:endParaRPr sz="15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>
              <a:buClr>
                <a:schemeClr val="dk1"/>
              </a:buClr>
              <a:buSzPct val="39285"/>
            </a:pPr>
            <a:r>
              <a:rPr lang="en-GB" b="1"/>
              <a:t>What is Data Sharding?</a:t>
            </a:r>
            <a:endParaRPr b="1"/>
          </a:p>
          <a:p>
            <a:pPr algn="l" rtl="0"/>
            <a:endParaRPr b="1"/>
          </a:p>
        </p:txBody>
      </p:sp>
      <p:sp>
        <p:nvSpPr>
          <p:cNvPr id="151" name="Google Shape;151;p28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Data sharding</a:t>
            </a:r>
            <a:r>
              <a:rPr lang="en-GB" sz="1800" dirty="0">
                <a:solidFill>
                  <a:schemeClr val="dk1"/>
                </a:solidFill>
              </a:rPr>
              <a:t> is the process of </a:t>
            </a:r>
            <a:r>
              <a:rPr lang="en-GB" sz="1800" b="1" dirty="0">
                <a:solidFill>
                  <a:schemeClr val="dk1"/>
                </a:solidFill>
              </a:rPr>
              <a:t>partitioning a large dataset</a:t>
            </a:r>
            <a:r>
              <a:rPr lang="en-GB" sz="1800" dirty="0">
                <a:solidFill>
                  <a:schemeClr val="dk1"/>
                </a:solidFill>
              </a:rPr>
              <a:t> into smaller segments, known as </a:t>
            </a:r>
            <a:r>
              <a:rPr lang="en-GB" sz="1800" b="1" dirty="0">
                <a:solidFill>
                  <a:schemeClr val="dk1"/>
                </a:solidFill>
              </a:rPr>
              <a:t>shards</a:t>
            </a:r>
            <a:r>
              <a:rPr lang="en-GB" sz="1800" dirty="0">
                <a:solidFill>
                  <a:schemeClr val="dk1"/>
                </a:solidFill>
              </a:rPr>
              <a:t>, to improve scalability and performance in distributed systems.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Shards are distributed across multiple nodes to: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Enable </a:t>
            </a:r>
            <a:r>
              <a:rPr lang="en-GB" b="1" dirty="0">
                <a:solidFill>
                  <a:schemeClr val="dk1"/>
                </a:solidFill>
              </a:rPr>
              <a:t>parallel processing</a:t>
            </a:r>
            <a:endParaRPr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Reduce </a:t>
            </a:r>
            <a:r>
              <a:rPr lang="en-GB" b="1" dirty="0">
                <a:solidFill>
                  <a:schemeClr val="dk1"/>
                </a:solidFill>
              </a:rPr>
              <a:t>network congestion</a:t>
            </a:r>
            <a:endParaRPr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Improve </a:t>
            </a:r>
            <a:r>
              <a:rPr lang="en-GB" b="1" dirty="0">
                <a:solidFill>
                  <a:schemeClr val="dk1"/>
                </a:solidFill>
              </a:rPr>
              <a:t>system throughput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Two primary sharding techniques: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Horizontal Sharding</a:t>
            </a:r>
            <a:r>
              <a:rPr lang="en-GB" dirty="0">
                <a:solidFill>
                  <a:schemeClr val="dk1"/>
                </a:solidFill>
              </a:rPr>
              <a:t> (by rows)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Vertical Sharding</a:t>
            </a:r>
            <a:r>
              <a:rPr lang="en-GB" dirty="0">
                <a:solidFill>
                  <a:schemeClr val="dk1"/>
                </a:solidFill>
              </a:rPr>
              <a:t> (by columns)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Horizontal Sharding</a:t>
            </a:r>
            <a:endParaRPr b="1"/>
          </a:p>
        </p:txBody>
      </p:sp>
      <p:sp>
        <p:nvSpPr>
          <p:cNvPr id="157" name="Google Shape;157;p29"/>
          <p:cNvSpPr txBox="1">
            <a:spLocks noGrp="1"/>
          </p:cNvSpPr>
          <p:nvPr>
            <p:ph type="body" idx="1"/>
          </p:nvPr>
        </p:nvSpPr>
        <p:spPr>
          <a:xfrm>
            <a:off x="1137200" y="15369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Also called row-based partitioning</a:t>
            </a:r>
            <a:endParaRPr sz="1800"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Each shard contains a </a:t>
            </a:r>
            <a:r>
              <a:rPr lang="en-GB" sz="1800" b="1" dirty="0">
                <a:solidFill>
                  <a:schemeClr val="dk1"/>
                </a:solidFill>
              </a:rPr>
              <a:t>subset of rows</a:t>
            </a:r>
            <a:r>
              <a:rPr lang="en-GB" sz="1800" dirty="0">
                <a:solidFill>
                  <a:schemeClr val="dk1"/>
                </a:solidFill>
              </a:rPr>
              <a:t>, but all </a:t>
            </a:r>
            <a:r>
              <a:rPr lang="en-GB" sz="1800" b="1" dirty="0">
                <a:solidFill>
                  <a:schemeClr val="dk1"/>
                </a:solidFill>
              </a:rPr>
              <a:t>columns</a:t>
            </a:r>
            <a:r>
              <a:rPr lang="en-GB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Common in: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Distributed training of ML models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Partitioning of user data by user ID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Example: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Node A: User IDs 1–1000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Node B: User IDs 1001–2000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Simple to implement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Good for scaling read/write operations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Each shard is independent for most operations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Drawbacks: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Uneven distribution may cause data skew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Hard to perform global operations (e.g., join or sort)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Vertical Sharding</a:t>
            </a:r>
            <a:endParaRPr b="1"/>
          </a:p>
        </p:txBody>
      </p:sp>
      <p:sp>
        <p:nvSpPr>
          <p:cNvPr id="163" name="Google Shape;163;p30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Also called column-based partitioning</a:t>
            </a:r>
            <a:endParaRPr sz="1800"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Each shard contains </a:t>
            </a:r>
            <a:r>
              <a:rPr lang="en-GB" sz="1800" b="1" dirty="0">
                <a:solidFill>
                  <a:schemeClr val="dk1"/>
                </a:solidFill>
              </a:rPr>
              <a:t>all rows</a:t>
            </a:r>
            <a:r>
              <a:rPr lang="en-GB" sz="1800" dirty="0">
                <a:solidFill>
                  <a:schemeClr val="dk1"/>
                </a:solidFill>
              </a:rPr>
              <a:t>, but only a </a:t>
            </a:r>
            <a:r>
              <a:rPr lang="en-GB" sz="1800" b="1" dirty="0">
                <a:solidFill>
                  <a:schemeClr val="dk1"/>
                </a:solidFill>
              </a:rPr>
              <a:t>subset of columns/features</a:t>
            </a:r>
            <a:r>
              <a:rPr lang="en-GB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Suitable for: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Feature-specific computations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Privacy isolation of sensitive fields (e.g., PII vs. transaction data)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Example: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Node A: Name, email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Node B: Transactions, credit score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Allows specialization and modular processing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Reduces query latency for column-specific workloads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Drawbacks: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Requires joins across nodes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Column dependencies introduce tight coupling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When to Use Which Sharding?</a:t>
            </a:r>
            <a:endParaRPr b="1"/>
          </a:p>
        </p:txBody>
      </p:sp>
      <p:graphicFrame>
        <p:nvGraphicFramePr>
          <p:cNvPr id="169" name="Google Shape;169;p31"/>
          <p:cNvGraphicFramePr/>
          <p:nvPr>
            <p:extLst>
              <p:ext uri="{D42A27DB-BD31-4B8C-83A1-F6EECF244321}">
                <p14:modId xmlns:p14="http://schemas.microsoft.com/office/powerpoint/2010/main" val="1425018780"/>
              </p:ext>
            </p:extLst>
          </p:nvPr>
        </p:nvGraphicFramePr>
        <p:xfrm>
          <a:off x="1075667" y="1684367"/>
          <a:ext cx="9974933" cy="426460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68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0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Aspect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Horizontal Sharding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Vertical Sharding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Partition By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Rows (records)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Columns (attributes/features)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Best For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Data-parallel training, analytics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Modularization, privacy isolation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Independence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High (each record is independent)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Low (joins may be required)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Query Complexity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Simpler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More complex (joins, merges)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Example Use Case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Distributed training in PyTorch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Microservices or privacy-centric apps</a:t>
                      </a:r>
                      <a:endParaRPr sz="15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Parameter Server Paradigm</a:t>
            </a:r>
            <a:endParaRPr b="1"/>
          </a:p>
        </p:txBody>
      </p:sp>
      <p:sp>
        <p:nvSpPr>
          <p:cNvPr id="175" name="Google Shape;175;p32"/>
          <p:cNvSpPr txBox="1">
            <a:spLocks noGrp="1"/>
          </p:cNvSpPr>
          <p:nvPr>
            <p:ph type="body" idx="1"/>
          </p:nvPr>
        </p:nvSpPr>
        <p:spPr>
          <a:xfrm>
            <a:off x="1228400" y="15369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A </a:t>
            </a:r>
            <a:r>
              <a:rPr lang="en-GB" sz="1800" b="1" dirty="0">
                <a:solidFill>
                  <a:schemeClr val="dk1"/>
                </a:solidFill>
              </a:rPr>
              <a:t>central server or group of servers</a:t>
            </a:r>
            <a:r>
              <a:rPr lang="en-GB" sz="1800" dirty="0">
                <a:solidFill>
                  <a:schemeClr val="dk1"/>
                </a:solidFill>
              </a:rPr>
              <a:t> manage the global model parameters.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Worker nodes perform training on mini-batches of data: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Pull</a:t>
            </a:r>
            <a:r>
              <a:rPr lang="en-GB" dirty="0">
                <a:solidFill>
                  <a:schemeClr val="dk1"/>
                </a:solidFill>
              </a:rPr>
              <a:t>: Fetch current model parameters from the parameter server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Push</a:t>
            </a:r>
            <a:r>
              <a:rPr lang="en-GB" dirty="0">
                <a:solidFill>
                  <a:schemeClr val="dk1"/>
                </a:solidFill>
              </a:rPr>
              <a:t>: Send computed gradients back to server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Server </a:t>
            </a:r>
            <a:r>
              <a:rPr lang="en-GB" b="1" dirty="0">
                <a:solidFill>
                  <a:schemeClr val="dk1"/>
                </a:solidFill>
              </a:rPr>
              <a:t>updates</a:t>
            </a:r>
            <a:r>
              <a:rPr lang="en-GB" dirty="0">
                <a:solidFill>
                  <a:schemeClr val="dk1"/>
                </a:solidFill>
              </a:rPr>
              <a:t> the global model (sync or async)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Used in: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TensorFlow (TF1.x), </a:t>
            </a:r>
            <a:r>
              <a:rPr lang="en-GB" dirty="0" err="1">
                <a:solidFill>
                  <a:schemeClr val="dk1"/>
                </a:solidFill>
              </a:rPr>
              <a:t>MXNet</a:t>
            </a:r>
            <a:r>
              <a:rPr lang="en-GB" dirty="0">
                <a:solidFill>
                  <a:schemeClr val="dk1"/>
                </a:solidFill>
              </a:rPr>
              <a:t>, </a:t>
            </a:r>
            <a:r>
              <a:rPr lang="en-GB" dirty="0" err="1">
                <a:solidFill>
                  <a:schemeClr val="dk1"/>
                </a:solidFill>
              </a:rPr>
              <a:t>DistBelief</a:t>
            </a:r>
            <a:r>
              <a:rPr lang="en-GB" dirty="0">
                <a:solidFill>
                  <a:schemeClr val="dk1"/>
                </a:solidFill>
              </a:rPr>
              <a:t> (Google)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Asynchronous updates reduce idle time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Scalable to thousands of workers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Easier fault tolerance via replication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Challenges: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Communication bottleneck at server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Staleness in async updates can affect convergence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More complex system architecture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All-Reduce Paradigm</a:t>
            </a:r>
            <a:endParaRPr b="1"/>
          </a:p>
        </p:txBody>
      </p:sp>
      <p:sp>
        <p:nvSpPr>
          <p:cNvPr id="181" name="Google Shape;181;p33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10141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No central server – all nodes contribute equally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Each node: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Computes gradients on its own data shard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Uses </a:t>
            </a:r>
            <a:r>
              <a:rPr lang="en-GB" b="1" dirty="0">
                <a:solidFill>
                  <a:schemeClr val="dk1"/>
                </a:solidFill>
              </a:rPr>
              <a:t>collective communication</a:t>
            </a:r>
            <a:r>
              <a:rPr lang="en-GB" dirty="0">
                <a:solidFill>
                  <a:schemeClr val="dk1"/>
                </a:solidFill>
              </a:rPr>
              <a:t> (e.g., </a:t>
            </a:r>
            <a:r>
              <a:rPr lang="en-GB" dirty="0" err="1">
                <a:solidFill>
                  <a:schemeClr val="dk1"/>
                </a:solidFill>
              </a:rPr>
              <a:t>NCCL</a:t>
            </a:r>
            <a:r>
              <a:rPr lang="en-GB" dirty="0">
                <a:solidFill>
                  <a:schemeClr val="dk1"/>
                </a:solidFill>
              </a:rPr>
              <a:t>, </a:t>
            </a:r>
            <a:r>
              <a:rPr lang="en-GB" dirty="0" err="1">
                <a:solidFill>
                  <a:schemeClr val="dk1"/>
                </a:solidFill>
              </a:rPr>
              <a:t>MPI</a:t>
            </a:r>
            <a:r>
              <a:rPr lang="en-GB" dirty="0">
                <a:solidFill>
                  <a:schemeClr val="dk1"/>
                </a:solidFill>
              </a:rPr>
              <a:t>) to </a:t>
            </a:r>
            <a:r>
              <a:rPr lang="en-GB" b="1" dirty="0">
                <a:solidFill>
                  <a:schemeClr val="dk1"/>
                </a:solidFill>
              </a:rPr>
              <a:t>reduce</a:t>
            </a:r>
            <a:r>
              <a:rPr lang="en-GB" dirty="0">
                <a:solidFill>
                  <a:schemeClr val="dk1"/>
                </a:solidFill>
              </a:rPr>
              <a:t> gradients across all nodes (sum or average)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After aggregation, each node updates its local copy of the model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Used in: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 err="1">
                <a:solidFill>
                  <a:schemeClr val="dk1"/>
                </a:solidFill>
              </a:rPr>
              <a:t>Horovod</a:t>
            </a:r>
            <a:r>
              <a:rPr lang="en-GB" dirty="0">
                <a:solidFill>
                  <a:schemeClr val="dk1"/>
                </a:solidFill>
              </a:rPr>
              <a:t> (Uber), </a:t>
            </a:r>
            <a:r>
              <a:rPr lang="en-GB" dirty="0" err="1">
                <a:solidFill>
                  <a:schemeClr val="dk1"/>
                </a:solidFill>
              </a:rPr>
              <a:t>PyTorch</a:t>
            </a:r>
            <a:r>
              <a:rPr lang="en-GB" dirty="0">
                <a:solidFill>
                  <a:schemeClr val="dk1"/>
                </a:solidFill>
              </a:rPr>
              <a:t> DDP, TensorFlow (TF2.x)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No single point of failure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Near-linear scaling on high-speed interconnects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Challenges: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Requires synchronized updates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Sensitive to slow nodes ("stragglers")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Parameter Server vs. All-Reduce Comparison</a:t>
            </a:r>
            <a:endParaRPr b="1"/>
          </a:p>
        </p:txBody>
      </p:sp>
      <p:graphicFrame>
        <p:nvGraphicFramePr>
          <p:cNvPr id="187" name="Google Shape;187;p34"/>
          <p:cNvGraphicFramePr/>
          <p:nvPr>
            <p:extLst>
              <p:ext uri="{D42A27DB-BD31-4B8C-83A1-F6EECF244321}">
                <p14:modId xmlns:p14="http://schemas.microsoft.com/office/powerpoint/2010/main" val="676553060"/>
              </p:ext>
            </p:extLst>
          </p:nvPr>
        </p:nvGraphicFramePr>
        <p:xfrm>
          <a:off x="1096000" y="1693333"/>
          <a:ext cx="9832900" cy="405906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0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1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8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Feature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Parameter Server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All-Reduce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8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Architecture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Centralized (master-worker)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Decentralized (peer-to-peer)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8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Update Mode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Async or sync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Usually synchronous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8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Fault Tolerance</a:t>
                      </a:r>
                      <a:endParaRPr sz="15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Requires redundancy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Limited; single node failure halts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8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Communication Pattern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Many-to-one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All-to-all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8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Scalability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High (with async)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Efficient with high-bandwidth links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8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Framework Support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MXNet, TF1.x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 err="1"/>
                        <a:t>PyTorch</a:t>
                      </a:r>
                      <a:r>
                        <a:rPr lang="en-GB" sz="1500" dirty="0"/>
                        <a:t> DDP, </a:t>
                      </a:r>
                      <a:r>
                        <a:rPr lang="en-GB" sz="1500" dirty="0" err="1"/>
                        <a:t>Horovod</a:t>
                      </a:r>
                      <a:r>
                        <a:rPr lang="en-GB" sz="1500" dirty="0"/>
                        <a:t>, TF2.x</a:t>
                      </a:r>
                      <a:endParaRPr sz="15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Real-World Use Cases</a:t>
            </a:r>
            <a:endParaRPr b="1"/>
          </a:p>
        </p:txBody>
      </p:sp>
      <p:sp>
        <p:nvSpPr>
          <p:cNvPr id="193" name="Google Shape;193;p35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CPU-only Clusters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ETL pipelines in Apache Spark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Distributed databases (Cassandra, HDFS)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GPU-Accelerated Clusters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Training </a:t>
            </a:r>
            <a:r>
              <a:rPr lang="en-GB" dirty="0" err="1">
                <a:solidFill>
                  <a:schemeClr val="dk1"/>
                </a:solidFill>
              </a:rPr>
              <a:t>GPT</a:t>
            </a:r>
            <a:r>
              <a:rPr lang="en-GB" dirty="0">
                <a:solidFill>
                  <a:schemeClr val="dk1"/>
                </a:solidFill>
              </a:rPr>
              <a:t> models in </a:t>
            </a:r>
            <a:r>
              <a:rPr lang="en-GB" dirty="0" err="1">
                <a:solidFill>
                  <a:schemeClr val="dk1"/>
                </a:solidFill>
              </a:rPr>
              <a:t>PyTorch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Autonomous vehicle simulation environments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Horizontal Sharding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Image classification datasets (e.g., </a:t>
            </a:r>
            <a:r>
              <a:rPr lang="en-GB" dirty="0" err="1">
                <a:solidFill>
                  <a:schemeClr val="dk1"/>
                </a:solidFill>
              </a:rPr>
              <a:t>CIFAR</a:t>
            </a:r>
            <a:r>
              <a:rPr lang="en-GB" dirty="0">
                <a:solidFill>
                  <a:schemeClr val="dk1"/>
                </a:solidFill>
              </a:rPr>
              <a:t>, ImageNet)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Vertical Sharding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Separating </a:t>
            </a:r>
            <a:r>
              <a:rPr lang="en-GB" dirty="0" err="1">
                <a:solidFill>
                  <a:schemeClr val="dk1"/>
                </a:solidFill>
              </a:rPr>
              <a:t>behavioral</a:t>
            </a:r>
            <a:r>
              <a:rPr lang="en-GB" dirty="0">
                <a:solidFill>
                  <a:schemeClr val="dk1"/>
                </a:solidFill>
              </a:rPr>
              <a:t> vs. demographic features in user profiling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Parameter Server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Large-scale recommender systems (Google, Baidu)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All-Reduce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Distributed training of ResNet, BERT, </a:t>
            </a:r>
            <a:r>
              <a:rPr lang="en-GB" dirty="0" err="1">
                <a:solidFill>
                  <a:schemeClr val="dk1"/>
                </a:solidFill>
              </a:rPr>
              <a:t>GPT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66457-73A3-E586-8017-ED22E83D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9B82E2C-9767-5321-0578-D2C508010430}"/>
              </a:ext>
            </a:extLst>
          </p:cNvPr>
          <p:cNvGrpSpPr/>
          <p:nvPr/>
        </p:nvGrpSpPr>
        <p:grpSpPr>
          <a:xfrm>
            <a:off x="-3175" y="0"/>
            <a:ext cx="12198350" cy="6861175"/>
            <a:chOff x="-3175" y="0"/>
            <a:chExt cx="12198350" cy="686117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1EBBC4D-C73B-8841-E8E1-378E4EA4B65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A5BDD84-D0BF-72EA-5C6B-B44EC61C0E35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12192000" y="0"/>
                  </a:moveTo>
                  <a:lnTo>
                    <a:pt x="0" y="0"/>
                  </a:lnTo>
                  <a:lnTo>
                    <a:pt x="0" y="2577083"/>
                  </a:lnTo>
                  <a:lnTo>
                    <a:pt x="12192000" y="257708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994EFE1-473F-4F95-10CE-04BE52BBA795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0" y="2577083"/>
                  </a:moveTo>
                  <a:lnTo>
                    <a:pt x="12192000" y="257708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77083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1850BF7-3496-A20E-08EA-29850248BBC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00" y="0"/>
              <a:ext cx="2924555" cy="691896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1A89F78-15FE-41BE-A9DA-B7842D1D7F35}"/>
                </a:ext>
              </a:extLst>
            </p:cNvPr>
            <p:cNvSpPr/>
            <p:nvPr/>
          </p:nvSpPr>
          <p:spPr>
            <a:xfrm>
              <a:off x="3843528" y="6775703"/>
              <a:ext cx="3862070" cy="76200"/>
            </a:xfrm>
            <a:custGeom>
              <a:avLst/>
              <a:gdLst/>
              <a:ahLst/>
              <a:cxnLst/>
              <a:rect l="l" t="t" r="r" b="b"/>
              <a:pathLst>
                <a:path w="3862070" h="76200">
                  <a:moveTo>
                    <a:pt x="386181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1816" y="76200"/>
                  </a:lnTo>
                  <a:lnTo>
                    <a:pt x="3861816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9F821C0-BEEA-9E24-E11C-5631E97B833A}"/>
                </a:ext>
              </a:extLst>
            </p:cNvPr>
            <p:cNvSpPr/>
            <p:nvPr/>
          </p:nvSpPr>
          <p:spPr>
            <a:xfrm>
              <a:off x="0" y="6775703"/>
              <a:ext cx="3843654" cy="76200"/>
            </a:xfrm>
            <a:custGeom>
              <a:avLst/>
              <a:gdLst/>
              <a:ahLst/>
              <a:cxnLst/>
              <a:rect l="l" t="t" r="r" b="b"/>
              <a:pathLst>
                <a:path w="3843654" h="76200">
                  <a:moveTo>
                    <a:pt x="3843528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43528" y="76200"/>
                  </a:lnTo>
                  <a:lnTo>
                    <a:pt x="3843528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2658043-B935-3072-831E-DB3C848C0497}"/>
                </a:ext>
              </a:extLst>
            </p:cNvPr>
            <p:cNvSpPr/>
            <p:nvPr/>
          </p:nvSpPr>
          <p:spPr>
            <a:xfrm>
              <a:off x="7705343" y="6775703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2" y="76200"/>
                  </a:lnTo>
                  <a:lnTo>
                    <a:pt x="38602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8BD4BF34-1F53-4B6B-5374-5C073A70695F}"/>
              </a:ext>
            </a:extLst>
          </p:cNvPr>
          <p:cNvSpPr txBox="1"/>
          <p:nvPr/>
        </p:nvSpPr>
        <p:spPr>
          <a:xfrm>
            <a:off x="10576306" y="730276"/>
            <a:ext cx="1398270" cy="8909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Pil</a:t>
            </a:r>
            <a:r>
              <a:rPr sz="2400" spc="-16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748665">
              <a:lnSpc>
                <a:spcPct val="100000"/>
              </a:lnSpc>
              <a:spcBef>
                <a:spcPts val="7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WILP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2CEB24A-C5BB-A6FE-B4B6-0278A2B45929}"/>
              </a:ext>
            </a:extLst>
          </p:cNvPr>
          <p:cNvSpPr txBox="1"/>
          <p:nvPr/>
        </p:nvSpPr>
        <p:spPr>
          <a:xfrm>
            <a:off x="485343" y="4262120"/>
            <a:ext cx="9344457" cy="1100301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Decision Trees &amp; Random Forests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- Distributed implementations (Spark-ML, XGBoost’s distributed GPU mode)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6AD0E41-32C8-8BF8-0143-DFD8D3F08C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5600" y="1730593"/>
            <a:ext cx="54102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2145">
              <a:lnSpc>
                <a:spcPts val="4560"/>
              </a:lnSpc>
              <a:spcBef>
                <a:spcPts val="95"/>
              </a:spcBef>
            </a:pPr>
            <a:r>
              <a:rPr sz="4000" i="1" spc="-35" dirty="0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sz="4000" i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CLZG516</a:t>
            </a:r>
            <a:r>
              <a:rPr sz="4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4560"/>
              </a:lnSpc>
            </a:pPr>
            <a:r>
              <a:rPr sz="4000" i="1" spc="-40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z="4000" i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5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4000" i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334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Introduction to Decision Trees</a:t>
            </a:r>
            <a:endParaRPr b="1"/>
          </a:p>
        </p:txBody>
      </p:sp>
      <p:sp>
        <p:nvSpPr>
          <p:cNvPr id="204" name="Google Shape;204;p37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A </a:t>
            </a:r>
            <a:r>
              <a:rPr lang="en-GB" sz="1800" b="1" dirty="0">
                <a:solidFill>
                  <a:schemeClr val="dk1"/>
                </a:solidFill>
              </a:rPr>
              <a:t>Decision Tree</a:t>
            </a:r>
            <a:r>
              <a:rPr lang="en-GB" sz="1800" dirty="0">
                <a:solidFill>
                  <a:schemeClr val="dk1"/>
                </a:solidFill>
              </a:rPr>
              <a:t> is a supervised learning model used for classification and regression.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The model is structured as a tree: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Root Node</a:t>
            </a:r>
            <a:r>
              <a:rPr lang="en-GB" dirty="0">
                <a:solidFill>
                  <a:schemeClr val="dk1"/>
                </a:solidFill>
              </a:rPr>
              <a:t>: Represents the entire dataset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Internal Nodes</a:t>
            </a:r>
            <a:r>
              <a:rPr lang="en-GB" dirty="0">
                <a:solidFill>
                  <a:schemeClr val="dk1"/>
                </a:solidFill>
              </a:rPr>
              <a:t>: Represent features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Leaves</a:t>
            </a:r>
            <a:r>
              <a:rPr lang="en-GB" dirty="0">
                <a:solidFill>
                  <a:schemeClr val="dk1"/>
                </a:solidFill>
              </a:rPr>
              <a:t>: Represent class labels or regression values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Decision-making is based on feature splits using criteria like: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Gini Impurity</a:t>
            </a:r>
            <a:endParaRPr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Entropy (Information Gain)</a:t>
            </a:r>
            <a:endParaRPr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Mean Squared Error</a:t>
            </a:r>
            <a:r>
              <a:rPr lang="en-GB" dirty="0">
                <a:solidFill>
                  <a:schemeClr val="dk1"/>
                </a:solidFill>
              </a:rPr>
              <a:t> (for regression)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Introduction to Random Forests</a:t>
            </a:r>
            <a:endParaRPr b="1"/>
          </a:p>
        </p:txBody>
      </p:sp>
      <p:sp>
        <p:nvSpPr>
          <p:cNvPr id="210" name="Google Shape;210;p38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A </a:t>
            </a:r>
            <a:r>
              <a:rPr lang="en-GB" sz="1800" b="1" dirty="0">
                <a:solidFill>
                  <a:schemeClr val="dk1"/>
                </a:solidFill>
              </a:rPr>
              <a:t>Random Forest</a:t>
            </a:r>
            <a:r>
              <a:rPr lang="en-GB" sz="1800" dirty="0">
                <a:solidFill>
                  <a:schemeClr val="dk1"/>
                </a:solidFill>
              </a:rPr>
              <a:t> is an ensemble of Decision Trees.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Trains multiple trees independently on </a:t>
            </a:r>
            <a:r>
              <a:rPr lang="en-GB" sz="1800" b="1" dirty="0">
                <a:solidFill>
                  <a:schemeClr val="dk1"/>
                </a:solidFill>
              </a:rPr>
              <a:t>bootstrapped data</a:t>
            </a:r>
            <a:r>
              <a:rPr lang="en-GB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Each tree makes a prediction → final result is </a:t>
            </a:r>
            <a:r>
              <a:rPr lang="en-GB" sz="1800" b="1" dirty="0">
                <a:solidFill>
                  <a:schemeClr val="dk1"/>
                </a:solidFill>
              </a:rPr>
              <a:t>majority vote</a:t>
            </a:r>
            <a:r>
              <a:rPr lang="en-GB" sz="1800" dirty="0">
                <a:solidFill>
                  <a:schemeClr val="dk1"/>
                </a:solidFill>
              </a:rPr>
              <a:t> or </a:t>
            </a:r>
            <a:r>
              <a:rPr lang="en-GB" sz="1800" b="1" dirty="0">
                <a:solidFill>
                  <a:schemeClr val="dk1"/>
                </a:solidFill>
              </a:rPr>
              <a:t>mean</a:t>
            </a:r>
            <a:r>
              <a:rPr lang="en-GB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Improves: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Accuracy</a:t>
            </a:r>
            <a:endParaRPr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Robustness to overfitting</a:t>
            </a:r>
            <a:endParaRPr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Generalization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Randomly selects a </a:t>
            </a:r>
            <a:r>
              <a:rPr lang="en-GB" sz="1800" b="1" dirty="0">
                <a:solidFill>
                  <a:schemeClr val="dk1"/>
                </a:solidFill>
              </a:rPr>
              <a:t>subset of features</a:t>
            </a:r>
            <a:r>
              <a:rPr lang="en-GB" sz="1800" dirty="0">
                <a:solidFill>
                  <a:schemeClr val="dk1"/>
                </a:solidFill>
              </a:rPr>
              <a:t> at each split (feature bagging)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Need for Distributed Training</a:t>
            </a:r>
            <a:endParaRPr b="1"/>
          </a:p>
        </p:txBody>
      </p:sp>
      <p:sp>
        <p:nvSpPr>
          <p:cNvPr id="216" name="Google Shape;216;p39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Large datasets (millions of samples, thousands of features) require </a:t>
            </a:r>
            <a:r>
              <a:rPr lang="en-GB" sz="1800" b="1" dirty="0">
                <a:solidFill>
                  <a:schemeClr val="dk1"/>
                </a:solidFill>
              </a:rPr>
              <a:t>parallel processing</a:t>
            </a:r>
            <a:r>
              <a:rPr lang="en-GB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Distributed training allows: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Faster training via parallelism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Handling </a:t>
            </a:r>
            <a:r>
              <a:rPr lang="en-GB" b="1" dirty="0">
                <a:solidFill>
                  <a:schemeClr val="dk1"/>
                </a:solidFill>
              </a:rPr>
              <a:t>data that doesn’t fit into memory</a:t>
            </a:r>
            <a:endParaRPr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Leveraging </a:t>
            </a:r>
            <a:r>
              <a:rPr lang="en-GB" b="1" dirty="0">
                <a:solidFill>
                  <a:schemeClr val="dk1"/>
                </a:solidFill>
              </a:rPr>
              <a:t>multi-node clusters</a:t>
            </a:r>
            <a:r>
              <a:rPr lang="en-GB" dirty="0">
                <a:solidFill>
                  <a:schemeClr val="dk1"/>
                </a:solidFill>
              </a:rPr>
              <a:t> or </a:t>
            </a:r>
            <a:r>
              <a:rPr lang="en-GB" b="1" dirty="0">
                <a:solidFill>
                  <a:schemeClr val="dk1"/>
                </a:solidFill>
              </a:rPr>
              <a:t>GPUs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Especially critical in: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Big data applications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Online learning platforms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Production-level machine learning pipelines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Distributed Training – Two Main Approaches</a:t>
            </a:r>
            <a:endParaRPr b="1"/>
          </a:p>
        </p:txBody>
      </p:sp>
      <p:sp>
        <p:nvSpPr>
          <p:cNvPr id="222" name="Google Shape;222;p40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Data Parallelism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Dataset is partitioned across multiple nodes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Each node builds a partial tree or </a:t>
            </a:r>
            <a:r>
              <a:rPr lang="en-GB" dirty="0" err="1">
                <a:solidFill>
                  <a:schemeClr val="dk1"/>
                </a:solidFill>
              </a:rPr>
              <a:t>submodel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Model Parallelism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Tree or split construction is parallelized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Nodes cooperate on a single tree or forest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>
              <a:buClr>
                <a:schemeClr val="dk1"/>
              </a:buClr>
              <a:buSzPct val="39285"/>
            </a:pPr>
            <a:r>
              <a:rPr lang="en-GB" b="1"/>
              <a:t>Spark MLlib – Decision Trees and Random Forests</a:t>
            </a:r>
            <a:endParaRPr b="1"/>
          </a:p>
          <a:p>
            <a:pPr algn="l" rtl="0"/>
            <a:endParaRPr b="1"/>
          </a:p>
        </p:txBody>
      </p:sp>
      <p:sp>
        <p:nvSpPr>
          <p:cNvPr id="228" name="Google Shape;228;p41"/>
          <p:cNvSpPr txBox="1">
            <a:spLocks noGrp="1"/>
          </p:cNvSpPr>
          <p:nvPr>
            <p:ph type="body" idx="1"/>
          </p:nvPr>
        </p:nvSpPr>
        <p:spPr>
          <a:xfrm>
            <a:off x="1228467" y="1638367"/>
            <a:ext cx="10141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Apache Spark MLlib provides </a:t>
            </a:r>
            <a:r>
              <a:rPr lang="en-GB" sz="1800" b="1" dirty="0">
                <a:solidFill>
                  <a:schemeClr val="dk1"/>
                </a:solidFill>
              </a:rPr>
              <a:t>distributed implementations</a:t>
            </a:r>
            <a:r>
              <a:rPr lang="en-GB" sz="1800" dirty="0">
                <a:solidFill>
                  <a:schemeClr val="dk1"/>
                </a:solidFill>
              </a:rPr>
              <a:t> of Decision Trees and Random Forests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Built on top of </a:t>
            </a:r>
            <a:r>
              <a:rPr lang="en-GB" sz="1800" b="1" dirty="0" err="1">
                <a:solidFill>
                  <a:schemeClr val="dk1"/>
                </a:solidFill>
              </a:rPr>
              <a:t>RDDs</a:t>
            </a:r>
            <a:r>
              <a:rPr lang="en-GB" sz="1800" b="1" dirty="0">
                <a:solidFill>
                  <a:schemeClr val="dk1"/>
                </a:solidFill>
              </a:rPr>
              <a:t> and </a:t>
            </a:r>
            <a:r>
              <a:rPr lang="en-GB" sz="1800" b="1" dirty="0" err="1">
                <a:solidFill>
                  <a:schemeClr val="dk1"/>
                </a:solidFill>
              </a:rPr>
              <a:t>DataFrames</a:t>
            </a:r>
            <a:endParaRPr sz="1800"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Key Concepts:</a:t>
            </a:r>
            <a:endParaRPr sz="1800" b="1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b="1" dirty="0">
                <a:solidFill>
                  <a:schemeClr val="dk1"/>
                </a:solidFill>
              </a:rPr>
              <a:t>Pipeline API</a:t>
            </a:r>
            <a:r>
              <a:rPr lang="en-GB" sz="1800" dirty="0">
                <a:solidFill>
                  <a:schemeClr val="dk1"/>
                </a:solidFill>
              </a:rPr>
              <a:t>: Supports feature transformation + model training</a:t>
            </a:r>
            <a:endParaRPr sz="1800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b="1" dirty="0">
                <a:solidFill>
                  <a:schemeClr val="dk1"/>
                </a:solidFill>
              </a:rPr>
              <a:t>Distributed Node Splitting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marL="1828754" lvl="1" indent="-397923" algn="l" rtl="0">
              <a:buClr>
                <a:schemeClr val="dk1"/>
              </a:buClr>
              <a:buSzPts val="1100"/>
              <a:buAutoNum type="alphaLcPeriod"/>
            </a:pPr>
            <a:r>
              <a:rPr lang="en-GB" dirty="0">
                <a:solidFill>
                  <a:schemeClr val="dk1"/>
                </a:solidFill>
              </a:rPr>
              <a:t>Uses map-reduce pattern to compute best splits</a:t>
            </a:r>
            <a:endParaRPr dirty="0">
              <a:solidFill>
                <a:schemeClr val="dk1"/>
              </a:solidFill>
            </a:endParaRPr>
          </a:p>
          <a:p>
            <a:pPr marL="1828754" lvl="1" indent="-397923" algn="l" rtl="0">
              <a:buClr>
                <a:schemeClr val="dk1"/>
              </a:buClr>
              <a:buSzPts val="1100"/>
              <a:buAutoNum type="alphaLcPeriod"/>
            </a:pPr>
            <a:r>
              <a:rPr lang="en-GB" dirty="0">
                <a:solidFill>
                  <a:schemeClr val="dk1"/>
                </a:solidFill>
              </a:rPr>
              <a:t>Scales well on commodity clusters</a:t>
            </a:r>
            <a:endParaRPr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b="1" dirty="0">
                <a:solidFill>
                  <a:schemeClr val="dk1"/>
                </a:solidFill>
              </a:rPr>
              <a:t>Supports Classification &amp; Regression</a:t>
            </a:r>
            <a:endParaRPr sz="1800"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Pros:</a:t>
            </a:r>
            <a:endParaRPr sz="1800" b="1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Scales to TBs of data</a:t>
            </a:r>
            <a:endParaRPr sz="1800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Integrated with Hadoop ecosystem</a:t>
            </a:r>
            <a:endParaRPr sz="1800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Works with structured (</a:t>
            </a:r>
            <a:r>
              <a:rPr lang="en-GB" sz="1800" dirty="0" err="1">
                <a:solidFill>
                  <a:schemeClr val="dk1"/>
                </a:solidFill>
              </a:rPr>
              <a:t>DataFrame</a:t>
            </a:r>
            <a:r>
              <a:rPr lang="en-GB" sz="1800" dirty="0">
                <a:solidFill>
                  <a:schemeClr val="dk1"/>
                </a:solidFill>
              </a:rPr>
              <a:t>) APIs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Cons:</a:t>
            </a:r>
            <a:endParaRPr sz="1800" b="1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Training speed is slower than GPU frameworks</a:t>
            </a:r>
            <a:endParaRPr sz="1800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Limited to binary splits, No support for categorical features as natively as other frameworks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Distributed Decision Tree (e.g., Spark MLlib)</a:t>
            </a:r>
            <a:endParaRPr b="1"/>
          </a:p>
        </p:txBody>
      </p:sp>
      <p:sp>
        <p:nvSpPr>
          <p:cNvPr id="234" name="Google Shape;234;p42"/>
          <p:cNvSpPr txBox="1">
            <a:spLocks noGrp="1"/>
          </p:cNvSpPr>
          <p:nvPr>
            <p:ph type="body" idx="1"/>
          </p:nvPr>
        </p:nvSpPr>
        <p:spPr>
          <a:xfrm>
            <a:off x="618800" y="1435033"/>
            <a:ext cx="5790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function </a:t>
            </a:r>
            <a:r>
              <a:rPr lang="en-GB" sz="1467" i="1" dirty="0" err="1">
                <a:solidFill>
                  <a:schemeClr val="dk1"/>
                </a:solidFill>
                <a:ea typeface="Comic Sans MS"/>
                <a:sym typeface="Comic Sans MS"/>
              </a:rPr>
              <a:t>Train_Distributed_DecisionTree</a:t>
            </a: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(dataset D, </a:t>
            </a:r>
            <a:r>
              <a:rPr lang="en-GB" sz="1467" i="1" dirty="0" err="1">
                <a:solidFill>
                  <a:schemeClr val="dk1"/>
                </a:solidFill>
                <a:ea typeface="Comic Sans MS"/>
                <a:sym typeface="Comic Sans MS"/>
              </a:rPr>
              <a:t>max_depth</a:t>
            </a: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):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broadcast </a:t>
            </a:r>
            <a:r>
              <a:rPr lang="en-GB" sz="1467" i="1" dirty="0" err="1">
                <a:solidFill>
                  <a:schemeClr val="dk1"/>
                </a:solidFill>
                <a:ea typeface="Comic Sans MS"/>
                <a:sym typeface="Comic Sans MS"/>
              </a:rPr>
              <a:t>D.schema</a:t>
            </a: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to all workers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for depth in 0 to </a:t>
            </a:r>
            <a:r>
              <a:rPr lang="en-GB" sz="1467" i="1" dirty="0" err="1">
                <a:solidFill>
                  <a:schemeClr val="dk1"/>
                </a:solidFill>
                <a:ea typeface="Comic Sans MS"/>
                <a:sym typeface="Comic Sans MS"/>
              </a:rPr>
              <a:t>max_depth</a:t>
            </a: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: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    </a:t>
            </a:r>
            <a:r>
              <a:rPr lang="en-GB" sz="1467" i="1" dirty="0" err="1">
                <a:solidFill>
                  <a:schemeClr val="dk1"/>
                </a:solidFill>
                <a:ea typeface="Comic Sans MS"/>
                <a:sym typeface="Comic Sans MS"/>
              </a:rPr>
              <a:t>parallel_for</a:t>
            </a: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each worker: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        compute feature histograms for local data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    aggregate histograms across workers at master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    find best split using global histogram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    broadcast split decisions to all workers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    each worker partitions its data based on split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    if stopping condition met: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        break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i="1" dirty="0">
                <a:solidFill>
                  <a:schemeClr val="dk1"/>
                </a:solidFill>
                <a:ea typeface="Comic Sans MS"/>
                <a:sym typeface="Comic Sans MS"/>
              </a:rPr>
              <a:t>    return trained decision tree</a:t>
            </a: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 i="1" dirty="0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235" name="Google Shape;235;p42"/>
          <p:cNvSpPr txBox="1"/>
          <p:nvPr/>
        </p:nvSpPr>
        <p:spPr>
          <a:xfrm>
            <a:off x="5946800" y="2146233"/>
            <a:ext cx="5598400" cy="395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Broadcast dataset schema to all workers for consistent data processing.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each tree level: workers compute local histograms of feature-label statistics in parallel.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 (reduce) histograms globally to find the best split feature and threshold.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Broadcast split decision to all workers to partition their local data.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 until maximum tree depth or pure leaves are reached.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Distributed Random Forest</a:t>
            </a:r>
            <a:endParaRPr b="1"/>
          </a:p>
        </p:txBody>
      </p:sp>
      <p:sp>
        <p:nvSpPr>
          <p:cNvPr id="241" name="Google Shape;241;p43"/>
          <p:cNvSpPr txBox="1">
            <a:spLocks noGrp="1"/>
          </p:cNvSpPr>
          <p:nvPr>
            <p:ph type="body" idx="1"/>
          </p:nvPr>
        </p:nvSpPr>
        <p:spPr>
          <a:xfrm>
            <a:off x="618800" y="1435033"/>
            <a:ext cx="7848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function Train_Distributed_RandomForest(dataset D, num_trees, max_depth):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parallel_for tree_index in 1 to num_trees: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sample dataset D_sample (with replacement - bootstrap)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train DecisionTree on D_sample using Train_Distributed_DecisionTree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store trained tree in forest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return ensemble of decision trees (forest)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242" name="Google Shape;242;p43"/>
          <p:cNvSpPr txBox="1"/>
          <p:nvPr/>
        </p:nvSpPr>
        <p:spPr>
          <a:xfrm>
            <a:off x="1219200" y="3583427"/>
            <a:ext cx="7646400" cy="268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multiple trees independently on different bootstrap samples of the dataset.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tree is trained in parallel on distributed data partitions.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tree uses distributed decision tree training (histograms, splits).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 all trained trees into an ensemble for final prediction.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Ensemble improves stability and reduces overfitting.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Spark MLlib: Working Mechanism</a:t>
            </a:r>
            <a:endParaRPr b="1"/>
          </a:p>
        </p:txBody>
      </p:sp>
      <p:sp>
        <p:nvSpPr>
          <p:cNvPr id="248" name="Google Shape;248;p44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Data Partitioning</a:t>
            </a:r>
            <a:r>
              <a:rPr lang="en-GB" sz="1800" dirty="0">
                <a:solidFill>
                  <a:schemeClr val="dk1"/>
                </a:solidFill>
              </a:rPr>
              <a:t>: Data is split across worker nodes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Feature Binning</a:t>
            </a:r>
            <a:r>
              <a:rPr lang="en-GB" sz="1800" dirty="0">
                <a:solidFill>
                  <a:schemeClr val="dk1"/>
                </a:solidFill>
              </a:rPr>
              <a:t>: Histograms are built for features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Split Evaluation</a:t>
            </a:r>
            <a:r>
              <a:rPr lang="en-GB" sz="1800" dirty="0">
                <a:solidFill>
                  <a:schemeClr val="dk1"/>
                </a:solidFill>
              </a:rPr>
              <a:t>: Workers evaluate splits independently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Best Splits</a:t>
            </a:r>
            <a:r>
              <a:rPr lang="en-GB" sz="1800" dirty="0">
                <a:solidFill>
                  <a:schemeClr val="dk1"/>
                </a:solidFill>
              </a:rPr>
              <a:t>: Aggregated via tree metadata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Model Update</a:t>
            </a:r>
            <a:r>
              <a:rPr lang="en-GB" sz="1800" dirty="0">
                <a:solidFill>
                  <a:schemeClr val="dk1"/>
                </a:solidFill>
              </a:rPr>
              <a:t>: Nodes update the tree structure</a:t>
            </a:r>
            <a:endParaRPr sz="1800" dirty="0">
              <a:solidFill>
                <a:schemeClr val="dk1"/>
              </a:solidFill>
            </a:endParaRPr>
          </a:p>
          <a:p>
            <a:pPr marL="1219170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sz="1800" b="1" dirty="0">
                <a:solidFill>
                  <a:schemeClr val="dk1"/>
                </a:solidFill>
              </a:rPr>
              <a:t>Communication overhead</a:t>
            </a:r>
            <a:r>
              <a:rPr lang="en-GB" sz="1800" dirty="0">
                <a:solidFill>
                  <a:schemeClr val="dk1"/>
                </a:solidFill>
              </a:rPr>
              <a:t> is minimized using reduce operations</a:t>
            </a:r>
            <a:endParaRPr sz="1800" dirty="0">
              <a:solidFill>
                <a:schemeClr val="dk1"/>
              </a:solidFill>
            </a:endParaRPr>
          </a:p>
          <a:p>
            <a:pPr marL="1219170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sz="1800" b="1" dirty="0">
                <a:solidFill>
                  <a:schemeClr val="dk1"/>
                </a:solidFill>
              </a:rPr>
              <a:t>Checkpointing</a:t>
            </a:r>
            <a:r>
              <a:rPr lang="en-GB" sz="1800" dirty="0">
                <a:solidFill>
                  <a:schemeClr val="dk1"/>
                </a:solidFill>
              </a:rPr>
              <a:t> is used for fault tolerance</a:t>
            </a:r>
            <a:br>
              <a:rPr lang="en-GB" sz="1800" dirty="0">
                <a:solidFill>
                  <a:schemeClr val="dk1"/>
                </a:solidFill>
              </a:rPr>
            </a:b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>
              <a:buClr>
                <a:schemeClr val="dk1"/>
              </a:buClr>
              <a:buSzPct val="39285"/>
            </a:pPr>
            <a:r>
              <a:rPr lang="en-GB" b="1"/>
              <a:t>XGBoost – Overview</a:t>
            </a:r>
            <a:endParaRPr b="1"/>
          </a:p>
          <a:p>
            <a:pPr algn="l" rtl="0"/>
            <a:endParaRPr b="1"/>
          </a:p>
        </p:txBody>
      </p:sp>
      <p:sp>
        <p:nvSpPr>
          <p:cNvPr id="254" name="Google Shape;254;p45"/>
          <p:cNvSpPr txBox="1">
            <a:spLocks noGrp="1"/>
          </p:cNvSpPr>
          <p:nvPr>
            <p:ph type="body" idx="1"/>
          </p:nvPr>
        </p:nvSpPr>
        <p:spPr>
          <a:xfrm>
            <a:off x="1137200" y="15369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XGBoost (Extreme Gradient Boosting) is a highly optimized implementation of Gradient Boosted Trees (</a:t>
            </a:r>
            <a:r>
              <a:rPr lang="en-GB" sz="1800" dirty="0" err="1">
                <a:solidFill>
                  <a:schemeClr val="dk1"/>
                </a:solidFill>
              </a:rPr>
              <a:t>GBT</a:t>
            </a:r>
            <a:r>
              <a:rPr lang="en-GB" sz="1800" dirty="0">
                <a:solidFill>
                  <a:schemeClr val="dk1"/>
                </a:solidFill>
              </a:rPr>
              <a:t>)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Supports: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Classification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Regression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Ranking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Time Series Forecasting</a:t>
            </a:r>
            <a:endParaRPr dirty="0">
              <a:solidFill>
                <a:schemeClr val="dk1"/>
              </a:solidFill>
            </a:endParaRPr>
          </a:p>
          <a:p>
            <a:pPr marL="0" indent="0" algn="l" rtl="0">
              <a:buNone/>
            </a:pPr>
            <a:r>
              <a:rPr lang="en-GB" sz="1800" b="1" dirty="0">
                <a:solidFill>
                  <a:schemeClr val="dk1"/>
                </a:solidFill>
              </a:rPr>
              <a:t>Key Features:</a:t>
            </a:r>
            <a:endParaRPr sz="1800" b="1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Regularization (L1, L2) to prevent overfitting</a:t>
            </a:r>
            <a:endParaRPr sz="1800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Tree pruning</a:t>
            </a:r>
            <a:endParaRPr sz="1800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Handling of missing values</a:t>
            </a:r>
            <a:endParaRPr sz="1800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Weighted quantile sketch for approximate split finding</a:t>
            </a: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XGBoost’s Distributed GPU Mode</a:t>
            </a:r>
            <a:endParaRPr b="1"/>
          </a:p>
        </p:txBody>
      </p:sp>
      <p:sp>
        <p:nvSpPr>
          <p:cNvPr id="260" name="Google Shape;260;p46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734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XGBoost supports </a:t>
            </a:r>
            <a:r>
              <a:rPr lang="en-GB" sz="1800" b="1" dirty="0">
                <a:solidFill>
                  <a:schemeClr val="dk1"/>
                </a:solidFill>
              </a:rPr>
              <a:t>multi-GPU training</a:t>
            </a:r>
            <a:r>
              <a:rPr lang="en-GB" sz="1800" dirty="0">
                <a:solidFill>
                  <a:schemeClr val="dk1"/>
                </a:solidFill>
              </a:rPr>
              <a:t> for boosted decision trees.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Key Components: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 err="1">
                <a:solidFill>
                  <a:schemeClr val="dk1"/>
                </a:solidFill>
              </a:rPr>
              <a:t>DMatrix</a:t>
            </a:r>
            <a:r>
              <a:rPr lang="en-GB" dirty="0">
                <a:solidFill>
                  <a:schemeClr val="dk1"/>
                </a:solidFill>
              </a:rPr>
              <a:t>: Efficient data format for GPU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GPU Histogram Algorithm</a:t>
            </a:r>
            <a:r>
              <a:rPr lang="en-GB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Constructs feature histograms in parallel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Enables fast approximate split finding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 err="1">
                <a:solidFill>
                  <a:schemeClr val="dk1"/>
                </a:solidFill>
              </a:rPr>
              <a:t>AllReduce</a:t>
            </a:r>
            <a:r>
              <a:rPr lang="en-GB" sz="1800" b="1" dirty="0">
                <a:solidFill>
                  <a:schemeClr val="dk1"/>
                </a:solidFill>
              </a:rPr>
              <a:t> Communication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Aggregates partial gradients/splits across GPUs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Modes: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Single-node, multi-GPU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Multi-node, multi-GPU (via </a:t>
            </a:r>
            <a:r>
              <a:rPr lang="en-GB" dirty="0" err="1">
                <a:solidFill>
                  <a:schemeClr val="dk1"/>
                </a:solidFill>
              </a:rPr>
              <a:t>NCCL</a:t>
            </a:r>
            <a:r>
              <a:rPr lang="en-GB" dirty="0">
                <a:solidFill>
                  <a:schemeClr val="dk1"/>
                </a:solidFill>
              </a:rPr>
              <a:t> or Rabit)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7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XGBoost (Distributed GPU-based Gradient Boosted Trees)</a:t>
            </a:r>
            <a:endParaRPr b="1"/>
          </a:p>
        </p:txBody>
      </p:sp>
      <p:sp>
        <p:nvSpPr>
          <p:cNvPr id="266" name="Google Shape;266;p47"/>
          <p:cNvSpPr txBox="1">
            <a:spLocks noGrp="1"/>
          </p:cNvSpPr>
          <p:nvPr>
            <p:ph type="body" idx="1"/>
          </p:nvPr>
        </p:nvSpPr>
        <p:spPr>
          <a:xfrm>
            <a:off x="314000" y="1943033"/>
            <a:ext cx="7848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function Train_XGBoost_Distributed(D, num_rounds, max_depth):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initialize prediction = 0 for all instances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round in 1 to num_rounds: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parallel_for each GPU: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compute gradients and hessians for local partition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build histogram per feature (compressed)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all-reduce (sum) histograms across GPUs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master selects best split from global histogram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broadcast split info to GPUs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each GPU updates its data structure based on split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update prediction for each data point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return ensemble of boosted trees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267" name="Google Shape;267;p47"/>
          <p:cNvSpPr txBox="1"/>
          <p:nvPr/>
        </p:nvSpPr>
        <p:spPr>
          <a:xfrm>
            <a:off x="6096000" y="2249100"/>
            <a:ext cx="5598400" cy="3636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Initialize predictions and compute gradients &amp; Hessians per GPU on local data.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feature histograms to summarize gradient statistics efficiently.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GB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AllReduce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aggregate histograms across GPUs for global split decisions.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best splits and update tree structure synchronously on all GPUs.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predictions after tree construction for next iteration’s gradients.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XGBoost GPU Mode </a:t>
            </a:r>
            <a:endParaRPr b="1"/>
          </a:p>
        </p:txBody>
      </p:sp>
      <p:sp>
        <p:nvSpPr>
          <p:cNvPr id="273" name="Google Shape;273;p48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734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Each GPU: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Processes a data shard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Builds histograms for gradient stats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Finds candidate splits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Master process</a:t>
            </a:r>
            <a:r>
              <a:rPr lang="en-GB" sz="1800" dirty="0">
                <a:solidFill>
                  <a:schemeClr val="dk1"/>
                </a:solidFill>
              </a:rPr>
              <a:t>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Coordinates split selection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Merges updates via </a:t>
            </a:r>
            <a:r>
              <a:rPr lang="en-GB" dirty="0" err="1">
                <a:solidFill>
                  <a:schemeClr val="dk1"/>
                </a:solidFill>
              </a:rPr>
              <a:t>AllReduce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Synchronization after each boosting iteration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Benefits: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10x–50x faster than CPU for large datasets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Lower memory usage due to histogram-based algorithm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Good scalability on multi-GPU machines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Spark MLlib vs XGBoost (GPU Mode)</a:t>
            </a:r>
            <a:endParaRPr b="1"/>
          </a:p>
        </p:txBody>
      </p:sp>
      <p:graphicFrame>
        <p:nvGraphicFramePr>
          <p:cNvPr id="279" name="Google Shape;279;p49"/>
          <p:cNvGraphicFramePr/>
          <p:nvPr>
            <p:extLst>
              <p:ext uri="{D42A27DB-BD31-4B8C-83A1-F6EECF244321}">
                <p14:modId xmlns:p14="http://schemas.microsoft.com/office/powerpoint/2010/main" val="2813194656"/>
              </p:ext>
            </p:extLst>
          </p:nvPr>
        </p:nvGraphicFramePr>
        <p:xfrm>
          <a:off x="1116233" y="1947333"/>
          <a:ext cx="9810866" cy="407936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7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Feature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Spark MLlib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XGBoost (Distributed GPU Mode)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Language APIs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Scala, Java, Python</a:t>
                      </a:r>
                      <a:endParaRPr sz="15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Python, R, C++, Julia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Parallelism Type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Data Parallel (RDD-based)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GPU Parallelism + AllReduce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Ensemble Method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Random Forests, GBT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Boosted Decision Trees (GBDT)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GPU Support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Limited/None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Full GPU Support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Scalability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Very high on CPU clusters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Very high on multi-GPU setups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7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Best Use Case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Structured batch pipelines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Real-time training with large datasets</a:t>
                      </a:r>
                      <a:endParaRPr sz="15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D136-A661-E17A-52DC-B5B5F171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30323F6-365B-CD25-F6B3-07B75D3FC311}"/>
              </a:ext>
            </a:extLst>
          </p:cNvPr>
          <p:cNvGrpSpPr/>
          <p:nvPr/>
        </p:nvGrpSpPr>
        <p:grpSpPr>
          <a:xfrm>
            <a:off x="-3175" y="0"/>
            <a:ext cx="12198350" cy="6861175"/>
            <a:chOff x="-3175" y="0"/>
            <a:chExt cx="12198350" cy="686117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1BAE14D-10A9-A328-D770-52DBB533720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7A79E8B-AE3F-82C8-E95A-D77E53ADD86F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12192000" y="0"/>
                  </a:moveTo>
                  <a:lnTo>
                    <a:pt x="0" y="0"/>
                  </a:lnTo>
                  <a:lnTo>
                    <a:pt x="0" y="2577083"/>
                  </a:lnTo>
                  <a:lnTo>
                    <a:pt x="12192000" y="257708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17E8E5F-4B79-2DE8-8E51-20359D774122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0" y="2577083"/>
                  </a:moveTo>
                  <a:lnTo>
                    <a:pt x="12192000" y="257708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77083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FB32CC5-6CF1-F312-1F43-3BF4BD03867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00" y="0"/>
              <a:ext cx="2924555" cy="691896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029338E-5393-91E0-E31D-A48DDDCACD8C}"/>
                </a:ext>
              </a:extLst>
            </p:cNvPr>
            <p:cNvSpPr/>
            <p:nvPr/>
          </p:nvSpPr>
          <p:spPr>
            <a:xfrm>
              <a:off x="3843528" y="6775703"/>
              <a:ext cx="3862070" cy="76200"/>
            </a:xfrm>
            <a:custGeom>
              <a:avLst/>
              <a:gdLst/>
              <a:ahLst/>
              <a:cxnLst/>
              <a:rect l="l" t="t" r="r" b="b"/>
              <a:pathLst>
                <a:path w="3862070" h="76200">
                  <a:moveTo>
                    <a:pt x="386181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1816" y="76200"/>
                  </a:lnTo>
                  <a:lnTo>
                    <a:pt x="3861816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204E2E0-4386-03BA-B547-EC837C070CBB}"/>
                </a:ext>
              </a:extLst>
            </p:cNvPr>
            <p:cNvSpPr/>
            <p:nvPr/>
          </p:nvSpPr>
          <p:spPr>
            <a:xfrm>
              <a:off x="0" y="6775703"/>
              <a:ext cx="3843654" cy="76200"/>
            </a:xfrm>
            <a:custGeom>
              <a:avLst/>
              <a:gdLst/>
              <a:ahLst/>
              <a:cxnLst/>
              <a:rect l="l" t="t" r="r" b="b"/>
              <a:pathLst>
                <a:path w="3843654" h="76200">
                  <a:moveTo>
                    <a:pt x="3843528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43528" y="76200"/>
                  </a:lnTo>
                  <a:lnTo>
                    <a:pt x="3843528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1EC45DF-6F7E-1F24-9EE0-16654931163D}"/>
                </a:ext>
              </a:extLst>
            </p:cNvPr>
            <p:cNvSpPr/>
            <p:nvPr/>
          </p:nvSpPr>
          <p:spPr>
            <a:xfrm>
              <a:off x="7705343" y="6775703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2" y="76200"/>
                  </a:lnTo>
                  <a:lnTo>
                    <a:pt x="38602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DC5FC33F-5ACB-F69F-76E3-CDE90CF07163}"/>
              </a:ext>
            </a:extLst>
          </p:cNvPr>
          <p:cNvSpPr txBox="1"/>
          <p:nvPr/>
        </p:nvSpPr>
        <p:spPr>
          <a:xfrm>
            <a:off x="10576306" y="730276"/>
            <a:ext cx="1398270" cy="8909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Pil</a:t>
            </a:r>
            <a:r>
              <a:rPr sz="2400" spc="-16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748665">
              <a:lnSpc>
                <a:spcPct val="100000"/>
              </a:lnSpc>
              <a:spcBef>
                <a:spcPts val="7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WILP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4BBEBD4-842A-CAD5-3259-AC28B6DB34A2}"/>
              </a:ext>
            </a:extLst>
          </p:cNvPr>
          <p:cNvSpPr txBox="1"/>
          <p:nvPr/>
        </p:nvSpPr>
        <p:spPr>
          <a:xfrm>
            <a:off x="485343" y="4262120"/>
            <a:ext cx="8353857" cy="1100301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Support Vector Machines (SVM)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- Parallelizing kernel computations (block-wise, map-reduce style)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6373F0E-B180-C05D-6B44-FB4B250F95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5600" y="1730593"/>
            <a:ext cx="54102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2145">
              <a:lnSpc>
                <a:spcPts val="4560"/>
              </a:lnSpc>
              <a:spcBef>
                <a:spcPts val="95"/>
              </a:spcBef>
            </a:pPr>
            <a:r>
              <a:rPr sz="4000" i="1" spc="-35" dirty="0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sz="4000" i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CLZG516</a:t>
            </a:r>
            <a:r>
              <a:rPr sz="4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4560"/>
              </a:lnSpc>
            </a:pPr>
            <a:r>
              <a:rPr sz="4000" i="1" spc="-40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z="4000" i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5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4000" i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0330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Support Vector Machines (SVM)</a:t>
            </a:r>
            <a:endParaRPr b="1"/>
          </a:p>
        </p:txBody>
      </p:sp>
      <p:sp>
        <p:nvSpPr>
          <p:cNvPr id="290" name="Google Shape;290;p51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Parallelizing Kernel Computations:</a:t>
            </a:r>
            <a:r>
              <a:rPr lang="en-GB" sz="1800" dirty="0">
                <a:solidFill>
                  <a:schemeClr val="dk1"/>
                </a:solidFill>
              </a:rPr>
              <a:t> Block-wise and MapReduce-style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What is SVM?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SVM is a </a:t>
            </a:r>
            <a:r>
              <a:rPr lang="en-GB" b="1" dirty="0">
                <a:solidFill>
                  <a:schemeClr val="dk1"/>
                </a:solidFill>
              </a:rPr>
              <a:t>supervised learning algorithm</a:t>
            </a:r>
            <a:r>
              <a:rPr lang="en-GB" dirty="0">
                <a:solidFill>
                  <a:schemeClr val="dk1"/>
                </a:solidFill>
              </a:rPr>
              <a:t> used for </a:t>
            </a:r>
            <a:r>
              <a:rPr lang="en-GB" b="1" dirty="0">
                <a:solidFill>
                  <a:schemeClr val="dk1"/>
                </a:solidFill>
              </a:rPr>
              <a:t>classification</a:t>
            </a:r>
            <a:r>
              <a:rPr lang="en-GB" dirty="0">
                <a:solidFill>
                  <a:schemeClr val="dk1"/>
                </a:solidFill>
              </a:rPr>
              <a:t> and </a:t>
            </a:r>
            <a:r>
              <a:rPr lang="en-GB" b="1" dirty="0">
                <a:solidFill>
                  <a:schemeClr val="dk1"/>
                </a:solidFill>
              </a:rPr>
              <a:t>regression</a:t>
            </a:r>
            <a:r>
              <a:rPr lang="en-GB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It aims to find the </a:t>
            </a:r>
            <a:r>
              <a:rPr lang="en-GB" b="1" dirty="0">
                <a:solidFill>
                  <a:schemeClr val="dk1"/>
                </a:solidFill>
              </a:rPr>
              <a:t>optimal hyperplane</a:t>
            </a:r>
            <a:r>
              <a:rPr lang="en-GB" dirty="0">
                <a:solidFill>
                  <a:schemeClr val="dk1"/>
                </a:solidFill>
              </a:rPr>
              <a:t> that separates data into different classes.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Can use </a:t>
            </a:r>
            <a:r>
              <a:rPr lang="en-GB" b="1" dirty="0">
                <a:solidFill>
                  <a:schemeClr val="dk1"/>
                </a:solidFill>
              </a:rPr>
              <a:t>kernel trick</a:t>
            </a:r>
            <a:r>
              <a:rPr lang="en-GB" dirty="0">
                <a:solidFill>
                  <a:schemeClr val="dk1"/>
                </a:solidFill>
              </a:rPr>
              <a:t> to project data into higher-dimensional space for non-linear classification.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Kernel Computation in SVM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Core operation: </a:t>
            </a:r>
            <a:r>
              <a:rPr lang="en-GB" b="1" dirty="0">
                <a:solidFill>
                  <a:schemeClr val="dk1"/>
                </a:solidFill>
              </a:rPr>
              <a:t>Computing kernel matrix (Gram matrix)</a:t>
            </a:r>
            <a:r>
              <a:rPr lang="en-GB" dirty="0">
                <a:solidFill>
                  <a:schemeClr val="dk1"/>
                </a:solidFill>
              </a:rPr>
              <a:t> K(</a:t>
            </a:r>
            <a:r>
              <a:rPr lang="en-GB" dirty="0" err="1">
                <a:solidFill>
                  <a:schemeClr val="dk1"/>
                </a:solidFill>
              </a:rPr>
              <a:t>i</a:t>
            </a:r>
            <a:r>
              <a:rPr lang="en-GB" dirty="0">
                <a:solidFill>
                  <a:schemeClr val="dk1"/>
                </a:solidFill>
              </a:rPr>
              <a:t>, j) = φ(xᵢ) • φ(xⱼ)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For n data points: Kernel matrix is O(n²) in size → </a:t>
            </a:r>
            <a:r>
              <a:rPr lang="en-GB" b="1" dirty="0">
                <a:solidFill>
                  <a:schemeClr val="dk1"/>
                </a:solidFill>
              </a:rPr>
              <a:t>memory &amp; compute bottleneck</a:t>
            </a:r>
            <a:endParaRPr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Common kernels: RBF, polynomial, sigmoid, linear</a:t>
            </a:r>
            <a:br>
              <a:rPr lang="en-GB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Need for Parallelism</a:t>
            </a:r>
            <a:endParaRPr b="1"/>
          </a:p>
        </p:txBody>
      </p:sp>
      <p:sp>
        <p:nvSpPr>
          <p:cNvPr id="296" name="Google Shape;296;p52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Kernel matrix computation is: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Quadratic in size</a:t>
            </a:r>
            <a:r>
              <a:rPr lang="en-GB" dirty="0">
                <a:solidFill>
                  <a:schemeClr val="dk1"/>
                </a:solidFill>
              </a:rPr>
              <a:t>: Hard to scale for large datasets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Embarrassingly parallel</a:t>
            </a:r>
            <a:r>
              <a:rPr lang="en-GB" dirty="0">
                <a:solidFill>
                  <a:schemeClr val="dk1"/>
                </a:solidFill>
              </a:rPr>
              <a:t>: Each (</a:t>
            </a:r>
            <a:r>
              <a:rPr lang="en-GB" dirty="0" err="1">
                <a:solidFill>
                  <a:schemeClr val="dk1"/>
                </a:solidFill>
              </a:rPr>
              <a:t>i</a:t>
            </a:r>
            <a:r>
              <a:rPr lang="en-GB" dirty="0">
                <a:solidFill>
                  <a:schemeClr val="dk1"/>
                </a:solidFill>
              </a:rPr>
              <a:t>, j) pair can be computed independently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Solutions: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Block-wise parallelism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MapReduce-style parallelism</a:t>
            </a:r>
            <a:br>
              <a:rPr lang="en-GB" b="1" dirty="0">
                <a:solidFill>
                  <a:schemeClr val="dk1"/>
                </a:solidFill>
              </a:rPr>
            </a:b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3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Block-wise Kernel Computation</a:t>
            </a:r>
            <a:endParaRPr b="1"/>
          </a:p>
        </p:txBody>
      </p:sp>
      <p:sp>
        <p:nvSpPr>
          <p:cNvPr id="302" name="Google Shape;302;p53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867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Block-wise Kernel Computation: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Divide the kernel matrix into blocks</a:t>
            </a:r>
            <a:r>
              <a:rPr lang="en-GB" dirty="0">
                <a:solidFill>
                  <a:schemeClr val="dk1"/>
                </a:solidFill>
              </a:rPr>
              <a:t> (tiles) of size B x B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Compute each block in parallel using multiple cores/GPUs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Works well in </a:t>
            </a:r>
            <a:r>
              <a:rPr lang="en-GB" b="1" dirty="0">
                <a:solidFill>
                  <a:schemeClr val="dk1"/>
                </a:solidFill>
              </a:rPr>
              <a:t>multicore systems and GPU architectures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	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Utilizes shared memory efficiently (e.g., in GPUs)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Reduces cache misses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Enables </a:t>
            </a:r>
            <a:r>
              <a:rPr lang="en-GB" b="1" dirty="0">
                <a:solidFill>
                  <a:schemeClr val="dk1"/>
                </a:solidFill>
              </a:rPr>
              <a:t>batch processing</a:t>
            </a:r>
            <a:r>
              <a:rPr lang="en-GB" dirty="0">
                <a:solidFill>
                  <a:schemeClr val="dk1"/>
                </a:solidFill>
              </a:rPr>
              <a:t> of kernel entries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Used in:</a:t>
            </a:r>
            <a:r>
              <a:rPr lang="en-GB" sz="1800" dirty="0">
                <a:solidFill>
                  <a:schemeClr val="dk1"/>
                </a:solidFill>
              </a:rPr>
              <a:t> CUDA-based SVM solvers, TensorFlow custom kernel ops</a:t>
            </a: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4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MapReduce-Style Kernel Computation</a:t>
            </a:r>
            <a:endParaRPr b="1"/>
          </a:p>
        </p:txBody>
      </p:sp>
      <p:sp>
        <p:nvSpPr>
          <p:cNvPr id="308" name="Google Shape;308;p54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91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Suitable for </a:t>
            </a:r>
            <a:r>
              <a:rPr lang="en-GB" sz="1800" b="1" dirty="0">
                <a:solidFill>
                  <a:schemeClr val="dk1"/>
                </a:solidFill>
              </a:rPr>
              <a:t>distributed environments</a:t>
            </a:r>
            <a:r>
              <a:rPr lang="en-GB" sz="1800" dirty="0">
                <a:solidFill>
                  <a:schemeClr val="dk1"/>
                </a:solidFill>
              </a:rPr>
              <a:t> (e.g., Hadoop, Spark)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Steps: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Map phase</a:t>
            </a:r>
            <a:r>
              <a:rPr lang="en-GB" dirty="0">
                <a:solidFill>
                  <a:schemeClr val="dk1"/>
                </a:solidFill>
              </a:rPr>
              <a:t>: Each mapper computes a subset of the kernel matrix rows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Shuffle</a:t>
            </a:r>
            <a:r>
              <a:rPr lang="en-GB" dirty="0">
                <a:solidFill>
                  <a:schemeClr val="dk1"/>
                </a:solidFill>
              </a:rPr>
              <a:t>: Intermediate key-value pairs (</a:t>
            </a:r>
            <a:r>
              <a:rPr lang="en-GB" dirty="0" err="1">
                <a:solidFill>
                  <a:schemeClr val="dk1"/>
                </a:solidFill>
              </a:rPr>
              <a:t>row_index</a:t>
            </a:r>
            <a:r>
              <a:rPr lang="en-GB" dirty="0">
                <a:solidFill>
                  <a:schemeClr val="dk1"/>
                </a:solidFill>
              </a:rPr>
              <a:t>, </a:t>
            </a:r>
            <a:r>
              <a:rPr lang="en-GB" dirty="0" err="1">
                <a:solidFill>
                  <a:schemeClr val="dk1"/>
                </a:solidFill>
              </a:rPr>
              <a:t>kernel_row</a:t>
            </a:r>
            <a:r>
              <a:rPr lang="en-GB" dirty="0">
                <a:solidFill>
                  <a:schemeClr val="dk1"/>
                </a:solidFill>
              </a:rPr>
              <a:t>) are transferred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Reduce phase</a:t>
            </a:r>
            <a:r>
              <a:rPr lang="en-GB" dirty="0">
                <a:solidFill>
                  <a:schemeClr val="dk1"/>
                </a:solidFill>
              </a:rPr>
              <a:t>: Assemble the full matrix or partial results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Scales to large datasets across multiple machines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Tolerant to node failures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Works with </a:t>
            </a:r>
            <a:r>
              <a:rPr lang="en-GB" b="1" dirty="0">
                <a:solidFill>
                  <a:schemeClr val="dk1"/>
                </a:solidFill>
              </a:rPr>
              <a:t>disk-based data (out-of-core)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Used in: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Apache Mahout (Hadoop-based ML library)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Custom distributed SVM implementations using Spark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5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Tools &amp; Frameworks Supporting Parallel SVM</a:t>
            </a:r>
            <a:endParaRPr b="1"/>
          </a:p>
        </p:txBody>
      </p:sp>
      <p:graphicFrame>
        <p:nvGraphicFramePr>
          <p:cNvPr id="314" name="Google Shape;314;p55"/>
          <p:cNvGraphicFramePr/>
          <p:nvPr>
            <p:extLst>
              <p:ext uri="{D42A27DB-BD31-4B8C-83A1-F6EECF244321}">
                <p14:modId xmlns:p14="http://schemas.microsoft.com/office/powerpoint/2010/main" val="1604291387"/>
              </p:ext>
            </p:extLst>
          </p:nvPr>
        </p:nvGraphicFramePr>
        <p:xfrm>
          <a:off x="1217700" y="1826400"/>
          <a:ext cx="9351633" cy="4166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9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1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3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 dirty="0"/>
                        <a:t>Framework</a:t>
                      </a:r>
                      <a:endParaRPr sz="15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Parallelization Type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Notes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cuSVM / ThunderSVM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GPU block-based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Very fast for RBF/Linear kernels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Apache Mahout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MapReduce (Hadoop)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Distributed kernel computation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Spark MLlib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Data parallel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Uses linear SVM (no kernel trick)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3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LIBSVM + MPI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Message-passing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Used for large-scale </a:t>
                      </a:r>
                      <a:r>
                        <a:rPr lang="en-GB" sz="1500" dirty="0" err="1"/>
                        <a:t>SVMs</a:t>
                      </a:r>
                      <a:endParaRPr sz="15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C23E-6947-F026-898A-84944657D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74CD21D-C89F-3C64-001B-8C4811FC0BDD}"/>
              </a:ext>
            </a:extLst>
          </p:cNvPr>
          <p:cNvGrpSpPr/>
          <p:nvPr/>
        </p:nvGrpSpPr>
        <p:grpSpPr>
          <a:xfrm>
            <a:off x="-3175" y="0"/>
            <a:ext cx="12198350" cy="6861175"/>
            <a:chOff x="-3175" y="0"/>
            <a:chExt cx="12198350" cy="686117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1DDD7C1-6F59-8978-7009-841D844B13F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13E2C7F-04C7-DCEF-07A1-B44737B8F71B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12192000" y="0"/>
                  </a:moveTo>
                  <a:lnTo>
                    <a:pt x="0" y="0"/>
                  </a:lnTo>
                  <a:lnTo>
                    <a:pt x="0" y="2577083"/>
                  </a:lnTo>
                  <a:lnTo>
                    <a:pt x="12192000" y="257708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37F8122-895C-F7F7-1467-1F6D9258E106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0" y="2577083"/>
                  </a:moveTo>
                  <a:lnTo>
                    <a:pt x="12192000" y="257708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77083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3A4E616-DA83-B51E-C342-BD0E5EFFC41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00" y="0"/>
              <a:ext cx="2924555" cy="691896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3AA4C10-195E-EE92-BEFE-1FD6FBCF9ACB}"/>
                </a:ext>
              </a:extLst>
            </p:cNvPr>
            <p:cNvSpPr/>
            <p:nvPr/>
          </p:nvSpPr>
          <p:spPr>
            <a:xfrm>
              <a:off x="3843528" y="6775703"/>
              <a:ext cx="3862070" cy="76200"/>
            </a:xfrm>
            <a:custGeom>
              <a:avLst/>
              <a:gdLst/>
              <a:ahLst/>
              <a:cxnLst/>
              <a:rect l="l" t="t" r="r" b="b"/>
              <a:pathLst>
                <a:path w="3862070" h="76200">
                  <a:moveTo>
                    <a:pt x="386181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1816" y="76200"/>
                  </a:lnTo>
                  <a:lnTo>
                    <a:pt x="3861816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95A8CBC-67EB-CE33-EB98-EBAF700C2E88}"/>
                </a:ext>
              </a:extLst>
            </p:cNvPr>
            <p:cNvSpPr/>
            <p:nvPr/>
          </p:nvSpPr>
          <p:spPr>
            <a:xfrm>
              <a:off x="0" y="6775703"/>
              <a:ext cx="3843654" cy="76200"/>
            </a:xfrm>
            <a:custGeom>
              <a:avLst/>
              <a:gdLst/>
              <a:ahLst/>
              <a:cxnLst/>
              <a:rect l="l" t="t" r="r" b="b"/>
              <a:pathLst>
                <a:path w="3843654" h="76200">
                  <a:moveTo>
                    <a:pt x="3843528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43528" y="76200"/>
                  </a:lnTo>
                  <a:lnTo>
                    <a:pt x="3843528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7427846-1E56-9BAC-62EB-35B17F910581}"/>
                </a:ext>
              </a:extLst>
            </p:cNvPr>
            <p:cNvSpPr/>
            <p:nvPr/>
          </p:nvSpPr>
          <p:spPr>
            <a:xfrm>
              <a:off x="7705343" y="6775703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2" y="76200"/>
                  </a:lnTo>
                  <a:lnTo>
                    <a:pt x="38602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0FEABA1E-8D8F-74DD-B72A-F9D1D8C3CFEF}"/>
              </a:ext>
            </a:extLst>
          </p:cNvPr>
          <p:cNvSpPr txBox="1"/>
          <p:nvPr/>
        </p:nvSpPr>
        <p:spPr>
          <a:xfrm>
            <a:off x="10576306" y="730276"/>
            <a:ext cx="1398270" cy="8909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Pil</a:t>
            </a:r>
            <a:r>
              <a:rPr sz="2400" spc="-16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748665">
              <a:lnSpc>
                <a:spcPct val="100000"/>
              </a:lnSpc>
              <a:spcBef>
                <a:spcPts val="7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WILP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DAE778D-512B-E1FD-674B-3A075A090A37}"/>
              </a:ext>
            </a:extLst>
          </p:cNvPr>
          <p:cNvSpPr txBox="1"/>
          <p:nvPr/>
        </p:nvSpPr>
        <p:spPr>
          <a:xfrm>
            <a:off x="485343" y="4262120"/>
            <a:ext cx="10487457" cy="2198038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k-Nearest Neighbors (k-NN)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Data partitioning &amp; locality-sensitive hashing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Distributed indexing (</a:t>
            </a:r>
            <a:r>
              <a:rPr lang="en-US" sz="2400" spc="-155" dirty="0" err="1">
                <a:latin typeface="Arial" panose="020B0604020202020204" pitchFamily="34" charset="0"/>
                <a:cs typeface="Arial" panose="020B0604020202020204" pitchFamily="34" charset="0"/>
              </a:rPr>
              <a:t>KD</a:t>
            </a: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-tree, Ball-tree) vs. brute-force map-reduce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Trade-offs: accuracy vs. latency in approximate k-NN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CC3C208-F8CE-EBFF-FDFB-0FF4A489B0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5600" y="1730593"/>
            <a:ext cx="54102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2145">
              <a:lnSpc>
                <a:spcPts val="4560"/>
              </a:lnSpc>
              <a:spcBef>
                <a:spcPts val="95"/>
              </a:spcBef>
            </a:pPr>
            <a:r>
              <a:rPr sz="4000" i="1" spc="-35" dirty="0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sz="4000" i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CLZG516</a:t>
            </a:r>
            <a:r>
              <a:rPr sz="4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4560"/>
              </a:lnSpc>
            </a:pPr>
            <a:r>
              <a:rPr sz="4000" i="1" spc="-40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z="4000" i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5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4000" i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001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7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Overview of k-NN Algorithm</a:t>
            </a:r>
            <a:endParaRPr b="1"/>
          </a:p>
        </p:txBody>
      </p:sp>
      <p:sp>
        <p:nvSpPr>
          <p:cNvPr id="325" name="Google Shape;325;p57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653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k-NN</a:t>
            </a:r>
            <a:r>
              <a:rPr lang="en-GB" sz="1800" dirty="0">
                <a:solidFill>
                  <a:schemeClr val="dk1"/>
                </a:solidFill>
              </a:rPr>
              <a:t> is a simple, intuitive algorithm for classification and regression.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For a query point, it finds the </a:t>
            </a:r>
            <a:r>
              <a:rPr lang="en-GB" sz="1800" b="1" dirty="0">
                <a:solidFill>
                  <a:schemeClr val="dk1"/>
                </a:solidFill>
              </a:rPr>
              <a:t>k closest points</a:t>
            </a:r>
            <a:r>
              <a:rPr lang="en-GB" sz="1800" dirty="0">
                <a:solidFill>
                  <a:schemeClr val="dk1"/>
                </a:solidFill>
              </a:rPr>
              <a:t> (neighbors) in the dataset based on a distance metric.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It then uses these neighbors to predict the label (classification) or value (regression).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Limitations: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Naïve implementation requires computing distances to </a:t>
            </a:r>
            <a:r>
              <a:rPr lang="en-GB" b="1" dirty="0">
                <a:solidFill>
                  <a:schemeClr val="dk1"/>
                </a:solidFill>
              </a:rPr>
              <a:t>all points</a:t>
            </a:r>
            <a:r>
              <a:rPr lang="en-GB" dirty="0">
                <a:solidFill>
                  <a:schemeClr val="dk1"/>
                </a:solidFill>
              </a:rPr>
              <a:t> → computationally expensive O(</a:t>
            </a:r>
            <a:r>
              <a:rPr lang="en-GB" dirty="0" err="1">
                <a:solidFill>
                  <a:schemeClr val="dk1"/>
                </a:solidFill>
              </a:rPr>
              <a:t>n⋅d</a:t>
            </a:r>
            <a:r>
              <a:rPr lang="en-GB" dirty="0">
                <a:solidFill>
                  <a:schemeClr val="dk1"/>
                </a:solidFill>
              </a:rPr>
              <a:t>).	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Does not scale well for large datasets or high-dimensional data (curse of dimensionality).</a:t>
            </a:r>
            <a:br>
              <a:rPr lang="en-GB" dirty="0">
                <a:solidFill>
                  <a:schemeClr val="dk1"/>
                </a:solidFill>
              </a:rPr>
            </a:b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8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Data Partitioning</a:t>
            </a:r>
            <a:endParaRPr b="1"/>
          </a:p>
        </p:txBody>
      </p:sp>
      <p:sp>
        <p:nvSpPr>
          <p:cNvPr id="331" name="Google Shape;331;p58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653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Data partitioning divides the dataset into smaller parts to </a:t>
            </a:r>
            <a:r>
              <a:rPr lang="en-GB" sz="1800" b="1" dirty="0">
                <a:solidFill>
                  <a:schemeClr val="dk1"/>
                </a:solidFill>
              </a:rPr>
              <a:t>improve scalability</a:t>
            </a:r>
            <a:r>
              <a:rPr lang="en-GB" sz="1800" dirty="0">
                <a:solidFill>
                  <a:schemeClr val="dk1"/>
                </a:solidFill>
              </a:rPr>
              <a:t> and </a:t>
            </a:r>
            <a:r>
              <a:rPr lang="en-GB" sz="1800" b="1" dirty="0">
                <a:solidFill>
                  <a:schemeClr val="dk1"/>
                </a:solidFill>
              </a:rPr>
              <a:t>enable parallel processing</a:t>
            </a:r>
            <a:r>
              <a:rPr lang="en-GB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0" indent="0" algn="l" rtl="0">
              <a:lnSpc>
                <a:spcPct val="150000"/>
              </a:lnSpc>
              <a:spcBef>
                <a:spcPts val="1867"/>
              </a:spcBef>
              <a:buNone/>
            </a:pPr>
            <a:r>
              <a:rPr lang="en-GB" sz="1800" b="1" dirty="0">
                <a:solidFill>
                  <a:schemeClr val="dk1"/>
                </a:solidFill>
              </a:rPr>
              <a:t>Types of Partitioning:</a:t>
            </a:r>
            <a:endParaRPr sz="1800" b="1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spcBef>
                <a:spcPts val="1867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Horizontal partitioning: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Splits dataset by rows — each partition contains a subset of data points.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 Allows distributed processing where each node computes neighbors locally.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Vertical partitioning: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Splits dataset by columns — each partition contains subsets of features.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 Used less often for k-NN since distance computations need full feature vectors.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9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Locality-Sensitive Hashing (LSH)</a:t>
            </a:r>
            <a:endParaRPr b="1"/>
          </a:p>
        </p:txBody>
      </p:sp>
      <p:sp>
        <p:nvSpPr>
          <p:cNvPr id="337" name="Google Shape;337;p59"/>
          <p:cNvSpPr txBox="1">
            <a:spLocks noGrp="1"/>
          </p:cNvSpPr>
          <p:nvPr>
            <p:ph type="body" idx="1"/>
          </p:nvPr>
        </p:nvSpPr>
        <p:spPr>
          <a:xfrm>
            <a:off x="533400" y="1151400"/>
            <a:ext cx="9653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To reduce search complexity, </a:t>
            </a:r>
            <a:r>
              <a:rPr lang="en-GB" sz="1800" b="1" dirty="0">
                <a:solidFill>
                  <a:schemeClr val="dk1"/>
                </a:solidFill>
              </a:rPr>
              <a:t>approximate nearest neighbors</a:t>
            </a:r>
            <a:r>
              <a:rPr lang="en-GB" sz="1800" dirty="0">
                <a:solidFill>
                  <a:schemeClr val="dk1"/>
                </a:solidFill>
              </a:rPr>
              <a:t> methods like </a:t>
            </a:r>
            <a:r>
              <a:rPr lang="en-GB" sz="1800" dirty="0" err="1">
                <a:solidFill>
                  <a:schemeClr val="dk1"/>
                </a:solidFill>
              </a:rPr>
              <a:t>LSH</a:t>
            </a:r>
            <a:r>
              <a:rPr lang="en-GB" sz="1800" dirty="0">
                <a:solidFill>
                  <a:schemeClr val="dk1"/>
                </a:solidFill>
              </a:rPr>
              <a:t> are used:</a:t>
            </a:r>
            <a:endParaRPr sz="1800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Goal:</a:t>
            </a:r>
            <a:r>
              <a:rPr lang="en-GB" dirty="0">
                <a:solidFill>
                  <a:schemeClr val="dk1"/>
                </a:solidFill>
              </a:rPr>
              <a:t> Hash data points so that similar points collide in the same buckets with high probability.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How:</a:t>
            </a:r>
            <a:r>
              <a:rPr lang="en-GB" dirty="0">
                <a:solidFill>
                  <a:schemeClr val="dk1"/>
                </a:solidFill>
              </a:rPr>
              <a:t> Use hash functions sensitive to the chosen distance metric (e.g., Euclidean, cosine).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By querying only points in the same bucket, the search space reduces drastically.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Key Concepts: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 err="1">
                <a:solidFill>
                  <a:schemeClr val="dk1"/>
                </a:solidFill>
              </a:rPr>
              <a:t>LSH</a:t>
            </a:r>
            <a:r>
              <a:rPr lang="en-GB" dirty="0">
                <a:solidFill>
                  <a:schemeClr val="dk1"/>
                </a:solidFill>
              </a:rPr>
              <a:t> uses multiple hash tables to increase accuracy.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Query points are hashed similarly to retrieve candidate neighbors.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Final k-NN is selected from candidate neighbors by exact distance computation.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Sub-linear query time in large, high-dimensional datasets.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Easily parallelizable and distributable.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Limitations: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Approximate results — may miss some true neighbors.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Needs careful tuning of hash functions and parameters.</a:t>
            </a:r>
            <a:br>
              <a:rPr lang="en-GB" dirty="0">
                <a:solidFill>
                  <a:schemeClr val="dk1"/>
                </a:solidFill>
              </a:rPr>
            </a:b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0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Locality-Sensitive Hashing (LSH) for Approximate k-NN</a:t>
            </a:r>
            <a:endParaRPr b="1"/>
          </a:p>
        </p:txBody>
      </p:sp>
      <p:sp>
        <p:nvSpPr>
          <p:cNvPr id="343" name="Google Shape;343;p60"/>
          <p:cNvSpPr txBox="1">
            <a:spLocks noGrp="1"/>
          </p:cNvSpPr>
          <p:nvPr>
            <p:ph type="body" idx="1"/>
          </p:nvPr>
        </p:nvSpPr>
        <p:spPr>
          <a:xfrm>
            <a:off x="336367" y="1739833"/>
            <a:ext cx="5952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function LSH_Train(dataset D, num_tables L, num_hashes k, w):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i in 1 to L: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generate k random vectors r₁...rₖ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create empty hash_table_i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for each x in D: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g = [floor((r_j ⋅ x + b_j)/w) for j in 1 to k]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hash_key = concatenate(g)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insert x into hash_table_i[hash_key]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function LSH_Query(query q):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candidate_set = set()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each table: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g_q = compute_hash_for_query(q)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candidate_set += hash_table[g_q]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return kNN_BruteForce(q, candidate_set, k)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b="1">
                <a:solidFill>
                  <a:schemeClr val="dk1"/>
                </a:solidFill>
                <a:ea typeface="Comic Sans MS"/>
                <a:sym typeface="Comic Sans MS"/>
              </a:rPr>
              <a:t> Approximate results</a:t>
            </a: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b="1">
                <a:solidFill>
                  <a:schemeClr val="dk1"/>
                </a:solidFill>
                <a:ea typeface="Comic Sans MS"/>
                <a:sym typeface="Comic Sans MS"/>
              </a:rPr>
              <a:t>Sub-linear time with tuning</a:t>
            </a: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b="1">
                <a:solidFill>
                  <a:schemeClr val="dk1"/>
                </a:solidFill>
                <a:ea typeface="Comic Sans MS"/>
                <a:sym typeface="Comic Sans MS"/>
              </a:rPr>
              <a:t>Used in high-dimensional data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344" name="Google Shape;344;p60"/>
          <p:cNvSpPr txBox="1"/>
          <p:nvPr/>
        </p:nvSpPr>
        <p:spPr>
          <a:xfrm>
            <a:off x="6373500" y="1758834"/>
            <a:ext cx="5516000" cy="473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1600"/>
              </a:spcBef>
            </a:pPr>
            <a:r>
              <a:rPr lang="en-GB" dirty="0" err="1">
                <a:solidFill>
                  <a:schemeClr val="dk1"/>
                </a:solidFill>
              </a:rPr>
              <a:t>LSH</a:t>
            </a:r>
            <a:r>
              <a:rPr lang="en-GB" dirty="0">
                <a:solidFill>
                  <a:schemeClr val="dk1"/>
                </a:solidFill>
              </a:rPr>
              <a:t> is used to find approximate nearest neighbors quickly in high-dimensional data by hashing points so that similar points end up in the same buckets with high probability.</a:t>
            </a:r>
            <a:endParaRPr dirty="0">
              <a:solidFill>
                <a:schemeClr val="dk1"/>
              </a:solidFill>
            </a:endParaRPr>
          </a:p>
          <a:p>
            <a:pPr>
              <a:spcBef>
                <a:spcPts val="1600"/>
              </a:spcBef>
            </a:pPr>
            <a:r>
              <a:rPr lang="en-GB" b="1" dirty="0">
                <a:solidFill>
                  <a:schemeClr val="dk1"/>
                </a:solidFill>
              </a:rPr>
              <a:t>How it works:</a:t>
            </a:r>
            <a:endParaRPr b="1" dirty="0">
              <a:solidFill>
                <a:schemeClr val="dk1"/>
              </a:solidFill>
            </a:endParaRPr>
          </a:p>
          <a:p>
            <a:pPr marL="609585" indent="-397923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During training, multiple hash tables are created using randomly generated hash functions.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Each data point is hashed into buckets in each table based on projections and quantization.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For a query, its hash is computed in all tables to find candidate neighbors from the same buckets.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The final nearest neighbors are found by performing brute-force search only on this smaller candidate set.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1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Distributed Indexing Structures</a:t>
            </a:r>
            <a:endParaRPr b="1"/>
          </a:p>
        </p:txBody>
      </p:sp>
      <p:sp>
        <p:nvSpPr>
          <p:cNvPr id="350" name="Google Shape;350;p61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024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867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 err="1">
                <a:solidFill>
                  <a:schemeClr val="dk1"/>
                </a:solidFill>
              </a:rPr>
              <a:t>KD</a:t>
            </a:r>
            <a:r>
              <a:rPr lang="en-GB" sz="1800" b="1" dirty="0">
                <a:solidFill>
                  <a:schemeClr val="dk1"/>
                </a:solidFill>
              </a:rPr>
              <a:t>-Trees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Binary tree that partitions space along axis-aligned hyperplanes.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Efficient for low-dimensional data (typically &lt;30 dimensions).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Query complexity: O(</a:t>
            </a:r>
            <a:r>
              <a:rPr lang="en-GB" dirty="0" err="1">
                <a:solidFill>
                  <a:schemeClr val="dk1"/>
                </a:solidFill>
              </a:rPr>
              <a:t>log⁡n</a:t>
            </a:r>
            <a:r>
              <a:rPr lang="en-GB" dirty="0">
                <a:solidFill>
                  <a:schemeClr val="dk1"/>
                </a:solidFill>
              </a:rPr>
              <a:t>) average.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Not well-suited for high-dimensional data due to “curse of dimensionality.”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Difficult to scale across distributed systems because of tree traversal dependencies.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Ball Trees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Partitions data into nested hyperspheres (balls).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Each node stores </a:t>
            </a:r>
            <a:r>
              <a:rPr lang="en-GB" dirty="0" err="1">
                <a:solidFill>
                  <a:schemeClr val="dk1"/>
                </a:solidFill>
              </a:rPr>
              <a:t>center</a:t>
            </a:r>
            <a:r>
              <a:rPr lang="en-GB" dirty="0">
                <a:solidFill>
                  <a:schemeClr val="dk1"/>
                </a:solidFill>
              </a:rPr>
              <a:t> and radius of its points.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Allows pruning of large regions during search.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Better performance than </a:t>
            </a:r>
            <a:r>
              <a:rPr lang="en-GB" dirty="0" err="1">
                <a:solidFill>
                  <a:schemeClr val="dk1"/>
                </a:solidFill>
              </a:rPr>
              <a:t>KD</a:t>
            </a:r>
            <a:r>
              <a:rPr lang="en-GB" dirty="0">
                <a:solidFill>
                  <a:schemeClr val="dk1"/>
                </a:solidFill>
              </a:rPr>
              <a:t>-trees in moderately high dimensions.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Still challenging to distribute due to hierarchical structure.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2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KD-Tree-Based k-NN</a:t>
            </a:r>
            <a:endParaRPr b="1"/>
          </a:p>
        </p:txBody>
      </p:sp>
      <p:sp>
        <p:nvSpPr>
          <p:cNvPr id="356" name="Google Shape;356;p62"/>
          <p:cNvSpPr txBox="1">
            <a:spLocks noGrp="1"/>
          </p:cNvSpPr>
          <p:nvPr>
            <p:ph type="body" idx="1"/>
          </p:nvPr>
        </p:nvSpPr>
        <p:spPr>
          <a:xfrm>
            <a:off x="640867" y="1739833"/>
            <a:ext cx="58324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function build_KDTree(points, depth = 0):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if points is empty: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return None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axis = depth mod d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sort points by axis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median = len(points) // 2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return Node(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point = points[median],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left = build_KDTree(points[0:median], depth + 1),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right = build_KDTree(points[median+1:], depth + 1)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function kNN_KDTree(query q, root, k):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initialize priority_queue pq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recursive_search(root, q, k, pq)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return top-k from pq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b="1">
                <a:solidFill>
                  <a:schemeClr val="dk1"/>
                </a:solidFill>
                <a:ea typeface="Comic Sans MS"/>
                <a:sym typeface="Comic Sans MS"/>
              </a:rPr>
              <a:t>Efficient in low dimensions (&lt;30)</a:t>
            </a: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b="1">
                <a:solidFill>
                  <a:schemeClr val="dk1"/>
                </a:solidFill>
                <a:ea typeface="Comic Sans MS"/>
                <a:sym typeface="Comic Sans MS"/>
              </a:rPr>
              <a:t>Nodes are recursively split by axis</a:t>
            </a: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357" name="Google Shape;357;p62"/>
          <p:cNvSpPr txBox="1"/>
          <p:nvPr/>
        </p:nvSpPr>
        <p:spPr>
          <a:xfrm>
            <a:off x="5915267" y="610077"/>
            <a:ext cx="5454800" cy="625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1600"/>
              </a:spcBef>
            </a:pPr>
            <a:r>
              <a:rPr lang="en-GB" dirty="0" err="1">
                <a:solidFill>
                  <a:schemeClr val="dk1"/>
                </a:solidFill>
              </a:rPr>
              <a:t>KD</a:t>
            </a:r>
            <a:r>
              <a:rPr lang="en-GB" dirty="0">
                <a:solidFill>
                  <a:schemeClr val="dk1"/>
                </a:solidFill>
              </a:rPr>
              <a:t>-Tree organizes data points in a binary tree to speed up nearest neighbor searches, especially when the number of features (dimensions) is low (typically less than 30).</a:t>
            </a:r>
            <a:endParaRPr dirty="0">
              <a:solidFill>
                <a:schemeClr val="dk1"/>
              </a:solidFill>
            </a:endParaRPr>
          </a:p>
          <a:p>
            <a:pPr>
              <a:spcBef>
                <a:spcPts val="1600"/>
              </a:spcBef>
            </a:pPr>
            <a:r>
              <a:rPr lang="en-GB" b="1" dirty="0">
                <a:solidFill>
                  <a:schemeClr val="dk1"/>
                </a:solidFill>
              </a:rPr>
              <a:t>How it works:</a:t>
            </a:r>
            <a:endParaRPr b="1" dirty="0">
              <a:solidFill>
                <a:schemeClr val="dk1"/>
              </a:solidFill>
            </a:endParaRPr>
          </a:p>
          <a:p>
            <a:pPr marL="609585" indent="-397923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The data is split recursively by choosing a dimension (axis) to split on at each tree level.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Points are sorted by that axis, and the median point becomes the current node.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Left subtree contains points smaller than the median, right subtree contains points greater.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For searching, the tree is traversed recursively to find nearest neighbors efficiently by pruning large parts of the search space.</a:t>
            </a:r>
            <a:endParaRPr dirty="0">
              <a:solidFill>
                <a:schemeClr val="dk1"/>
              </a:solidFill>
            </a:endParaRPr>
          </a:p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n-GB" b="1" dirty="0">
                <a:solidFill>
                  <a:schemeClr val="dk1"/>
                </a:solidFill>
              </a:rPr>
              <a:t>Time complexity:</a:t>
            </a:r>
            <a:br>
              <a:rPr lang="en-GB" b="1" dirty="0">
                <a:solidFill>
                  <a:schemeClr val="dk1"/>
                </a:solidFill>
              </a:rPr>
            </a:br>
            <a:r>
              <a:rPr lang="en-GB" dirty="0">
                <a:solidFill>
                  <a:schemeClr val="dk1"/>
                </a:solidFill>
              </a:rPr>
              <a:t> On average, the search takes about </a:t>
            </a:r>
            <a:r>
              <a:rPr lang="en-GB" b="1" dirty="0">
                <a:solidFill>
                  <a:schemeClr val="dk1"/>
                </a:solidFill>
              </a:rPr>
              <a:t>O(log n)</a:t>
            </a:r>
            <a:r>
              <a:rPr lang="en-GB" dirty="0">
                <a:solidFill>
                  <a:schemeClr val="dk1"/>
                </a:solidFill>
              </a:rPr>
              <a:t> time, making it much faster than brute force for low-dimensional data.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3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Distributed Indexing Structures</a:t>
            </a:r>
            <a:endParaRPr b="1"/>
          </a:p>
        </p:txBody>
      </p:sp>
      <p:sp>
        <p:nvSpPr>
          <p:cNvPr id="363" name="Google Shape;363;p63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024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867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Brute-Force MapReduce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Distributed brute-force where dataset is partitioned across nodes.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Each node computes distances to local data points.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Results are aggregated and top-k selected.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Scales well but at the cost of high computation and communication.</a:t>
            </a:r>
            <a:endParaRPr dirty="0">
              <a:solidFill>
                <a:schemeClr val="dk1"/>
              </a:solidFill>
            </a:endParaRPr>
          </a:p>
          <a:p>
            <a:pPr marL="0" indent="0" algn="l" rtl="0">
              <a:lnSpc>
                <a:spcPct val="150000"/>
              </a:lnSpc>
              <a:spcBef>
                <a:spcPts val="1867"/>
              </a:spcBef>
              <a:spcAft>
                <a:spcPts val="533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4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Basic Brute-Force k-NN (Single Machine)</a:t>
            </a:r>
            <a:endParaRPr b="1"/>
          </a:p>
        </p:txBody>
      </p:sp>
      <p:sp>
        <p:nvSpPr>
          <p:cNvPr id="369" name="Google Shape;369;p64"/>
          <p:cNvSpPr txBox="1">
            <a:spLocks noGrp="1"/>
          </p:cNvSpPr>
          <p:nvPr>
            <p:ph type="body" idx="1"/>
          </p:nvPr>
        </p:nvSpPr>
        <p:spPr>
          <a:xfrm>
            <a:off x="234867" y="1739833"/>
            <a:ext cx="5147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Clr>
                <a:schemeClr val="dk1"/>
              </a:buClr>
              <a:buSzPts val="1100"/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function kNN_BruteForce(query_point q, dataset D, k):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Clr>
                <a:schemeClr val="dk1"/>
              </a:buClr>
              <a:buSzPts val="1100"/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distances = []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Clr>
                <a:schemeClr val="dk1"/>
              </a:buClr>
              <a:buSzPts val="1100"/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each data_point x in D: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Clr>
                <a:schemeClr val="dk1"/>
              </a:buClr>
              <a:buSzPts val="1100"/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dist = compute_distance(q, x)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Clr>
                <a:schemeClr val="dk1"/>
              </a:buClr>
              <a:buSzPts val="1100"/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distances.append((dist, x))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Clr>
                <a:schemeClr val="dk1"/>
              </a:buClr>
              <a:buSzPts val="1100"/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sort distances by dist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return top-k elements from distances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Clr>
                <a:schemeClr val="dk1"/>
              </a:buClr>
              <a:buSzPts val="1100"/>
              <a:buNone/>
            </a:pPr>
            <a:r>
              <a:rPr lang="en-GB" sz="1467" b="1">
                <a:solidFill>
                  <a:schemeClr val="dk1"/>
                </a:solidFill>
                <a:ea typeface="Comic Sans MS"/>
                <a:sym typeface="Comic Sans MS"/>
              </a:rPr>
              <a:t>Time Complexity: O(n·d)</a:t>
            </a: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370" name="Google Shape;370;p64"/>
          <p:cNvSpPr txBox="1"/>
          <p:nvPr/>
        </p:nvSpPr>
        <p:spPr>
          <a:xfrm>
            <a:off x="5516067" y="1356967"/>
            <a:ext cx="6097200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br>
              <a:rPr lang="en-GB" sz="1600" b="1" dirty="0">
                <a:solidFill>
                  <a:schemeClr val="dk1"/>
                </a:solidFill>
              </a:rPr>
            </a:br>
            <a:r>
              <a:rPr lang="en-GB" sz="1600" dirty="0">
                <a:solidFill>
                  <a:schemeClr val="dk1"/>
                </a:solidFill>
              </a:rPr>
              <a:t> This method finds the </a:t>
            </a:r>
            <a:r>
              <a:rPr lang="en-GB" sz="1600" i="1" dirty="0">
                <a:solidFill>
                  <a:schemeClr val="dk1"/>
                </a:solidFill>
              </a:rPr>
              <a:t>k</a:t>
            </a:r>
            <a:r>
              <a:rPr lang="en-GB" sz="1600" dirty="0">
                <a:solidFill>
                  <a:schemeClr val="dk1"/>
                </a:solidFill>
              </a:rPr>
              <a:t> nearest neighbors to a query point by comparing it with every point in the dataset.</a:t>
            </a:r>
            <a:br>
              <a:rPr lang="en-GB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r>
              <a:rPr lang="en-GB" sz="1600" b="1" dirty="0">
                <a:solidFill>
                  <a:schemeClr val="dk1"/>
                </a:solidFill>
              </a:rPr>
              <a:t>How it works:</a:t>
            </a:r>
            <a:endParaRPr sz="1600" b="1" dirty="0">
              <a:solidFill>
                <a:schemeClr val="dk1"/>
              </a:solidFill>
            </a:endParaRPr>
          </a:p>
          <a:p>
            <a:pPr marL="609585" indent="-397923">
              <a:spcBef>
                <a:spcPts val="1600"/>
              </a:spcBef>
              <a:buClr>
                <a:schemeClr val="dk1"/>
              </a:buClr>
              <a:buSzPts val="1100"/>
              <a:buAutoNum type="arabicPeriod"/>
            </a:pPr>
            <a:r>
              <a:rPr lang="en-GB" sz="1600" dirty="0">
                <a:solidFill>
                  <a:schemeClr val="dk1"/>
                </a:solidFill>
              </a:rPr>
              <a:t>For each point in the dataset, calculate the distance to the query point (using a distance metric like Euclidean distance).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AutoNum type="arabicPeriod"/>
            </a:pPr>
            <a:r>
              <a:rPr lang="en-GB" sz="1600" dirty="0">
                <a:solidFill>
                  <a:schemeClr val="dk1"/>
                </a:solidFill>
              </a:rPr>
              <a:t>Store all these distances along with the corresponding data points.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AutoNum type="arabicPeriod"/>
            </a:pPr>
            <a:r>
              <a:rPr lang="en-GB" sz="1600" dirty="0">
                <a:solidFill>
                  <a:schemeClr val="dk1"/>
                </a:solidFill>
              </a:rPr>
              <a:t>Sort the list of distances from smallest to largest.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AutoNum type="arabicPeriod"/>
            </a:pPr>
            <a:r>
              <a:rPr lang="en-GB" sz="1600" dirty="0">
                <a:solidFill>
                  <a:schemeClr val="dk1"/>
                </a:solidFill>
              </a:rPr>
              <a:t>Return the top </a:t>
            </a:r>
            <a:r>
              <a:rPr lang="en-GB" sz="1600" i="1" dirty="0">
                <a:solidFill>
                  <a:schemeClr val="dk1"/>
                </a:solidFill>
              </a:rPr>
              <a:t>k</a:t>
            </a:r>
            <a:r>
              <a:rPr lang="en-GB" sz="1600" dirty="0">
                <a:solidFill>
                  <a:schemeClr val="dk1"/>
                </a:solidFill>
              </a:rPr>
              <a:t> points with the smallest distances as the nearest neighbors.</a:t>
            </a:r>
            <a:endParaRPr sz="1600" dirty="0">
              <a:solidFill>
                <a:schemeClr val="dk1"/>
              </a:solidFill>
            </a:endParaRPr>
          </a:p>
          <a:p>
            <a:pPr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Time complexity:</a:t>
            </a:r>
            <a:br>
              <a:rPr lang="en-GB" sz="1600" b="1" dirty="0">
                <a:solidFill>
                  <a:schemeClr val="dk1"/>
                </a:solidFill>
              </a:rPr>
            </a:br>
            <a:r>
              <a:rPr lang="en-GB" sz="1600" dirty="0">
                <a:solidFill>
                  <a:schemeClr val="dk1"/>
                </a:solidFill>
              </a:rPr>
              <a:t> Since it calculates the distance between the query and </a:t>
            </a:r>
            <a:r>
              <a:rPr lang="en-GB" sz="1600" i="1" dirty="0">
                <a:solidFill>
                  <a:schemeClr val="dk1"/>
                </a:solidFill>
              </a:rPr>
              <a:t>all</a:t>
            </a:r>
            <a:r>
              <a:rPr lang="en-GB" sz="1600" dirty="0">
                <a:solidFill>
                  <a:schemeClr val="dk1"/>
                </a:solidFill>
              </a:rPr>
              <a:t> points, and each distance computation involves all features (dimensions), the time complexity is </a:t>
            </a:r>
            <a:r>
              <a:rPr lang="en-GB" sz="1600" b="1" dirty="0">
                <a:solidFill>
                  <a:schemeClr val="dk1"/>
                </a:solidFill>
              </a:rPr>
              <a:t>O(</a:t>
            </a:r>
            <a:r>
              <a:rPr lang="en-GB" sz="1600" b="1" dirty="0" err="1">
                <a:solidFill>
                  <a:schemeClr val="dk1"/>
                </a:solidFill>
              </a:rPr>
              <a:t>n·d</a:t>
            </a:r>
            <a:r>
              <a:rPr lang="en-GB" sz="1600" b="1" dirty="0">
                <a:solidFill>
                  <a:schemeClr val="dk1"/>
                </a:solidFill>
              </a:rPr>
              <a:t>)</a:t>
            </a:r>
            <a:r>
              <a:rPr lang="en-GB" sz="1600" dirty="0">
                <a:solidFill>
                  <a:schemeClr val="dk1"/>
                </a:solidFill>
              </a:rPr>
              <a:t>, where: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spcBef>
                <a:spcPts val="1600"/>
              </a:spcBef>
              <a:buClr>
                <a:schemeClr val="dk1"/>
              </a:buClr>
              <a:buSzPts val="1100"/>
              <a:buChar char="●"/>
            </a:pPr>
            <a:r>
              <a:rPr lang="en-GB" sz="1600" i="1" dirty="0">
                <a:solidFill>
                  <a:schemeClr val="dk1"/>
                </a:solidFill>
              </a:rPr>
              <a:t>n</a:t>
            </a:r>
            <a:r>
              <a:rPr lang="en-GB" sz="1600" dirty="0">
                <a:solidFill>
                  <a:schemeClr val="dk1"/>
                </a:solidFill>
              </a:rPr>
              <a:t> = number of points in the dataset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●"/>
            </a:pPr>
            <a:r>
              <a:rPr lang="en-GB" sz="1600" i="1" dirty="0">
                <a:solidFill>
                  <a:schemeClr val="dk1"/>
                </a:solidFill>
              </a:rPr>
              <a:t>d</a:t>
            </a:r>
            <a:r>
              <a:rPr lang="en-GB" sz="1600" dirty="0">
                <a:solidFill>
                  <a:schemeClr val="dk1"/>
                </a:solidFill>
              </a:rPr>
              <a:t> = number of features (dimensions)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5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MapReduce-Style Brute-Force k-NN (Distributed)</a:t>
            </a:r>
            <a:endParaRPr b="1"/>
          </a:p>
        </p:txBody>
      </p:sp>
      <p:sp>
        <p:nvSpPr>
          <p:cNvPr id="376" name="Google Shape;376;p65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4867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Map Function (each mapper):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each query point q in Q: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for each local data point x in D_local: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dist = compute_distance(q, x)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emit (q.id, (dist, x.id))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Reduce Function (for each q.id):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collect all (dist, x.id) for the given q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sort distances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return top-k (x.id, dist)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b="1">
                <a:solidFill>
                  <a:schemeClr val="dk1"/>
                </a:solidFill>
                <a:ea typeface="Comic Sans MS"/>
                <a:sym typeface="Comic Sans MS"/>
              </a:rPr>
              <a:t>Suitable for massive datasets in Hadoop/Spark</a:t>
            </a: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b="1">
                <a:solidFill>
                  <a:schemeClr val="dk1"/>
                </a:solidFill>
                <a:ea typeface="Comic Sans MS"/>
                <a:sym typeface="Comic Sans MS"/>
              </a:rPr>
              <a:t>Inefficient but easy to scale</a:t>
            </a: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377" name="Google Shape;377;p65"/>
          <p:cNvSpPr txBox="1"/>
          <p:nvPr/>
        </p:nvSpPr>
        <p:spPr>
          <a:xfrm>
            <a:off x="6096000" y="1772633"/>
            <a:ext cx="5152400" cy="468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dirty="0">
                <a:solidFill>
                  <a:schemeClr val="dk1"/>
                </a:solidFill>
              </a:rPr>
              <a:t>This method distributes the brute-force k-NN search across multiple machines (nodes) to handle very large datasets.</a:t>
            </a:r>
            <a:endParaRPr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b="1" dirty="0">
                <a:solidFill>
                  <a:schemeClr val="dk1"/>
                </a:solidFill>
              </a:rPr>
              <a:t>How it works:</a:t>
            </a:r>
            <a:endParaRPr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The dataset is split across many nodes (each has its local data).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Each node (mapper) computes the distance from each query point to its local data points and emits these distances.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The reducer gathers all distances for each query from all nodes, sorts them, and selects the top-k nearest neighbors.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6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Distributed k-NN with LSH + MapReduce</a:t>
            </a:r>
            <a:endParaRPr b="1"/>
          </a:p>
        </p:txBody>
      </p:sp>
      <p:sp>
        <p:nvSpPr>
          <p:cNvPr id="383" name="Google Shape;383;p66"/>
          <p:cNvSpPr txBox="1">
            <a:spLocks noGrp="1"/>
          </p:cNvSpPr>
          <p:nvPr>
            <p:ph type="body" idx="1"/>
          </p:nvPr>
        </p:nvSpPr>
        <p:spPr>
          <a:xfrm>
            <a:off x="766033" y="1536633"/>
            <a:ext cx="61864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Preprocessing: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each data point x in D: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compute LSH hash h(x) and store in hash_table[h(x)] on respective node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Map Phase (query broadcast):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each query q: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hq = compute LSH hash of q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emit (hq, q) → goes to node where matching bucket resides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Reduce Phase: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each (hq, [q₁, q₂, ...]):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for each qᵢ: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candidate_set = hash_table[hq]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result = kNN_BruteForce(qᵢ, candidate_set, k)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emit (qᵢ.id, result)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 b="1">
                <a:solidFill>
                  <a:schemeClr val="dk1"/>
                </a:solidFill>
                <a:ea typeface="Comic Sans MS"/>
                <a:sym typeface="Comic Sans MS"/>
              </a:rPr>
              <a:t>Optimized for speed, suitable for big data platforms</a:t>
            </a:r>
            <a:endParaRPr sz="1467" b="1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384" name="Google Shape;384;p66"/>
          <p:cNvSpPr txBox="1"/>
          <p:nvPr/>
        </p:nvSpPr>
        <p:spPr>
          <a:xfrm>
            <a:off x="6970700" y="1531167"/>
            <a:ext cx="4976400" cy="5109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600" dirty="0">
                <a:solidFill>
                  <a:schemeClr val="dk1"/>
                </a:solidFill>
              </a:rPr>
              <a:t>This method combines Locality-Sensitive Hashing (</a:t>
            </a:r>
            <a:r>
              <a:rPr lang="en-GB" sz="1600" dirty="0" err="1">
                <a:solidFill>
                  <a:schemeClr val="dk1"/>
                </a:solidFill>
              </a:rPr>
              <a:t>LSH</a:t>
            </a:r>
            <a:r>
              <a:rPr lang="en-GB" sz="1600" dirty="0">
                <a:solidFill>
                  <a:schemeClr val="dk1"/>
                </a:solidFill>
              </a:rPr>
              <a:t>) with MapReduce to speed up approximate nearest neighbor search on very large datasets distributed across many nodes.</a:t>
            </a:r>
            <a:endParaRPr sz="16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How it works:</a:t>
            </a:r>
            <a:endParaRPr sz="1600"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600" b="1" dirty="0">
                <a:solidFill>
                  <a:schemeClr val="dk1"/>
                </a:solidFill>
              </a:rPr>
              <a:t>Preprocessing:</a:t>
            </a:r>
            <a:r>
              <a:rPr lang="en-GB" sz="1600" dirty="0">
                <a:solidFill>
                  <a:schemeClr val="dk1"/>
                </a:solidFill>
              </a:rPr>
              <a:t> Each data point is hashed using </a:t>
            </a:r>
            <a:r>
              <a:rPr lang="en-GB" sz="1600" dirty="0" err="1">
                <a:solidFill>
                  <a:schemeClr val="dk1"/>
                </a:solidFill>
              </a:rPr>
              <a:t>LSH</a:t>
            </a:r>
            <a:r>
              <a:rPr lang="en-GB" sz="1600" dirty="0">
                <a:solidFill>
                  <a:schemeClr val="dk1"/>
                </a:solidFill>
              </a:rPr>
              <a:t> and stored in buckets on different nodes based on the hash value.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b="1" dirty="0">
                <a:solidFill>
                  <a:schemeClr val="dk1"/>
                </a:solidFill>
              </a:rPr>
              <a:t>Map phase:</a:t>
            </a:r>
            <a:r>
              <a:rPr lang="en-GB" sz="1600" dirty="0">
                <a:solidFill>
                  <a:schemeClr val="dk1"/>
                </a:solidFill>
              </a:rPr>
              <a:t> For each query, compute its </a:t>
            </a:r>
            <a:r>
              <a:rPr lang="en-GB" sz="1600" dirty="0" err="1">
                <a:solidFill>
                  <a:schemeClr val="dk1"/>
                </a:solidFill>
              </a:rPr>
              <a:t>LSH</a:t>
            </a:r>
            <a:r>
              <a:rPr lang="en-GB" sz="1600" dirty="0">
                <a:solidFill>
                  <a:schemeClr val="dk1"/>
                </a:solidFill>
              </a:rPr>
              <a:t> hash and send the query to the node containing the matching bucket.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b="1" dirty="0">
                <a:solidFill>
                  <a:schemeClr val="dk1"/>
                </a:solidFill>
              </a:rPr>
              <a:t>Reduce phase:</a:t>
            </a:r>
            <a:r>
              <a:rPr lang="en-GB" sz="1600" dirty="0">
                <a:solidFill>
                  <a:schemeClr val="dk1"/>
                </a:solidFill>
              </a:rPr>
              <a:t> For each query on that node, compare it only with data points in the same bucket using brute-force search, returning the approximate nearest neighbors.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7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Trade-offs: Accuracy vs. Latency</a:t>
            </a:r>
            <a:endParaRPr b="1"/>
          </a:p>
        </p:txBody>
      </p:sp>
      <p:sp>
        <p:nvSpPr>
          <p:cNvPr id="390" name="Google Shape;390;p67"/>
          <p:cNvSpPr txBox="1">
            <a:spLocks noGrp="1"/>
          </p:cNvSpPr>
          <p:nvPr>
            <p:ph type="body" idx="1"/>
          </p:nvPr>
        </p:nvSpPr>
        <p:spPr>
          <a:xfrm>
            <a:off x="640867" y="4497167"/>
            <a:ext cx="10342300" cy="1966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Brute-force:</a:t>
            </a:r>
            <a:r>
              <a:rPr lang="en-GB" sz="1800" dirty="0">
                <a:solidFill>
                  <a:schemeClr val="dk1"/>
                </a:solidFill>
              </a:rPr>
              <a:t> Accurate but computationally expensive.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 err="1">
                <a:solidFill>
                  <a:schemeClr val="dk1"/>
                </a:solidFill>
              </a:rPr>
              <a:t>KD</a:t>
            </a:r>
            <a:r>
              <a:rPr lang="en-GB" sz="1800" b="1" dirty="0">
                <a:solidFill>
                  <a:schemeClr val="dk1"/>
                </a:solidFill>
              </a:rPr>
              <a:t>/Ball Trees:</a:t>
            </a:r>
            <a:r>
              <a:rPr lang="en-GB" sz="1800" dirty="0">
                <a:solidFill>
                  <a:schemeClr val="dk1"/>
                </a:solidFill>
              </a:rPr>
              <a:t> Fast for low dimensions but degrade with dimensionality.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 err="1">
                <a:solidFill>
                  <a:schemeClr val="dk1"/>
                </a:solidFill>
              </a:rPr>
              <a:t>LSH</a:t>
            </a:r>
            <a:r>
              <a:rPr lang="en-GB" sz="1800" b="1" dirty="0">
                <a:solidFill>
                  <a:schemeClr val="dk1"/>
                </a:solidFill>
              </a:rPr>
              <a:t>:</a:t>
            </a:r>
            <a:r>
              <a:rPr lang="en-GB" sz="1800" dirty="0">
                <a:solidFill>
                  <a:schemeClr val="dk1"/>
                </a:solidFill>
              </a:rPr>
              <a:t> Sacrifices some accuracy for speed and scalability; good for very high-dimensional data.</a:t>
            </a:r>
            <a:endParaRPr sz="1800" b="1" dirty="0">
              <a:solidFill>
                <a:schemeClr val="dk1"/>
              </a:solidFill>
            </a:endParaRPr>
          </a:p>
        </p:txBody>
      </p:sp>
      <p:graphicFrame>
        <p:nvGraphicFramePr>
          <p:cNvPr id="391" name="Google Shape;391;p67"/>
          <p:cNvGraphicFramePr/>
          <p:nvPr>
            <p:extLst>
              <p:ext uri="{D42A27DB-BD31-4B8C-83A1-F6EECF244321}">
                <p14:modId xmlns:p14="http://schemas.microsoft.com/office/powerpoint/2010/main" val="1219474357"/>
              </p:ext>
            </p:extLst>
          </p:nvPr>
        </p:nvGraphicFramePr>
        <p:xfrm>
          <a:off x="1341967" y="1758167"/>
          <a:ext cx="9223767" cy="2739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61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9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 dirty="0"/>
                        <a:t>Aspect</a:t>
                      </a:r>
                      <a:endParaRPr sz="15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Brute-Force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KD/Ball Trees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LSH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Accuracy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Exact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Exact (low-d)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Approximate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Latency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High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Low (low-d)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Very Low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Scalability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Good (with clusters)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Limited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Excellent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Dimensionality Suitability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Any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Low to moderate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High</a:t>
                      </a:r>
                      <a:endParaRPr sz="15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9BA8B-05DA-B405-2BFD-79E56D5D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27914D1-80E4-9F23-96FF-EBE370963C3C}"/>
              </a:ext>
            </a:extLst>
          </p:cNvPr>
          <p:cNvGrpSpPr/>
          <p:nvPr/>
        </p:nvGrpSpPr>
        <p:grpSpPr>
          <a:xfrm>
            <a:off x="-3175" y="0"/>
            <a:ext cx="12198350" cy="6861175"/>
            <a:chOff x="-3175" y="0"/>
            <a:chExt cx="12198350" cy="686117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960FCB5-6349-76A6-65C5-36D437C1242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C0F8152-53B4-E52D-80F9-2C32BE82067D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12192000" y="0"/>
                  </a:moveTo>
                  <a:lnTo>
                    <a:pt x="0" y="0"/>
                  </a:lnTo>
                  <a:lnTo>
                    <a:pt x="0" y="2577083"/>
                  </a:lnTo>
                  <a:lnTo>
                    <a:pt x="12192000" y="257708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E68B35B-0ABD-DA48-DD49-05B8EB56D69E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0" y="2577083"/>
                  </a:moveTo>
                  <a:lnTo>
                    <a:pt x="12192000" y="257708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77083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A272B7D-907C-0B35-9291-FEB3AA01616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00" y="0"/>
              <a:ext cx="2924555" cy="691896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FD30574-DFBA-F932-4E3A-2E78EFC842B2}"/>
                </a:ext>
              </a:extLst>
            </p:cNvPr>
            <p:cNvSpPr/>
            <p:nvPr/>
          </p:nvSpPr>
          <p:spPr>
            <a:xfrm>
              <a:off x="3843528" y="6775703"/>
              <a:ext cx="3862070" cy="76200"/>
            </a:xfrm>
            <a:custGeom>
              <a:avLst/>
              <a:gdLst/>
              <a:ahLst/>
              <a:cxnLst/>
              <a:rect l="l" t="t" r="r" b="b"/>
              <a:pathLst>
                <a:path w="3862070" h="76200">
                  <a:moveTo>
                    <a:pt x="386181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1816" y="76200"/>
                  </a:lnTo>
                  <a:lnTo>
                    <a:pt x="3861816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2D33243-4640-2619-80FD-6C0D83F5F1F1}"/>
                </a:ext>
              </a:extLst>
            </p:cNvPr>
            <p:cNvSpPr/>
            <p:nvPr/>
          </p:nvSpPr>
          <p:spPr>
            <a:xfrm>
              <a:off x="0" y="6775703"/>
              <a:ext cx="3843654" cy="76200"/>
            </a:xfrm>
            <a:custGeom>
              <a:avLst/>
              <a:gdLst/>
              <a:ahLst/>
              <a:cxnLst/>
              <a:rect l="l" t="t" r="r" b="b"/>
              <a:pathLst>
                <a:path w="3843654" h="76200">
                  <a:moveTo>
                    <a:pt x="3843528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43528" y="76200"/>
                  </a:lnTo>
                  <a:lnTo>
                    <a:pt x="3843528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789B7B0A-6E6D-2F72-0795-59C0F158F74E}"/>
                </a:ext>
              </a:extLst>
            </p:cNvPr>
            <p:cNvSpPr/>
            <p:nvPr/>
          </p:nvSpPr>
          <p:spPr>
            <a:xfrm>
              <a:off x="7705343" y="6775703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2" y="76200"/>
                  </a:lnTo>
                  <a:lnTo>
                    <a:pt x="38602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5C826910-E4EE-14FA-EC35-B938FA953AD8}"/>
              </a:ext>
            </a:extLst>
          </p:cNvPr>
          <p:cNvSpPr txBox="1"/>
          <p:nvPr/>
        </p:nvSpPr>
        <p:spPr>
          <a:xfrm>
            <a:off x="10576306" y="730276"/>
            <a:ext cx="1398270" cy="8909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Pil</a:t>
            </a:r>
            <a:r>
              <a:rPr sz="2400" spc="-16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748665">
              <a:lnSpc>
                <a:spcPct val="100000"/>
              </a:lnSpc>
              <a:spcBef>
                <a:spcPts val="7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WILP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7C0ED15-280C-8D1E-5A9A-A6874ECDE7C5}"/>
              </a:ext>
            </a:extLst>
          </p:cNvPr>
          <p:cNvSpPr txBox="1"/>
          <p:nvPr/>
        </p:nvSpPr>
        <p:spPr>
          <a:xfrm>
            <a:off x="485343" y="4262120"/>
            <a:ext cx="6220257" cy="1100301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Gradient Descent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Minibatch vs. synchronous vs. asynchronous SGD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9618C0E-B378-5403-3E24-6A5CFC8C1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5600" y="1730593"/>
            <a:ext cx="54102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2145">
              <a:lnSpc>
                <a:spcPts val="4560"/>
              </a:lnSpc>
              <a:spcBef>
                <a:spcPts val="95"/>
              </a:spcBef>
            </a:pPr>
            <a:r>
              <a:rPr sz="4000" i="1" spc="-35" dirty="0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sz="4000" i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CLZG516</a:t>
            </a:r>
            <a:r>
              <a:rPr sz="4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4560"/>
              </a:lnSpc>
            </a:pPr>
            <a:r>
              <a:rPr sz="4000" i="1" spc="-40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z="4000" i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5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4000" i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0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9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Gradient Descent Overview</a:t>
            </a:r>
            <a:endParaRPr b="1"/>
          </a:p>
        </p:txBody>
      </p:sp>
      <p:sp>
        <p:nvSpPr>
          <p:cNvPr id="402" name="Google Shape;402;p69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653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Gradient Descent (GD):</a:t>
            </a:r>
            <a:r>
              <a:rPr lang="en-GB" sz="1800" dirty="0">
                <a:solidFill>
                  <a:schemeClr val="dk1"/>
                </a:solidFill>
              </a:rPr>
              <a:t> Optimization algorithm to minimize loss functions by iteratively updating parameters in direction of negative gradient.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Update rule:</a:t>
            </a:r>
            <a:br>
              <a:rPr lang="en-GB" sz="1800" dirty="0">
                <a:solidFill>
                  <a:schemeClr val="dk1"/>
                </a:solidFill>
              </a:rPr>
            </a:br>
            <a:r>
              <a:rPr lang="en-GB" sz="1800" dirty="0">
                <a:solidFill>
                  <a:schemeClr val="dk1"/>
                </a:solidFill>
              </a:rPr>
              <a:t> θ ← θ − η ∇</a:t>
            </a:r>
            <a:r>
              <a:rPr lang="en-GB" sz="1800" baseline="-25000" dirty="0">
                <a:solidFill>
                  <a:schemeClr val="dk1"/>
                </a:solidFill>
              </a:rPr>
              <a:t>θ</a:t>
            </a:r>
            <a:r>
              <a:rPr lang="en-GB" sz="1800" dirty="0">
                <a:solidFill>
                  <a:schemeClr val="dk1"/>
                </a:solidFill>
              </a:rPr>
              <a:t> J(θ)</a:t>
            </a:r>
            <a:br>
              <a:rPr lang="en-GB" sz="1800" dirty="0">
                <a:solidFill>
                  <a:schemeClr val="dk1"/>
                </a:solidFill>
              </a:rPr>
            </a:br>
            <a:r>
              <a:rPr lang="en-GB" sz="1800" dirty="0">
                <a:solidFill>
                  <a:schemeClr val="dk1"/>
                </a:solidFill>
              </a:rPr>
              <a:t> where η = learning rate, J(θ) = loss function.</a:t>
            </a:r>
            <a:br>
              <a:rPr lang="en-GB" sz="1800" dirty="0">
                <a:solidFill>
                  <a:schemeClr val="dk1"/>
                </a:solidFill>
              </a:rPr>
            </a:b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0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Types of Gradient Descent</a:t>
            </a:r>
            <a:endParaRPr b="1"/>
          </a:p>
        </p:txBody>
      </p:sp>
      <p:graphicFrame>
        <p:nvGraphicFramePr>
          <p:cNvPr id="408" name="Google Shape;408;p70"/>
          <p:cNvGraphicFramePr/>
          <p:nvPr>
            <p:extLst>
              <p:ext uri="{D42A27DB-BD31-4B8C-83A1-F6EECF244321}">
                <p14:modId xmlns:p14="http://schemas.microsoft.com/office/powerpoint/2010/main" val="3100254562"/>
              </p:ext>
            </p:extLst>
          </p:nvPr>
        </p:nvGraphicFramePr>
        <p:xfrm>
          <a:off x="933633" y="1774500"/>
          <a:ext cx="10076433" cy="391973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0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41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273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Type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 dirty="0"/>
                        <a:t>Description</a:t>
                      </a:r>
                      <a:endParaRPr sz="15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Update Frequency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Pros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Cons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6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Batch GD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Uses the entire dataset for each update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After processing whole dataset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Stable convergence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Slow on large datasets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91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Stochastic GD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Updates parameters after each training example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After each single data point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Faster updates, more noise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Noisy updates, less stable</a:t>
                      </a:r>
                      <a:endParaRPr sz="15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916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Mini-batch GD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Uses a subset (mini-batch) of data per update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After fixed-size mini-batches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Balance between speed &amp; noise</a:t>
                      </a:r>
                      <a:endParaRPr sz="15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/>
                        <a:t>Requires batch size tuning</a:t>
                      </a:r>
                      <a:endParaRPr sz="15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1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Synchronous SGD</a:t>
            </a:r>
            <a:endParaRPr b="1"/>
          </a:p>
        </p:txBody>
      </p:sp>
      <p:sp>
        <p:nvSpPr>
          <p:cNvPr id="414" name="Google Shape;414;p71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653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All workers compute gradients on different batches in parallel, then synchronize and aggregate gradients before updating parameters.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Process: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Each worker computes gradient on its batch.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Gradients are averaged/summed synchronously.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Parameter update is performed once per iteration.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Pros:</a:t>
            </a:r>
            <a:r>
              <a:rPr lang="en-GB" sz="1800" dirty="0">
                <a:solidFill>
                  <a:schemeClr val="dk1"/>
                </a:solidFill>
              </a:rPr>
              <a:t> Consistent updates, easier debugging.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Cons:</a:t>
            </a:r>
            <a:r>
              <a:rPr lang="en-GB" sz="1800" dirty="0">
                <a:solidFill>
                  <a:schemeClr val="dk1"/>
                </a:solidFill>
              </a:rPr>
              <a:t> Bottleneck due to waiting for slowest worker (straggler problem).</a:t>
            </a: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2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Asynchronous SGD</a:t>
            </a:r>
            <a:endParaRPr b="1"/>
          </a:p>
        </p:txBody>
      </p:sp>
      <p:sp>
        <p:nvSpPr>
          <p:cNvPr id="420" name="Google Shape;420;p72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653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Workers compute and update parameters independently without waiting for others.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Process: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Worker computes gradient and immediately applies update to shared parameters.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No synchronization barrier.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Pros:</a:t>
            </a:r>
            <a:r>
              <a:rPr lang="en-GB" sz="1800" dirty="0">
                <a:solidFill>
                  <a:schemeClr val="dk1"/>
                </a:solidFill>
              </a:rPr>
              <a:t> Faster updates, no straggler bottleneck.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Cons:</a:t>
            </a:r>
            <a:r>
              <a:rPr lang="en-GB" sz="1800" dirty="0">
                <a:solidFill>
                  <a:schemeClr val="dk1"/>
                </a:solidFill>
              </a:rPr>
              <a:t> Potential stale gradients causing convergence issues or instability</a:t>
            </a: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3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Mini-batch Gradient Descent</a:t>
            </a:r>
            <a:endParaRPr b="1"/>
          </a:p>
        </p:txBody>
      </p:sp>
      <p:sp>
        <p:nvSpPr>
          <p:cNvPr id="426" name="Google Shape;426;p73"/>
          <p:cNvSpPr txBox="1">
            <a:spLocks noGrp="1"/>
          </p:cNvSpPr>
          <p:nvPr>
            <p:ph type="body" idx="1"/>
          </p:nvPr>
        </p:nvSpPr>
        <p:spPr>
          <a:xfrm>
            <a:off x="640867" y="1531167"/>
            <a:ext cx="5514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for epoch in 1 to max_epochs: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shuffle(dataset)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batch in dataset_batches: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gradient = compute_gradient(batch, theta)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theta = theta - learning_rate * gradient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427" name="Google Shape;427;p73"/>
          <p:cNvSpPr txBox="1"/>
          <p:nvPr/>
        </p:nvSpPr>
        <p:spPr>
          <a:xfrm>
            <a:off x="5881167" y="1531167"/>
            <a:ext cx="4976400" cy="3636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b="1" dirty="0">
                <a:solidFill>
                  <a:schemeClr val="dk1"/>
                </a:solidFill>
              </a:rPr>
              <a:t>Mini-batch Gradient Descent</a:t>
            </a:r>
            <a:r>
              <a:rPr lang="en-GB" dirty="0">
                <a:solidFill>
                  <a:schemeClr val="dk1"/>
                </a:solidFill>
              </a:rPr>
              <a:t> updates the model by using a small random portion (mini-batch) of the data instead of the entire dataset. This makes training faster than using all data at once and more stable than using only one data point at a time.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By processing mini-batches, it balances the speed of learning and smoothness of updates, helping the model to converge efficiently.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4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Synchronous SGD (Distributed)</a:t>
            </a:r>
            <a:endParaRPr b="1"/>
          </a:p>
        </p:txBody>
      </p:sp>
      <p:sp>
        <p:nvSpPr>
          <p:cNvPr id="433" name="Google Shape;433;p74"/>
          <p:cNvSpPr txBox="1">
            <a:spLocks noGrp="1"/>
          </p:cNvSpPr>
          <p:nvPr>
            <p:ph type="body" idx="1"/>
          </p:nvPr>
        </p:nvSpPr>
        <p:spPr>
          <a:xfrm>
            <a:off x="545100" y="1531167"/>
            <a:ext cx="62224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initialize theta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for epoch in 1 to max_epochs: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distribute_batches_among_workers(dataset)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parallel_for each worker: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local_gradient = compute_gradient(worker_batch, theta)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aggregated_gradient = average(local_gradients from all workers)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theta = theta - learning_rate * aggregated_gradient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434" name="Google Shape;434;p74"/>
          <p:cNvSpPr txBox="1"/>
          <p:nvPr/>
        </p:nvSpPr>
        <p:spPr>
          <a:xfrm>
            <a:off x="6869100" y="1531167"/>
            <a:ext cx="4976400" cy="3318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Multiple workers each compute gradients on different parts of the data at the same time.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They then </a:t>
            </a:r>
            <a:r>
              <a:rPr lang="en-GB" b="1" dirty="0">
                <a:solidFill>
                  <a:schemeClr val="dk1"/>
                </a:solidFill>
              </a:rPr>
              <a:t>wait for all workers</a:t>
            </a:r>
            <a:r>
              <a:rPr lang="en-GB" dirty="0">
                <a:solidFill>
                  <a:schemeClr val="dk1"/>
                </a:solidFill>
              </a:rPr>
              <a:t> to finish, average their gradients, and update the model together.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This ensures all workers use the same updated model every step, making training stable but sometimes slower due to waiting.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5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Asynchronous SGD (Distributed)</a:t>
            </a:r>
            <a:endParaRPr b="1"/>
          </a:p>
        </p:txBody>
      </p:sp>
      <p:sp>
        <p:nvSpPr>
          <p:cNvPr id="440" name="Google Shape;440;p75"/>
          <p:cNvSpPr txBox="1">
            <a:spLocks noGrp="1"/>
          </p:cNvSpPr>
          <p:nvPr>
            <p:ph type="body" idx="1"/>
          </p:nvPr>
        </p:nvSpPr>
        <p:spPr>
          <a:xfrm>
            <a:off x="618800" y="1536633"/>
            <a:ext cx="5629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initialize shared theta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parallel_for each worker: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while not converged: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batch = get_next_batch()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gradient = compute_gradient(batch, theta)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lock(theta)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theta = theta - learning_rate * gradient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unlock(theta)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441" name="Google Shape;441;p75"/>
          <p:cNvSpPr txBox="1"/>
          <p:nvPr/>
        </p:nvSpPr>
        <p:spPr>
          <a:xfrm>
            <a:off x="6248000" y="1536634"/>
            <a:ext cx="4976400" cy="236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Workers compute and update the model independently, without waiting for others.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This speeds up training but means some updates might use outdated model values, which can cause less stable or slower convergence.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6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Gradient Descent Variants</a:t>
            </a:r>
            <a:endParaRPr b="1"/>
          </a:p>
        </p:txBody>
      </p:sp>
      <p:graphicFrame>
        <p:nvGraphicFramePr>
          <p:cNvPr id="447" name="Google Shape;447;p76"/>
          <p:cNvGraphicFramePr/>
          <p:nvPr>
            <p:extLst>
              <p:ext uri="{D42A27DB-BD31-4B8C-83A1-F6EECF244321}">
                <p14:modId xmlns:p14="http://schemas.microsoft.com/office/powerpoint/2010/main" val="949517640"/>
              </p:ext>
            </p:extLst>
          </p:nvPr>
        </p:nvGraphicFramePr>
        <p:xfrm>
          <a:off x="838200" y="1600200"/>
          <a:ext cx="9910400" cy="435206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60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577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/>
                        <a:t>Variant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/>
                        <a:t>Update Frequency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/>
                        <a:t>Synchronization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/>
                        <a:t>Pros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/>
                        <a:t>Cons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0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dirty="0"/>
                        <a:t>Mini-batch GD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After each mini-batch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No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Balanced speed &amp; stability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Needs batch size tuning</a:t>
                      </a:r>
                      <a:endParaRPr sz="24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Synchronous SGD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After all workers done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Yes (barrier sync)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Consistent updates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Slow due to stragglers</a:t>
                      </a:r>
                      <a:endParaRPr sz="24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3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Asynchronous SGD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Immediately per worker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No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Fast, scalable</a:t>
                      </a:r>
                      <a:endParaRPr sz="24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dirty="0"/>
                        <a:t>Potential stale gradients</a:t>
                      </a: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7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Mini-batch vs Synchronous vs Asynchronous SGD</a:t>
            </a:r>
            <a:endParaRPr b="1"/>
          </a:p>
        </p:txBody>
      </p:sp>
      <p:graphicFrame>
        <p:nvGraphicFramePr>
          <p:cNvPr id="453" name="Google Shape;453;p77"/>
          <p:cNvGraphicFramePr/>
          <p:nvPr>
            <p:extLst>
              <p:ext uri="{D42A27DB-BD31-4B8C-83A1-F6EECF244321}">
                <p14:modId xmlns:p14="http://schemas.microsoft.com/office/powerpoint/2010/main" val="3702254055"/>
              </p:ext>
            </p:extLst>
          </p:nvPr>
        </p:nvGraphicFramePr>
        <p:xfrm>
          <a:off x="1055367" y="1686367"/>
          <a:ext cx="10035801" cy="434364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87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43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/>
                        <a:t>Aspect</a:t>
                      </a:r>
                      <a:endParaRPr sz="18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/>
                        <a:t>Mini-batch SGD</a:t>
                      </a:r>
                      <a:endParaRPr sz="18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/>
                        <a:t>Synchronous SGD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/>
                        <a:t>Asynchronous SGD</a:t>
                      </a:r>
                      <a:endParaRPr sz="18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Parallelism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Single or multiple batches</a:t>
                      </a:r>
                      <a:endParaRPr sz="18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Parallel workers, synchronized</a:t>
                      </a:r>
                      <a:endParaRPr sz="18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Parallel workers, unsynchronized</a:t>
                      </a:r>
                      <a:endParaRPr sz="18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Update latency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Medium (per mini-batch)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High (wait for all workers)</a:t>
                      </a:r>
                      <a:endParaRPr sz="1800" dirty="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Low (immediate updates)</a:t>
                      </a:r>
                      <a:endParaRPr sz="180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Convergence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Stable, less noisy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More stable (due to sync)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Less stable, potential staleness</a:t>
                      </a:r>
                      <a:endParaRPr sz="18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Scalability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Moderate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Limited by synchronization overhead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Highly scalable</a:t>
                      </a:r>
                      <a:endParaRPr sz="18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Use cases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General training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Small clusters, consistent results</a:t>
                      </a:r>
                      <a:endParaRPr sz="1800"/>
                    </a:p>
                  </a:txBody>
                  <a:tcPr marL="84667" marR="84667" marT="84667" marB="84667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Large clusters, distributed ML</a:t>
                      </a:r>
                      <a:endParaRPr sz="1800" dirty="0"/>
                    </a:p>
                  </a:txBody>
                  <a:tcPr marL="84667" marR="84667" marT="84667" marB="8466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3C2E3-F896-1F47-6902-1E82BF18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BA6D7A0-2544-09F7-5D29-105C7E51D11F}"/>
              </a:ext>
            </a:extLst>
          </p:cNvPr>
          <p:cNvGrpSpPr/>
          <p:nvPr/>
        </p:nvGrpSpPr>
        <p:grpSpPr>
          <a:xfrm>
            <a:off x="-3175" y="0"/>
            <a:ext cx="12198350" cy="6861175"/>
            <a:chOff x="-3175" y="0"/>
            <a:chExt cx="12198350" cy="686117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15966FB-C611-7D40-7305-3471BDE8DCE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D2EDEAD-4A88-D6DF-0369-D543251F972E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12192000" y="0"/>
                  </a:moveTo>
                  <a:lnTo>
                    <a:pt x="0" y="0"/>
                  </a:lnTo>
                  <a:lnTo>
                    <a:pt x="0" y="2577083"/>
                  </a:lnTo>
                  <a:lnTo>
                    <a:pt x="12192000" y="257708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98F0F96-1A4A-CD8D-7CD9-E4CEBD7C45C5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0" y="2577083"/>
                  </a:moveTo>
                  <a:lnTo>
                    <a:pt x="12192000" y="257708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77083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316735E-B674-856A-FAE8-50E4FD787FF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00" y="0"/>
              <a:ext cx="2924555" cy="691896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63405F8-BEAD-FAEB-E116-AE7D715C8EBB}"/>
                </a:ext>
              </a:extLst>
            </p:cNvPr>
            <p:cNvSpPr/>
            <p:nvPr/>
          </p:nvSpPr>
          <p:spPr>
            <a:xfrm>
              <a:off x="3843528" y="6775703"/>
              <a:ext cx="3862070" cy="76200"/>
            </a:xfrm>
            <a:custGeom>
              <a:avLst/>
              <a:gdLst/>
              <a:ahLst/>
              <a:cxnLst/>
              <a:rect l="l" t="t" r="r" b="b"/>
              <a:pathLst>
                <a:path w="3862070" h="76200">
                  <a:moveTo>
                    <a:pt x="386181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1816" y="76200"/>
                  </a:lnTo>
                  <a:lnTo>
                    <a:pt x="3861816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A6E5D2E8-200D-28AE-361A-490403B750C5}"/>
                </a:ext>
              </a:extLst>
            </p:cNvPr>
            <p:cNvSpPr/>
            <p:nvPr/>
          </p:nvSpPr>
          <p:spPr>
            <a:xfrm>
              <a:off x="0" y="6775703"/>
              <a:ext cx="3843654" cy="76200"/>
            </a:xfrm>
            <a:custGeom>
              <a:avLst/>
              <a:gdLst/>
              <a:ahLst/>
              <a:cxnLst/>
              <a:rect l="l" t="t" r="r" b="b"/>
              <a:pathLst>
                <a:path w="3843654" h="76200">
                  <a:moveTo>
                    <a:pt x="3843528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43528" y="76200"/>
                  </a:lnTo>
                  <a:lnTo>
                    <a:pt x="3843528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71B15BD9-023D-3EEF-318E-9D0AE3DA2AEA}"/>
                </a:ext>
              </a:extLst>
            </p:cNvPr>
            <p:cNvSpPr/>
            <p:nvPr/>
          </p:nvSpPr>
          <p:spPr>
            <a:xfrm>
              <a:off x="7705343" y="6775703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2" y="76200"/>
                  </a:lnTo>
                  <a:lnTo>
                    <a:pt x="38602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C4BF7DB7-6104-8264-C6FB-06300F446F98}"/>
              </a:ext>
            </a:extLst>
          </p:cNvPr>
          <p:cNvSpPr txBox="1"/>
          <p:nvPr/>
        </p:nvSpPr>
        <p:spPr>
          <a:xfrm>
            <a:off x="10576306" y="730276"/>
            <a:ext cx="1398270" cy="8909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Pil</a:t>
            </a:r>
            <a:r>
              <a:rPr sz="2400" spc="-16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748665">
              <a:lnSpc>
                <a:spcPct val="100000"/>
              </a:lnSpc>
              <a:spcBef>
                <a:spcPts val="7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WILP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0DEB253-9EE6-752B-8B7C-64CFBAFDD7EE}"/>
              </a:ext>
            </a:extLst>
          </p:cNvPr>
          <p:cNvSpPr txBox="1"/>
          <p:nvPr/>
        </p:nvSpPr>
        <p:spPr>
          <a:xfrm>
            <a:off x="485343" y="4262120"/>
            <a:ext cx="10792257" cy="2198038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k-Means Clustering 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Lloyd’s algorithm in MapReduce (each worker computes local centroids)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Mini-batch k-means &amp; streaming variants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Convergence criteria and communication reduction (compressing updates)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F99DF57-852A-1BBF-CCB2-8EE7E38AF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5600" y="1730593"/>
            <a:ext cx="54102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2145">
              <a:lnSpc>
                <a:spcPts val="4560"/>
              </a:lnSpc>
              <a:spcBef>
                <a:spcPts val="95"/>
              </a:spcBef>
            </a:pPr>
            <a:r>
              <a:rPr sz="4000" i="1" spc="-35" dirty="0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sz="4000" i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CLZG516</a:t>
            </a:r>
            <a:r>
              <a:rPr sz="4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4560"/>
              </a:lnSpc>
            </a:pPr>
            <a:r>
              <a:rPr sz="4000" i="1" spc="-40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z="4000" i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5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4000" i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6688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9"/>
          <p:cNvSpPr txBox="1">
            <a:spLocks noGrp="1"/>
          </p:cNvSpPr>
          <p:nvPr>
            <p:ph type="title"/>
          </p:nvPr>
        </p:nvSpPr>
        <p:spPr>
          <a:xfrm>
            <a:off x="640867" y="491933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Lloyd’s Algorithm in MapReduce</a:t>
            </a:r>
            <a:endParaRPr b="1"/>
          </a:p>
        </p:txBody>
      </p:sp>
      <p:sp>
        <p:nvSpPr>
          <p:cNvPr id="464" name="Google Shape;464;p79"/>
          <p:cNvSpPr txBox="1">
            <a:spLocks noGrp="1"/>
          </p:cNvSpPr>
          <p:nvPr>
            <p:ph type="body" idx="1"/>
          </p:nvPr>
        </p:nvSpPr>
        <p:spPr>
          <a:xfrm>
            <a:off x="473433" y="1455767"/>
            <a:ext cx="11849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Overview: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Lloyd’s algorithm is the standard iterative method for k-Means clustering.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It alternates between assigning points to the nearest cluster centroid and recalculating centroids.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MapReduce adaptation: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Map phase:</a:t>
            </a:r>
            <a:endParaRPr b="1"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Dataset is divided among multiple worker nodes.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Each worker assigns local data points to the closest </a:t>
            </a:r>
            <a:r>
              <a:rPr lang="en-GB" dirty="0" err="1">
                <a:solidFill>
                  <a:schemeClr val="dk1"/>
                </a:solidFill>
              </a:rPr>
              <a:t>centroid,Computes</a:t>
            </a:r>
            <a:r>
              <a:rPr lang="en-GB" dirty="0">
                <a:solidFill>
                  <a:schemeClr val="dk1"/>
                </a:solidFill>
              </a:rPr>
              <a:t> partial sums of points and counts per cluster.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Reduce phase:</a:t>
            </a:r>
            <a:endParaRPr b="1"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Aggregates partial sums and counts from all workers.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Calculates new global centroids by dividing summed points by counts.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Benefits: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Efficient parallel processing of large </a:t>
            </a:r>
            <a:r>
              <a:rPr lang="en-GB" dirty="0" err="1">
                <a:solidFill>
                  <a:schemeClr val="dk1"/>
                </a:solidFill>
              </a:rPr>
              <a:t>datasets,Scales</a:t>
            </a:r>
            <a:r>
              <a:rPr lang="en-GB" dirty="0">
                <a:solidFill>
                  <a:schemeClr val="dk1"/>
                </a:solidFill>
              </a:rPr>
              <a:t> well with increasing data size by distributing workload.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Challenges: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Requires synchronization after each iteration to aggregate centroids.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Communication overhead can increase with the number of clusters and workers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0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Lloyd’s Algorithm in MapReduce (Distributed k-Means)</a:t>
            </a:r>
            <a:endParaRPr b="1"/>
          </a:p>
        </p:txBody>
      </p:sp>
      <p:sp>
        <p:nvSpPr>
          <p:cNvPr id="470" name="Google Shape;470;p80"/>
          <p:cNvSpPr txBox="1">
            <a:spLocks noGrp="1"/>
          </p:cNvSpPr>
          <p:nvPr>
            <p:ph type="body" idx="1"/>
          </p:nvPr>
        </p:nvSpPr>
        <p:spPr>
          <a:xfrm>
            <a:off x="415600" y="1943033"/>
            <a:ext cx="5629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initialize centroids randomly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repeat until convergence: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Map Phase (each worker):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for each data point x in local partition: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find nearest centroid c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emit (c.id, (x, 1))   # send data point and count 1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Reduce Phase (master node):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for each centroid id c: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sum all points assigned to c -&gt; sum_points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sum all counts -&gt; total_count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new_centroid = sum_points / total_count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update centroid c with new_centroid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broadcast updated centroids to all workers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471" name="Google Shape;471;p80"/>
          <p:cNvSpPr txBox="1"/>
          <p:nvPr/>
        </p:nvSpPr>
        <p:spPr>
          <a:xfrm>
            <a:off x="5669200" y="1536634"/>
            <a:ext cx="5910400" cy="504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Goal:</a:t>
            </a:r>
            <a:r>
              <a:rPr lang="en-GB" sz="1600" dirty="0">
                <a:solidFill>
                  <a:schemeClr val="dk1"/>
                </a:solidFill>
              </a:rPr>
              <a:t> Partition data points into </a:t>
            </a:r>
            <a:r>
              <a:rPr lang="en-GB" sz="1600" i="1" dirty="0">
                <a:solidFill>
                  <a:schemeClr val="dk1"/>
                </a:solidFill>
              </a:rPr>
              <a:t>k</a:t>
            </a:r>
            <a:r>
              <a:rPr lang="en-GB" sz="1600" dirty="0">
                <a:solidFill>
                  <a:schemeClr val="dk1"/>
                </a:solidFill>
              </a:rPr>
              <a:t> clusters by iteratively updating centroids (cluster centers).</a:t>
            </a:r>
            <a:br>
              <a:rPr lang="en-GB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609585" indent="-304792"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How it works:</a:t>
            </a:r>
            <a:endParaRPr sz="1600" b="1" dirty="0">
              <a:solidFill>
                <a:schemeClr val="dk1"/>
              </a:solidFill>
            </a:endParaRPr>
          </a:p>
          <a:p>
            <a:pPr marL="609585" indent="-397923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The dataset is split across multiple worker nodes.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Each worker assigns its local points to the closest centroid.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Instead of sending individual points back, each worker computes </a:t>
            </a:r>
            <a:r>
              <a:rPr lang="en-GB" sz="1600" b="1" dirty="0">
                <a:solidFill>
                  <a:schemeClr val="dk1"/>
                </a:solidFill>
              </a:rPr>
              <a:t>partial sums</a:t>
            </a:r>
            <a:r>
              <a:rPr lang="en-GB" sz="1600" dirty="0">
                <a:solidFill>
                  <a:schemeClr val="dk1"/>
                </a:solidFill>
              </a:rPr>
              <a:t> of points assigned to each centroid and counts how many points belong to each centroid.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The reducer (master node) aggregates these partial sums and counts from all workers.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It calculates the new centroids by averaging:</a:t>
            </a:r>
            <a:br>
              <a:rPr lang="en-GB" sz="1600" dirty="0">
                <a:solidFill>
                  <a:schemeClr val="dk1"/>
                </a:solidFill>
              </a:rPr>
            </a:br>
            <a:r>
              <a:rPr lang="en-GB" sz="1600" dirty="0">
                <a:solidFill>
                  <a:schemeClr val="dk1"/>
                </a:solidFill>
              </a:rPr>
              <a:t> new centroid = sum of assigned points / number of points assigned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Updated centroids are broadcast back to all workers.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This repeats until the centroids no longer change significantly (convergence).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1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Mini-batch k-Means </a:t>
            </a:r>
            <a:endParaRPr b="1"/>
          </a:p>
        </p:txBody>
      </p:sp>
      <p:sp>
        <p:nvSpPr>
          <p:cNvPr id="477" name="Google Shape;477;p81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653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Mini-batch k-Means: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Uses small, random subsets (mini-batches) instead of the full dataset per iteration.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Updates centroids incrementally based on the mini-batch statistics.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Advantages:</a:t>
            </a:r>
            <a:endParaRPr b="1" dirty="0">
              <a:solidFill>
                <a:schemeClr val="dk1"/>
              </a:solidFill>
            </a:endParaRPr>
          </a:p>
          <a:p>
            <a:pPr lvl="2" indent="-397923" algn="l" rt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Faster convergence and lower computational cost.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Good trade-off between accuracy and speed.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Use cases:</a:t>
            </a:r>
            <a:endParaRPr b="1" dirty="0">
              <a:solidFill>
                <a:schemeClr val="dk1"/>
              </a:solidFill>
            </a:endParaRPr>
          </a:p>
          <a:p>
            <a:pPr lvl="2" indent="-397923" algn="l" rt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Large datasets where full-batch k-Means is too slow.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Situations needing quicker approximate clustering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2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Mini-batch k-Means</a:t>
            </a:r>
            <a:endParaRPr b="1"/>
          </a:p>
        </p:txBody>
      </p:sp>
      <p:sp>
        <p:nvSpPr>
          <p:cNvPr id="483" name="Google Shape;483;p82"/>
          <p:cNvSpPr txBox="1">
            <a:spLocks noGrp="1"/>
          </p:cNvSpPr>
          <p:nvPr>
            <p:ph type="body" idx="1"/>
          </p:nvPr>
        </p:nvSpPr>
        <p:spPr>
          <a:xfrm>
            <a:off x="314000" y="1943033"/>
            <a:ext cx="4914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initialize centroids randomly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for iteration in 1 to max_iterations: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sample a mini-batch of points from dataset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each point x in mini-batch: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find nearest centroid c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update centroid c: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c = c + learning_rate * (x - c)   # move centroid toward x incrementally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484" name="Google Shape;484;p82"/>
          <p:cNvSpPr txBox="1"/>
          <p:nvPr/>
        </p:nvSpPr>
        <p:spPr>
          <a:xfrm>
            <a:off x="5822300" y="1028634"/>
            <a:ext cx="5722800" cy="566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04792"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Goal: </a:t>
            </a:r>
            <a:r>
              <a:rPr lang="en-GB" sz="1600" dirty="0">
                <a:solidFill>
                  <a:schemeClr val="dk1"/>
                </a:solidFill>
              </a:rPr>
              <a:t>Speed up k-Means by updating centroids more frequently using small random subsets (mini-batches) instead of the whole dataset.</a:t>
            </a:r>
            <a:endParaRPr sz="1600" dirty="0">
              <a:solidFill>
                <a:schemeClr val="dk1"/>
              </a:solidFill>
            </a:endParaRPr>
          </a:p>
          <a:p>
            <a:pPr marL="609585" indent="-304792"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How it works:</a:t>
            </a:r>
            <a:endParaRPr sz="1600" b="1" dirty="0">
              <a:solidFill>
                <a:schemeClr val="dk1"/>
              </a:solidFill>
            </a:endParaRPr>
          </a:p>
          <a:p>
            <a:pPr marL="609585" indent="-397923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Instead of calculating cluster assignments for all points in every iteration, randomly select a small batch (e.g., 100-1000 points).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Assign these points to the nearest centroids.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Update centroids incrementally toward the selected points using a learning rate (like in stochastic gradient methods):</a:t>
            </a:r>
            <a:br>
              <a:rPr lang="en-GB" sz="1600" dirty="0">
                <a:solidFill>
                  <a:schemeClr val="dk1"/>
                </a:solidFill>
              </a:rPr>
            </a:br>
            <a:r>
              <a:rPr lang="en-GB" sz="1600" dirty="0">
                <a:solidFill>
                  <a:schemeClr val="dk1"/>
                </a:solidFill>
              </a:rPr>
              <a:t>                         </a:t>
            </a:r>
            <a:r>
              <a:rPr lang="en-GB" sz="1600" dirty="0" err="1">
                <a:solidFill>
                  <a:schemeClr val="dk1"/>
                </a:solidFill>
              </a:rPr>
              <a:t>c←c+η</a:t>
            </a:r>
            <a:r>
              <a:rPr lang="en-GB" sz="1600" dirty="0">
                <a:solidFill>
                  <a:schemeClr val="dk1"/>
                </a:solidFill>
              </a:rPr>
              <a:t>×(</a:t>
            </a:r>
            <a:r>
              <a:rPr lang="en-GB" sz="1600" dirty="0" err="1">
                <a:solidFill>
                  <a:schemeClr val="dk1"/>
                </a:solidFill>
              </a:rPr>
              <a:t>x−c</a:t>
            </a:r>
            <a:r>
              <a:rPr lang="en-GB" sz="1600" dirty="0">
                <a:solidFill>
                  <a:schemeClr val="dk1"/>
                </a:solidFill>
              </a:rPr>
              <a:t>)</a:t>
            </a:r>
            <a:endParaRPr sz="1600" dirty="0">
              <a:solidFill>
                <a:schemeClr val="dk1"/>
              </a:solidFill>
            </a:endParaRPr>
          </a:p>
          <a:p>
            <a:pPr marL="609585">
              <a:spcBef>
                <a:spcPts val="1600"/>
              </a:spcBef>
            </a:pPr>
            <a:r>
              <a:rPr lang="en-GB" sz="1600" dirty="0">
                <a:solidFill>
                  <a:schemeClr val="dk1"/>
                </a:solidFill>
              </a:rPr>
              <a:t>where c is the centroid, x is the data point, and η is the learning rate.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Repeat this process many times until convergence.</a:t>
            </a:r>
            <a:endParaRPr sz="1600" dirty="0">
              <a:solidFill>
                <a:schemeClr val="dk1"/>
              </a:solidFill>
            </a:endParaRPr>
          </a:p>
          <a:p>
            <a:pPr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Why use mini-batches?</a:t>
            </a:r>
            <a:br>
              <a:rPr lang="en-GB" sz="1600" b="1" dirty="0">
                <a:solidFill>
                  <a:schemeClr val="dk1"/>
                </a:solidFill>
              </a:rPr>
            </a:br>
            <a:r>
              <a:rPr lang="en-GB" sz="1600" dirty="0">
                <a:solidFill>
                  <a:schemeClr val="dk1"/>
                </a:solidFill>
              </a:rPr>
              <a:t> Balances the computational efficiency of stochastic updates with the stability of batch methods.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3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Streaming Variants</a:t>
            </a:r>
            <a:endParaRPr b="1"/>
          </a:p>
        </p:txBody>
      </p:sp>
      <p:sp>
        <p:nvSpPr>
          <p:cNvPr id="490" name="Google Shape;490;p83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96536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Streaming k-Means: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Designed for continuously arriving data (data streams).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Maintains and updates cluster centers incrementally as new data points come.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Does not require storing the entire dataset, enabling real-time processing.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Often uses techniques like reservoir sampling or exponential decay to weigh recent data more.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Applications:</a:t>
            </a:r>
            <a:endParaRPr b="1" dirty="0">
              <a:solidFill>
                <a:schemeClr val="dk1"/>
              </a:solidFill>
            </a:endParaRPr>
          </a:p>
          <a:p>
            <a:pPr lvl="2" indent="-397923" algn="l" rt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Real-time analytics, sensor networks, online recommendation systems.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4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Streaming k-Means</a:t>
            </a:r>
            <a:endParaRPr b="1"/>
          </a:p>
        </p:txBody>
      </p:sp>
      <p:sp>
        <p:nvSpPr>
          <p:cNvPr id="496" name="Google Shape;496;p84"/>
          <p:cNvSpPr txBox="1">
            <a:spLocks noGrp="1"/>
          </p:cNvSpPr>
          <p:nvPr>
            <p:ph type="body" idx="1"/>
          </p:nvPr>
        </p:nvSpPr>
        <p:spPr>
          <a:xfrm>
            <a:off x="618800" y="1943033"/>
            <a:ext cx="5629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initialize centroids randomly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for each new incoming data point x: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find nearest centroid c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update centroid c: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c = c + learning_rate * (x - c)   # adjust centroid for each new point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497" name="Google Shape;497;p84"/>
          <p:cNvSpPr txBox="1"/>
          <p:nvPr/>
        </p:nvSpPr>
        <p:spPr>
          <a:xfrm>
            <a:off x="6248000" y="1536634"/>
            <a:ext cx="4976400" cy="436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04792">
              <a:lnSpc>
                <a:spcPct val="115000"/>
              </a:lnSpc>
              <a:spcBef>
                <a:spcPts val="1600"/>
              </a:spcBef>
            </a:pPr>
            <a:r>
              <a:rPr lang="en-GB" b="1" dirty="0">
                <a:solidFill>
                  <a:schemeClr val="dk1"/>
                </a:solidFill>
              </a:rPr>
              <a:t>Goal:</a:t>
            </a:r>
            <a:r>
              <a:rPr lang="en-GB" dirty="0">
                <a:solidFill>
                  <a:schemeClr val="dk1"/>
                </a:solidFill>
              </a:rPr>
              <a:t> Cluster data that arrives continuously (streaming data) without needing the entire dataset at once.</a:t>
            </a:r>
            <a:endParaRPr dirty="0">
              <a:solidFill>
                <a:schemeClr val="dk1"/>
              </a:solidFill>
            </a:endParaRPr>
          </a:p>
          <a:p>
            <a:pPr marL="609585" indent="-304792">
              <a:lnSpc>
                <a:spcPct val="115000"/>
              </a:lnSpc>
              <a:spcBef>
                <a:spcPts val="1600"/>
              </a:spcBef>
            </a:pPr>
            <a:r>
              <a:rPr lang="en-GB" b="1" dirty="0">
                <a:solidFill>
                  <a:schemeClr val="dk1"/>
                </a:solidFill>
              </a:rPr>
              <a:t>How it works:</a:t>
            </a:r>
            <a:endParaRPr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Start with initial centroids.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For each incoming data point:</a:t>
            </a:r>
            <a:endParaRPr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Find the nearest centroid.</a:t>
            </a:r>
            <a:endParaRPr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Update that centroid incrementally toward the new point using a learning rate.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This allows clusters to evolve over time.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5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Convergence Criteria</a:t>
            </a:r>
            <a:endParaRPr b="1"/>
          </a:p>
        </p:txBody>
      </p:sp>
      <p:sp>
        <p:nvSpPr>
          <p:cNvPr id="503" name="Google Shape;503;p85"/>
          <p:cNvSpPr txBox="1">
            <a:spLocks noGrp="1"/>
          </p:cNvSpPr>
          <p:nvPr>
            <p:ph type="body" idx="1"/>
          </p:nvPr>
        </p:nvSpPr>
        <p:spPr>
          <a:xfrm>
            <a:off x="1000967" y="1739833"/>
            <a:ext cx="10956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Convergence Criteria: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Stop the algorithm when: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The change in centroids’ positions between iterations is below a predefined threshold (centroid displacement).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The assignments of points to clusters no longer change significantly.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A maximum number of iterations is reached.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Ensures a balance between computation time and clustering accuracy.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6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Communication Reduction</a:t>
            </a:r>
            <a:endParaRPr b="1"/>
          </a:p>
        </p:txBody>
      </p:sp>
      <p:sp>
        <p:nvSpPr>
          <p:cNvPr id="509" name="Google Shape;509;p86"/>
          <p:cNvSpPr txBox="1">
            <a:spLocks noGrp="1"/>
          </p:cNvSpPr>
          <p:nvPr>
            <p:ph type="body" idx="1"/>
          </p:nvPr>
        </p:nvSpPr>
        <p:spPr>
          <a:xfrm>
            <a:off x="1000967" y="1739833"/>
            <a:ext cx="10956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Communication Reduction in Distributed Systems: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Problem:</a:t>
            </a:r>
            <a:endParaRPr b="1"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Frequent communication of centroid updates between nodes can cause network congestion and slowdowns.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Techniques to reduce communication overhead:</a:t>
            </a:r>
            <a:endParaRPr b="1"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b="1" dirty="0">
                <a:solidFill>
                  <a:schemeClr val="dk1"/>
                </a:solidFill>
              </a:rPr>
              <a:t>Compression:</a:t>
            </a:r>
            <a:r>
              <a:rPr lang="en-GB" dirty="0">
                <a:solidFill>
                  <a:schemeClr val="dk1"/>
                </a:solidFill>
              </a:rPr>
              <a:t> Compress updates via quantization or encoding deltas (differences) rather than full values.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b="1" dirty="0">
                <a:solidFill>
                  <a:schemeClr val="dk1"/>
                </a:solidFill>
              </a:rPr>
              <a:t>Sparse updates:</a:t>
            </a:r>
            <a:r>
              <a:rPr lang="en-GB" dirty="0">
                <a:solidFill>
                  <a:schemeClr val="dk1"/>
                </a:solidFill>
              </a:rPr>
              <a:t> Only communicate significant changes in centroids.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b="1" dirty="0">
                <a:solidFill>
                  <a:schemeClr val="dk1"/>
                </a:solidFill>
              </a:rPr>
              <a:t>Update frequency control:</a:t>
            </a:r>
            <a:r>
              <a:rPr lang="en-GB" dirty="0">
                <a:solidFill>
                  <a:schemeClr val="dk1"/>
                </a:solidFill>
              </a:rPr>
              <a:t> Aggregate updates locally and send to master node less frequently.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b="1" dirty="0">
                <a:solidFill>
                  <a:schemeClr val="dk1"/>
                </a:solidFill>
              </a:rPr>
              <a:t>Asynchronous updates:</a:t>
            </a:r>
            <a:r>
              <a:rPr lang="en-GB" dirty="0">
                <a:solidFill>
                  <a:schemeClr val="dk1"/>
                </a:solidFill>
              </a:rPr>
              <a:t> Allow nodes to work with slightly stale centroids to reduce synchronization needs.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Benefits:</a:t>
            </a:r>
            <a:endParaRPr b="1"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Improves scalability and efficiency in large-scale distributed clustering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7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Communication Reduction (Compressing Updates) in Distributed k-Means</a:t>
            </a:r>
            <a:endParaRPr b="1"/>
          </a:p>
        </p:txBody>
      </p:sp>
      <p:sp>
        <p:nvSpPr>
          <p:cNvPr id="515" name="Google Shape;515;p87"/>
          <p:cNvSpPr txBox="1">
            <a:spLocks noGrp="1"/>
          </p:cNvSpPr>
          <p:nvPr>
            <p:ph type="body" idx="1"/>
          </p:nvPr>
        </p:nvSpPr>
        <p:spPr>
          <a:xfrm>
            <a:off x="618800" y="1739833"/>
            <a:ext cx="5790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initialize centroids randomly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repeat until convergence: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Map Phase (worker):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for each data point x in local partition: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find nearest centroid c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accumulate partial sums and counts locally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before sending to master: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compute delta = partial_sum_new - partial_sum_old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compress delta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send compressed deltas to master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Reduce Phase (master):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decompress and aggregate all deltas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update centroids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broadcast updated centroids to workers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516" name="Google Shape;516;p87"/>
          <p:cNvSpPr txBox="1"/>
          <p:nvPr/>
        </p:nvSpPr>
        <p:spPr>
          <a:xfrm>
            <a:off x="6096000" y="1943034"/>
            <a:ext cx="5449200" cy="482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04792">
              <a:lnSpc>
                <a:spcPct val="115000"/>
              </a:lnSpc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Problem:</a:t>
            </a:r>
            <a:br>
              <a:rPr lang="en-GB" sz="1600" b="1" dirty="0">
                <a:solidFill>
                  <a:schemeClr val="dk1"/>
                </a:solidFill>
              </a:rPr>
            </a:br>
            <a:r>
              <a:rPr lang="en-GB" sz="1600" dirty="0">
                <a:solidFill>
                  <a:schemeClr val="dk1"/>
                </a:solidFill>
              </a:rPr>
              <a:t> In distributed k-Means, frequent communication of centroid updates can cause network bottlenecks.</a:t>
            </a:r>
            <a:endParaRPr sz="1600" dirty="0">
              <a:solidFill>
                <a:schemeClr val="dk1"/>
              </a:solidFill>
            </a:endParaRPr>
          </a:p>
          <a:p>
            <a:pPr marL="609585" indent="-304792">
              <a:lnSpc>
                <a:spcPct val="115000"/>
              </a:lnSpc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Solution: Compress and send only </a:t>
            </a:r>
            <a:r>
              <a:rPr lang="en-GB" sz="1600" b="1" i="1" dirty="0">
                <a:solidFill>
                  <a:schemeClr val="dk1"/>
                </a:solidFill>
              </a:rPr>
              <a:t>deltas</a:t>
            </a:r>
            <a:r>
              <a:rPr lang="en-GB" sz="1600" b="1" dirty="0">
                <a:solidFill>
                  <a:schemeClr val="dk1"/>
                </a:solidFill>
              </a:rPr>
              <a:t> (changes) instead of full sums:</a:t>
            </a:r>
            <a:endParaRPr sz="1600"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Each worker maintains old partial sums of points per centroid.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After processing a batch, compute the difference (delta) between new and old sums.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Compress this delta (using quantization, </a:t>
            </a:r>
            <a:r>
              <a:rPr lang="en-GB" sz="1600" dirty="0" err="1">
                <a:solidFill>
                  <a:schemeClr val="dk1"/>
                </a:solidFill>
              </a:rPr>
              <a:t>sparsification</a:t>
            </a:r>
            <a:r>
              <a:rPr lang="en-GB" sz="1600" dirty="0">
                <a:solidFill>
                  <a:schemeClr val="dk1"/>
                </a:solidFill>
              </a:rPr>
              <a:t>, or encoding).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Send only the compressed delta to the master.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Master decompresses and aggregates deltas from all workers to update centroids.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CFA1-903F-C972-3D4B-285893336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0FD82A5-78CB-1669-B099-BC3DCA5AB625}"/>
              </a:ext>
            </a:extLst>
          </p:cNvPr>
          <p:cNvGrpSpPr/>
          <p:nvPr/>
        </p:nvGrpSpPr>
        <p:grpSpPr>
          <a:xfrm>
            <a:off x="-3175" y="0"/>
            <a:ext cx="12198350" cy="6861175"/>
            <a:chOff x="-3175" y="0"/>
            <a:chExt cx="12198350" cy="686117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859FA0E-C88C-ABC0-507E-380543D38BC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634CB9F-D57B-91FE-84EE-D738887448C7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12192000" y="0"/>
                  </a:moveTo>
                  <a:lnTo>
                    <a:pt x="0" y="0"/>
                  </a:lnTo>
                  <a:lnTo>
                    <a:pt x="0" y="2577083"/>
                  </a:lnTo>
                  <a:lnTo>
                    <a:pt x="12192000" y="257708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64753BC-9BDA-DAA6-D3E6-F3B4EDBBC4D1}"/>
                </a:ext>
              </a:extLst>
            </p:cNvPr>
            <p:cNvSpPr/>
            <p:nvPr/>
          </p:nvSpPr>
          <p:spPr>
            <a:xfrm>
              <a:off x="0" y="4280915"/>
              <a:ext cx="12192000" cy="2577465"/>
            </a:xfrm>
            <a:custGeom>
              <a:avLst/>
              <a:gdLst/>
              <a:ahLst/>
              <a:cxnLst/>
              <a:rect l="l" t="t" r="r" b="b"/>
              <a:pathLst>
                <a:path w="12192000" h="2577465">
                  <a:moveTo>
                    <a:pt x="0" y="2577083"/>
                  </a:moveTo>
                  <a:lnTo>
                    <a:pt x="12192000" y="257708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77083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BD86513C-262D-9150-0D1B-93B2914406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00" y="0"/>
              <a:ext cx="2924555" cy="691896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021EFF0-DE9C-B90E-908A-107FD5598D96}"/>
                </a:ext>
              </a:extLst>
            </p:cNvPr>
            <p:cNvSpPr/>
            <p:nvPr/>
          </p:nvSpPr>
          <p:spPr>
            <a:xfrm>
              <a:off x="3843528" y="6775703"/>
              <a:ext cx="3862070" cy="76200"/>
            </a:xfrm>
            <a:custGeom>
              <a:avLst/>
              <a:gdLst/>
              <a:ahLst/>
              <a:cxnLst/>
              <a:rect l="l" t="t" r="r" b="b"/>
              <a:pathLst>
                <a:path w="3862070" h="76200">
                  <a:moveTo>
                    <a:pt x="386181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1816" y="76200"/>
                  </a:lnTo>
                  <a:lnTo>
                    <a:pt x="3861816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A1CB351-CFD5-9D29-5617-6C27EBA8B740}"/>
                </a:ext>
              </a:extLst>
            </p:cNvPr>
            <p:cNvSpPr/>
            <p:nvPr/>
          </p:nvSpPr>
          <p:spPr>
            <a:xfrm>
              <a:off x="0" y="6775703"/>
              <a:ext cx="3843654" cy="76200"/>
            </a:xfrm>
            <a:custGeom>
              <a:avLst/>
              <a:gdLst/>
              <a:ahLst/>
              <a:cxnLst/>
              <a:rect l="l" t="t" r="r" b="b"/>
              <a:pathLst>
                <a:path w="3843654" h="76200">
                  <a:moveTo>
                    <a:pt x="3843528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43528" y="76200"/>
                  </a:lnTo>
                  <a:lnTo>
                    <a:pt x="3843528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17575FA-D1DC-DB93-2F97-EF19A469AE6E}"/>
                </a:ext>
              </a:extLst>
            </p:cNvPr>
            <p:cNvSpPr/>
            <p:nvPr/>
          </p:nvSpPr>
          <p:spPr>
            <a:xfrm>
              <a:off x="7705343" y="6775703"/>
              <a:ext cx="3860800" cy="76200"/>
            </a:xfrm>
            <a:custGeom>
              <a:avLst/>
              <a:gdLst/>
              <a:ahLst/>
              <a:cxnLst/>
              <a:rect l="l" t="t" r="r" b="b"/>
              <a:pathLst>
                <a:path w="3860800" h="76200">
                  <a:moveTo>
                    <a:pt x="386029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860292" y="76200"/>
                  </a:lnTo>
                  <a:lnTo>
                    <a:pt x="38602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1777D9C4-E720-D414-86F8-17D6F2D73203}"/>
              </a:ext>
            </a:extLst>
          </p:cNvPr>
          <p:cNvSpPr txBox="1"/>
          <p:nvPr/>
        </p:nvSpPr>
        <p:spPr>
          <a:xfrm>
            <a:off x="10576306" y="730276"/>
            <a:ext cx="1398270" cy="8909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 MT"/>
                <a:cs typeface="Arial MT"/>
              </a:rPr>
              <a:t>Pil</a:t>
            </a:r>
            <a:r>
              <a:rPr sz="2400" spc="-16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748665">
              <a:lnSpc>
                <a:spcPct val="100000"/>
              </a:lnSpc>
              <a:spcBef>
                <a:spcPts val="7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WILP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B78B09D-AE4B-0136-9387-D075F3165F01}"/>
              </a:ext>
            </a:extLst>
          </p:cNvPr>
          <p:cNvSpPr txBox="1"/>
          <p:nvPr/>
        </p:nvSpPr>
        <p:spPr>
          <a:xfrm>
            <a:off x="485343" y="4262120"/>
            <a:ext cx="10563657" cy="2198038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Convolutional Neural Networks (CNNs)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Data vs. model parallelism (layer splitting, tensor slicing)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Mixed-precision &amp; pipeline parallelism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lang="en-US" sz="2400" spc="-155" dirty="0">
                <a:latin typeface="Arial" panose="020B0604020202020204" pitchFamily="34" charset="0"/>
                <a:cs typeface="Arial" panose="020B0604020202020204" pitchFamily="34" charset="0"/>
              </a:rPr>
              <a:t>- Distributed training frameworks (Distributed TensorFlow)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18A5BAF-B07F-1A69-8ADC-93272F307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5600" y="1730593"/>
            <a:ext cx="54102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2145">
              <a:lnSpc>
                <a:spcPts val="4560"/>
              </a:lnSpc>
              <a:spcBef>
                <a:spcPts val="95"/>
              </a:spcBef>
            </a:pPr>
            <a:r>
              <a:rPr sz="4000" i="1" spc="-35" dirty="0">
                <a:latin typeface="Arial" panose="020B0604020202020204" pitchFamily="34" charset="0"/>
                <a:cs typeface="Arial" panose="020B0604020202020204" pitchFamily="34" charset="0"/>
              </a:rPr>
              <a:t>AIML</a:t>
            </a:r>
            <a:r>
              <a:rPr sz="4000" i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CLZG516</a:t>
            </a:r>
            <a:r>
              <a:rPr sz="4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4560"/>
              </a:lnSpc>
            </a:pPr>
            <a:r>
              <a:rPr sz="4000" i="1" spc="-40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z="4000" i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5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4000" i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i="1" spc="-45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386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9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Data Parallelism in CNNs</a:t>
            </a:r>
            <a:endParaRPr b="1"/>
          </a:p>
        </p:txBody>
      </p:sp>
      <p:sp>
        <p:nvSpPr>
          <p:cNvPr id="527" name="Google Shape;527;p89"/>
          <p:cNvSpPr txBox="1">
            <a:spLocks noGrp="1"/>
          </p:cNvSpPr>
          <p:nvPr>
            <p:ph type="body" idx="1"/>
          </p:nvPr>
        </p:nvSpPr>
        <p:spPr>
          <a:xfrm>
            <a:off x="1228400" y="1739833"/>
            <a:ext cx="102624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Data Parallelism: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The </a:t>
            </a:r>
            <a:r>
              <a:rPr lang="en-GB" b="1" dirty="0">
                <a:solidFill>
                  <a:schemeClr val="dk1"/>
                </a:solidFill>
              </a:rPr>
              <a:t>same CNN model is copied</a:t>
            </a:r>
            <a:r>
              <a:rPr lang="en-GB" dirty="0">
                <a:solidFill>
                  <a:schemeClr val="dk1"/>
                </a:solidFill>
              </a:rPr>
              <a:t> to multiple GPUs or nodes.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Each replica processes a </a:t>
            </a:r>
            <a:r>
              <a:rPr lang="en-GB" b="1" dirty="0">
                <a:solidFill>
                  <a:schemeClr val="dk1"/>
                </a:solidFill>
              </a:rPr>
              <a:t>different mini-batch</a:t>
            </a:r>
            <a:r>
              <a:rPr lang="en-GB" dirty="0">
                <a:solidFill>
                  <a:schemeClr val="dk1"/>
                </a:solidFill>
              </a:rPr>
              <a:t> of the input data.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After forward and backward passes, </a:t>
            </a:r>
            <a:r>
              <a:rPr lang="en-GB" b="1" dirty="0">
                <a:solidFill>
                  <a:schemeClr val="dk1"/>
                </a:solidFill>
              </a:rPr>
              <a:t>gradients are averaged (or summed)</a:t>
            </a:r>
            <a:r>
              <a:rPr lang="en-GB" dirty="0">
                <a:solidFill>
                  <a:schemeClr val="dk1"/>
                </a:solidFill>
              </a:rPr>
              <a:t> across all replicas to update weights.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Most commonly used for training CNNs on large datasets.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Simple to implement.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Scales well with large datasets.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Challenges: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Requires synchronization between devices (communication overhead for gradients).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May suffer from inefficiencies if batch sizes are too small.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90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Data Parallelism</a:t>
            </a:r>
            <a:endParaRPr b="1"/>
          </a:p>
        </p:txBody>
      </p:sp>
      <p:sp>
        <p:nvSpPr>
          <p:cNvPr id="533" name="Google Shape;533;p90"/>
          <p:cNvSpPr txBox="1">
            <a:spLocks noGrp="1"/>
          </p:cNvSpPr>
          <p:nvPr>
            <p:ph type="body" idx="1"/>
          </p:nvPr>
        </p:nvSpPr>
        <p:spPr>
          <a:xfrm>
            <a:off x="618800" y="1841433"/>
            <a:ext cx="5790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initialize model θ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split dataset into mini-batches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distribute model copies across N GPUs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for each epoch: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 each mini-batch in dataset: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parallel_for each GPU: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    compute gradients on batch copy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average all gradients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update global model θ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broadcast updated θ to all GPUs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534" name="Google Shape;534;p90"/>
          <p:cNvSpPr txBox="1"/>
          <p:nvPr/>
        </p:nvSpPr>
        <p:spPr>
          <a:xfrm>
            <a:off x="5562600" y="768292"/>
            <a:ext cx="5449200" cy="5321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dirty="0">
                <a:solidFill>
                  <a:schemeClr val="dk1"/>
                </a:solidFill>
              </a:rPr>
              <a:t>Each GPU gets a mini-batch of data, computes gradients independently, and then synchronizes the model parameters.</a:t>
            </a:r>
            <a:endParaRPr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b="1" dirty="0">
                <a:solidFill>
                  <a:schemeClr val="dk1"/>
                </a:solidFill>
              </a:rPr>
              <a:t>Working:</a:t>
            </a:r>
            <a:endParaRPr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The full dataset is split into smaller chunks (mini-batches).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Each GPU has a full copy of the CNN model and processes a different batch.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After forward and backward passes, each GPU computes gradients on its own.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The gradients are then averaged (or summed) across all GPUs.</a:t>
            </a:r>
            <a:endParaRPr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dirty="0">
                <a:solidFill>
                  <a:schemeClr val="dk1"/>
                </a:solidFill>
              </a:rPr>
              <a:t>The global model weights are updated and synchronized across GPUs.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1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Model Parallelism in CNNs</a:t>
            </a:r>
            <a:endParaRPr b="1"/>
          </a:p>
        </p:txBody>
      </p:sp>
      <p:sp>
        <p:nvSpPr>
          <p:cNvPr id="540" name="Google Shape;540;p91"/>
          <p:cNvSpPr txBox="1">
            <a:spLocks noGrp="1"/>
          </p:cNvSpPr>
          <p:nvPr>
            <p:ph type="body" idx="1"/>
          </p:nvPr>
        </p:nvSpPr>
        <p:spPr>
          <a:xfrm>
            <a:off x="1228400" y="1577533"/>
            <a:ext cx="102624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800" b="1" dirty="0">
                <a:solidFill>
                  <a:schemeClr val="dk1"/>
                </a:solidFill>
              </a:rPr>
              <a:t>Model Parallelism:</a:t>
            </a:r>
            <a:endParaRPr sz="1800" b="1" dirty="0">
              <a:solidFill>
                <a:schemeClr val="dk1"/>
              </a:solidFill>
            </a:endParaRPr>
          </a:p>
          <a:p>
            <a:pPr indent="-397923" algn="l" rtl="0">
              <a:spcBef>
                <a:spcPts val="267"/>
              </a:spcBef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The </a:t>
            </a:r>
            <a:r>
              <a:rPr lang="en-GB" sz="1800" b="1" dirty="0">
                <a:solidFill>
                  <a:schemeClr val="dk1"/>
                </a:solidFill>
              </a:rPr>
              <a:t>CNN model is split across devices</a:t>
            </a:r>
            <a:r>
              <a:rPr lang="en-GB" sz="1800" dirty="0">
                <a:solidFill>
                  <a:schemeClr val="dk1"/>
                </a:solidFill>
              </a:rPr>
              <a:t>; each GPU holds </a:t>
            </a:r>
            <a:r>
              <a:rPr lang="en-GB" sz="1800" b="1" dirty="0">
                <a:solidFill>
                  <a:schemeClr val="dk1"/>
                </a:solidFill>
              </a:rPr>
              <a:t>a part of the model</a:t>
            </a:r>
            <a:r>
              <a:rPr lang="en-GB" sz="1800" dirty="0">
                <a:solidFill>
                  <a:schemeClr val="dk1"/>
                </a:solidFill>
              </a:rPr>
              <a:t> (e.g., layers or tensor partitions).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dirty="0">
                <a:solidFill>
                  <a:schemeClr val="dk1"/>
                </a:solidFill>
              </a:rPr>
              <a:t>Input data flows sequentially through devices — forward pass goes from one GPU to another.</a:t>
            </a:r>
            <a:endParaRPr sz="1800" dirty="0">
              <a:solidFill>
                <a:schemeClr val="dk1"/>
              </a:solidFill>
            </a:endParaRPr>
          </a:p>
          <a:p>
            <a:pPr marL="0" indent="0" algn="l" rtl="0">
              <a:buNone/>
            </a:pPr>
            <a:r>
              <a:rPr lang="en-GB" sz="1800" b="1" dirty="0">
                <a:solidFill>
                  <a:schemeClr val="dk1"/>
                </a:solidFill>
              </a:rPr>
              <a:t>Types of model parallelism:</a:t>
            </a:r>
            <a:endParaRPr sz="1800"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Layer Splitting: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Layers of the model are distributed across devices.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Example: GPU 1 holds layers 1–3, GPU 2 holds layers 4–6, etc.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Tensor Slicing: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Each tensor (like weight matrices or activation maps) is </a:t>
            </a:r>
            <a:r>
              <a:rPr lang="en-GB" b="1" dirty="0">
                <a:solidFill>
                  <a:schemeClr val="dk1"/>
                </a:solidFill>
              </a:rPr>
              <a:t>split</a:t>
            </a:r>
            <a:r>
              <a:rPr lang="en-GB" dirty="0">
                <a:solidFill>
                  <a:schemeClr val="dk1"/>
                </a:solidFill>
              </a:rPr>
              <a:t> across devices.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For example, split channels or spatial dimensions.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Useful for very large models that don’t fit on one GPU, Efficient use of memory.</a:t>
            </a:r>
            <a:endParaRPr sz="1800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Challenges:</a:t>
            </a:r>
            <a:endParaRPr sz="1800" b="1" dirty="0">
              <a:solidFill>
                <a:schemeClr val="dk1"/>
              </a:solidFill>
            </a:endParaRPr>
          </a:p>
          <a:p>
            <a:pPr marL="1219170" indent="-397923" algn="l" rtl="0">
              <a:buClr>
                <a:schemeClr val="dk1"/>
              </a:buClr>
              <a:buSzPts val="1100"/>
              <a:buChar char="➢"/>
            </a:pPr>
            <a:r>
              <a:rPr lang="en-GB" sz="1800" dirty="0">
                <a:solidFill>
                  <a:schemeClr val="dk1"/>
                </a:solidFill>
              </a:rPr>
              <a:t>More complex to implement, Requires careful management of inter-device communication</a:t>
            </a: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2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Model Parallelism (Layer Splitting Example)</a:t>
            </a:r>
            <a:endParaRPr b="1"/>
          </a:p>
        </p:txBody>
      </p:sp>
      <p:sp>
        <p:nvSpPr>
          <p:cNvPr id="546" name="Google Shape;546;p92"/>
          <p:cNvSpPr txBox="1">
            <a:spLocks noGrp="1"/>
          </p:cNvSpPr>
          <p:nvPr>
            <p:ph type="body" idx="1"/>
          </p:nvPr>
        </p:nvSpPr>
        <p:spPr>
          <a:xfrm>
            <a:off x="618800" y="1435033"/>
            <a:ext cx="5790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# Suppose Model has 3 layers split across 3 GPUs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forward_pass(input):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on GPU1: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h1 = Layer1(input)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send h1 to GPU2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on GPU2: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h2 = Layer2(h1)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send h2 to GPU3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on GPU3: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output = Layer3(h2)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return output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backward_pass(grad_output):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on GPU3: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grad_h2 = backprop_Layer3(grad_output)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send grad_h2 to GPU2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on GPU2: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grad_h1 = backprop_Layer2(grad_h2)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send grad_h1 to GPU1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on GPU1: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    backprop_Layer1(grad_h1)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547" name="Google Shape;547;p92"/>
          <p:cNvSpPr txBox="1"/>
          <p:nvPr/>
        </p:nvSpPr>
        <p:spPr>
          <a:xfrm>
            <a:off x="6096000" y="1943033"/>
            <a:ext cx="5449200" cy="454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600" dirty="0">
                <a:solidFill>
                  <a:schemeClr val="dk1"/>
                </a:solidFill>
              </a:rPr>
              <a:t>Each part of the CNN (like convolutional layers, pooling, etc.) is placed on a different GPU and runs sequentially.</a:t>
            </a:r>
            <a:endParaRPr sz="16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Working:</a:t>
            </a:r>
            <a:endParaRPr sz="1600"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The CNN is split by layers (or groups of layers), and each part is assigned to a different GPU.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The input flows from one GPU to another in order (forward pass).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During backpropagation, the gradients flow back in the reverse order (from the last layer to the first).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Requires high inter-GPU communication but is memory efficient.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Used when a single model is too large to fit on one GPU.</a:t>
            </a:r>
            <a:endParaRPr sz="16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3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Mixed-Precision</a:t>
            </a:r>
            <a:endParaRPr b="1"/>
          </a:p>
        </p:txBody>
      </p:sp>
      <p:sp>
        <p:nvSpPr>
          <p:cNvPr id="553" name="Google Shape;553;p93"/>
          <p:cNvSpPr txBox="1">
            <a:spLocks noGrp="1"/>
          </p:cNvSpPr>
          <p:nvPr>
            <p:ph type="body" idx="1"/>
          </p:nvPr>
        </p:nvSpPr>
        <p:spPr>
          <a:xfrm>
            <a:off x="1228400" y="1577533"/>
            <a:ext cx="102624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Mixed-Precision Training: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Uses </a:t>
            </a:r>
            <a:r>
              <a:rPr lang="en-GB" b="1" dirty="0">
                <a:solidFill>
                  <a:schemeClr val="dk1"/>
                </a:solidFill>
              </a:rPr>
              <a:t>both 16-bit (float16)</a:t>
            </a:r>
            <a:r>
              <a:rPr lang="en-GB" dirty="0">
                <a:solidFill>
                  <a:schemeClr val="dk1"/>
                </a:solidFill>
              </a:rPr>
              <a:t> and </a:t>
            </a:r>
            <a:r>
              <a:rPr lang="en-GB" b="1" dirty="0">
                <a:solidFill>
                  <a:schemeClr val="dk1"/>
                </a:solidFill>
              </a:rPr>
              <a:t>32-bit (float32)</a:t>
            </a:r>
            <a:r>
              <a:rPr lang="en-GB" dirty="0">
                <a:solidFill>
                  <a:schemeClr val="dk1"/>
                </a:solidFill>
              </a:rPr>
              <a:t> representations during training.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Most computations are done in float16, but some (like loss scaling) stay in float32 to maintain accuracy.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Faster computation (due to lower precision).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Reduced memory usage (enabling larger batch sizes or models).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Supported by modern GPUs (e.g., NVIDIA Tensor Cores).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Challenges: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Needs careful handling to avoid loss of numerical stability (e.g., underflow in gradients).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Often requires </a:t>
            </a:r>
            <a:r>
              <a:rPr lang="en-GB" b="1" dirty="0">
                <a:solidFill>
                  <a:schemeClr val="dk1"/>
                </a:solidFill>
              </a:rPr>
              <a:t>loss scaling</a:t>
            </a:r>
            <a:r>
              <a:rPr lang="en-GB" dirty="0">
                <a:solidFill>
                  <a:schemeClr val="dk1"/>
                </a:solidFill>
              </a:rPr>
              <a:t> to stabilize training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4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Mixed-Precision Training</a:t>
            </a:r>
            <a:endParaRPr b="1"/>
          </a:p>
        </p:txBody>
      </p:sp>
      <p:sp>
        <p:nvSpPr>
          <p:cNvPr id="559" name="Google Shape;559;p94"/>
          <p:cNvSpPr txBox="1">
            <a:spLocks noGrp="1"/>
          </p:cNvSpPr>
          <p:nvPr>
            <p:ph type="body" idx="1"/>
          </p:nvPr>
        </p:nvSpPr>
        <p:spPr>
          <a:xfrm>
            <a:off x="618800" y="1536633"/>
            <a:ext cx="5790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initialize model θ in float32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convert layers to use float16 where safe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for each batch: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forward pass (mostly in float16)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compute loss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scale loss to prevent underflow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backward pass (gradients in float16)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unscale gradients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update model weights in float32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560" name="Google Shape;560;p94"/>
          <p:cNvSpPr txBox="1"/>
          <p:nvPr/>
        </p:nvSpPr>
        <p:spPr>
          <a:xfrm>
            <a:off x="5892800" y="1435033"/>
            <a:ext cx="5449200" cy="454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600" dirty="0">
                <a:solidFill>
                  <a:schemeClr val="dk1"/>
                </a:solidFill>
              </a:rPr>
              <a:t>Use </a:t>
            </a:r>
            <a:r>
              <a:rPr lang="en-GB" sz="16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float16</a:t>
            </a:r>
            <a:r>
              <a:rPr lang="en-GB" sz="1600" dirty="0">
                <a:solidFill>
                  <a:schemeClr val="dk1"/>
                </a:solidFill>
              </a:rPr>
              <a:t> for most operations and </a:t>
            </a:r>
            <a:r>
              <a:rPr lang="en-GB" sz="16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float32</a:t>
            </a:r>
            <a:r>
              <a:rPr lang="en-GB" sz="1600" dirty="0">
                <a:solidFill>
                  <a:schemeClr val="dk1"/>
                </a:solidFill>
              </a:rPr>
              <a:t> for critical ones (like weight updates).</a:t>
            </a:r>
            <a:endParaRPr sz="16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Working:</a:t>
            </a:r>
            <a:endParaRPr sz="1600"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Speeds up training and reduces memory usage by using half-precision (float16).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Sensitive operations like weight updates are still done in float32 to preserve accuracy.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Gradients are scaled to prevent underflow (very small numbers turning to zero).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After computing gradients in float16, they’re converted back to float32 for the update.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Popular in NVIDIA Tensor Cores and frameworks like Apex (</a:t>
            </a:r>
            <a:r>
              <a:rPr lang="en-GB" sz="1600" dirty="0" err="1">
                <a:solidFill>
                  <a:schemeClr val="dk1"/>
                </a:solidFill>
              </a:rPr>
              <a:t>PyTorch</a:t>
            </a:r>
            <a:r>
              <a:rPr lang="en-GB" sz="1600" dirty="0">
                <a:solidFill>
                  <a:schemeClr val="dk1"/>
                </a:solidFill>
              </a:rPr>
              <a:t>) or TensorFlow’s mixed precision API.</a:t>
            </a:r>
            <a:endParaRPr sz="16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5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Pipeline Parallelism</a:t>
            </a:r>
            <a:endParaRPr b="1"/>
          </a:p>
        </p:txBody>
      </p:sp>
      <p:sp>
        <p:nvSpPr>
          <p:cNvPr id="566" name="Google Shape;566;p95"/>
          <p:cNvSpPr txBox="1">
            <a:spLocks noGrp="1"/>
          </p:cNvSpPr>
          <p:nvPr>
            <p:ph type="body" idx="1"/>
          </p:nvPr>
        </p:nvSpPr>
        <p:spPr>
          <a:xfrm>
            <a:off x="1000967" y="1577533"/>
            <a:ext cx="10591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Pipeline Parallelism: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Model is </a:t>
            </a:r>
            <a:r>
              <a:rPr lang="en-GB" b="1" dirty="0">
                <a:solidFill>
                  <a:schemeClr val="dk1"/>
                </a:solidFill>
              </a:rPr>
              <a:t>divided into sequential stages</a:t>
            </a:r>
            <a:r>
              <a:rPr lang="en-GB" dirty="0">
                <a:solidFill>
                  <a:schemeClr val="dk1"/>
                </a:solidFill>
              </a:rPr>
              <a:t>, and each stage is assigned to a different device.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Training is done in a </a:t>
            </a:r>
            <a:r>
              <a:rPr lang="en-GB" b="1" dirty="0">
                <a:solidFill>
                  <a:schemeClr val="dk1"/>
                </a:solidFill>
              </a:rPr>
              <a:t>pipelined manner</a:t>
            </a:r>
            <a:r>
              <a:rPr lang="en-GB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lvl="2" indent="-397923" algn="l" rtl="0">
              <a:buClr>
                <a:schemeClr val="dk1"/>
              </a:buClr>
              <a:buSzPts val="1100"/>
            </a:pPr>
            <a:r>
              <a:rPr lang="en-GB" dirty="0">
                <a:solidFill>
                  <a:schemeClr val="dk1"/>
                </a:solidFill>
              </a:rPr>
              <a:t>While one stage is processing forward pass for batch N, another can be doing backprop for batch N–1.</a:t>
            </a:r>
            <a:endParaRPr b="1"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Improves hardware utilization.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Works well for large models.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Challenges: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Difficult to balance workload among stages.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Pipeline bubbles (idle time between stages) can reduce efficiency.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Requires scheduling and buffering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6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Pipeline Parallelism</a:t>
            </a:r>
            <a:endParaRPr b="1"/>
          </a:p>
        </p:txBody>
      </p:sp>
      <p:sp>
        <p:nvSpPr>
          <p:cNvPr id="572" name="Google Shape;572;p96"/>
          <p:cNvSpPr txBox="1">
            <a:spLocks noGrp="1"/>
          </p:cNvSpPr>
          <p:nvPr>
            <p:ph type="body" idx="1"/>
          </p:nvPr>
        </p:nvSpPr>
        <p:spPr>
          <a:xfrm>
            <a:off x="618800" y="1536633"/>
            <a:ext cx="5790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# Suppose model is split into 4 pipeline stages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pipeline_schedule = queue()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for each microbatch in batch: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stage_0.forward(microbatch) → queue for stage_1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stage_1.forward(microbatch) → queue for stage_2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stage_2.forward(microbatch) → queue for stage_3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stage_3.forward(microbatch) → compute loss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# Backward in reverse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stage_3.backward()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stage_2.backward()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stage_1.backward()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r>
              <a:rPr lang="en-GB" sz="1467">
                <a:solidFill>
                  <a:schemeClr val="dk1"/>
                </a:solidFill>
                <a:ea typeface="Comic Sans MS"/>
                <a:sym typeface="Comic Sans MS"/>
              </a:rPr>
              <a:t>    stage_0.backward()</a:t>
            </a: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  <a:p>
            <a:pPr marL="0" indent="0" algn="l" rtl="0">
              <a:buNone/>
            </a:pPr>
            <a:endParaRPr sz="1467">
              <a:solidFill>
                <a:schemeClr val="dk1"/>
              </a:solidFill>
              <a:ea typeface="Comic Sans MS"/>
              <a:sym typeface="Comic Sans MS"/>
            </a:endParaRPr>
          </a:p>
        </p:txBody>
      </p:sp>
      <p:sp>
        <p:nvSpPr>
          <p:cNvPr id="573" name="Google Shape;573;p96"/>
          <p:cNvSpPr txBox="1"/>
          <p:nvPr/>
        </p:nvSpPr>
        <p:spPr>
          <a:xfrm>
            <a:off x="6096000" y="1435034"/>
            <a:ext cx="5449200" cy="482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600" dirty="0">
                <a:solidFill>
                  <a:schemeClr val="dk1"/>
                </a:solidFill>
              </a:rPr>
              <a:t>Split the input batch into micro-batches and process them in a pipelined fashion across stages of the model on different devices.</a:t>
            </a:r>
            <a:endParaRPr sz="16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600" b="1" dirty="0">
                <a:solidFill>
                  <a:schemeClr val="dk1"/>
                </a:solidFill>
              </a:rPr>
              <a:t>Working:</a:t>
            </a:r>
            <a:endParaRPr sz="1600"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The model is divided into stages, each running on a separate GPU.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Instead of processing one big batch, it is split into micro-batches.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While GPU 1 is working on micro-batch 2, GPU 2 can work on micro-batch 1 — maximizing hardware usage.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Forward and backward passes are pipelined, reducing idle time on GPUs.</a:t>
            </a:r>
            <a:endParaRPr sz="1600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❖"/>
            </a:pPr>
            <a:r>
              <a:rPr lang="en-GB" sz="1600" dirty="0">
                <a:solidFill>
                  <a:schemeClr val="dk1"/>
                </a:solidFill>
              </a:rPr>
              <a:t>Requires a scheduler to manage micro-batch flow and synchronization.</a:t>
            </a:r>
            <a:endParaRPr sz="16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7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Distributed Training Frameworks (e.g., Distributed TensorFlow)</a:t>
            </a:r>
            <a:endParaRPr b="1"/>
          </a:p>
        </p:txBody>
      </p:sp>
      <p:sp>
        <p:nvSpPr>
          <p:cNvPr id="579" name="Google Shape;579;p97"/>
          <p:cNvSpPr txBox="1">
            <a:spLocks noGrp="1"/>
          </p:cNvSpPr>
          <p:nvPr>
            <p:ph type="body" idx="1"/>
          </p:nvPr>
        </p:nvSpPr>
        <p:spPr>
          <a:xfrm>
            <a:off x="1061867" y="2186233"/>
            <a:ext cx="10591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Distributed TensorFlow: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Enables training CNNs across </a:t>
            </a:r>
            <a:r>
              <a:rPr lang="en-GB" b="1" dirty="0">
                <a:solidFill>
                  <a:schemeClr val="dk1"/>
                </a:solidFill>
              </a:rPr>
              <a:t>multiple machines and GPUs</a:t>
            </a:r>
            <a:r>
              <a:rPr lang="en-GB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Supports both </a:t>
            </a:r>
            <a:r>
              <a:rPr lang="en-GB" b="1" dirty="0">
                <a:solidFill>
                  <a:schemeClr val="dk1"/>
                </a:solidFill>
              </a:rPr>
              <a:t>data parallelism</a:t>
            </a:r>
            <a:r>
              <a:rPr lang="en-GB" dirty="0">
                <a:solidFill>
                  <a:schemeClr val="dk1"/>
                </a:solidFill>
              </a:rPr>
              <a:t> and </a:t>
            </a:r>
            <a:r>
              <a:rPr lang="en-GB" b="1" dirty="0">
                <a:solidFill>
                  <a:schemeClr val="dk1"/>
                </a:solidFill>
              </a:rPr>
              <a:t>model parallelism</a:t>
            </a:r>
            <a:r>
              <a:rPr lang="en-GB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Uses </a:t>
            </a:r>
            <a:r>
              <a:rPr lang="en-GB" b="1" dirty="0" err="1">
                <a:solidFill>
                  <a:schemeClr val="dk1"/>
                </a:solidFill>
              </a:rPr>
              <a:t>tf.distribute.Strategy</a:t>
            </a:r>
            <a:r>
              <a:rPr lang="en-GB" dirty="0">
                <a:solidFill>
                  <a:schemeClr val="dk1"/>
                </a:solidFill>
              </a:rPr>
              <a:t> to manage distributed execution.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Key strategies: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 err="1">
                <a:solidFill>
                  <a:schemeClr val="dk1"/>
                </a:solidFill>
              </a:rPr>
              <a:t>MirroredStrategy</a:t>
            </a:r>
            <a:r>
              <a:rPr lang="en-GB" dirty="0">
                <a:solidFill>
                  <a:schemeClr val="dk1"/>
                </a:solidFill>
              </a:rPr>
              <a:t>: For multi-GPU on a single machine.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 err="1">
                <a:solidFill>
                  <a:schemeClr val="dk1"/>
                </a:solidFill>
              </a:rPr>
              <a:t>MultiWorkerMirroredStrategy</a:t>
            </a:r>
            <a:r>
              <a:rPr lang="en-GB" dirty="0">
                <a:solidFill>
                  <a:schemeClr val="dk1"/>
                </a:solidFill>
              </a:rPr>
              <a:t>: For multi-GPU across multiple machines.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 err="1">
                <a:solidFill>
                  <a:schemeClr val="dk1"/>
                </a:solidFill>
              </a:rPr>
              <a:t>TPUStrategy</a:t>
            </a:r>
            <a:r>
              <a:rPr lang="en-GB" dirty="0">
                <a:solidFill>
                  <a:schemeClr val="dk1"/>
                </a:solidFill>
              </a:rPr>
              <a:t>: For TPU-based training.</a:t>
            </a:r>
            <a:br>
              <a:rPr lang="en-GB" dirty="0">
                <a:solidFill>
                  <a:schemeClr val="dk1"/>
                </a:solidFill>
              </a:rPr>
            </a:b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98"/>
          <p:cNvSpPr txBox="1">
            <a:spLocks noGrp="1"/>
          </p:cNvSpPr>
          <p:nvPr>
            <p:ph type="title"/>
          </p:nvPr>
        </p:nvSpPr>
        <p:spPr>
          <a:xfrm>
            <a:off x="640867" y="593367"/>
            <a:ext cx="10729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algn="l" rtl="0"/>
            <a:r>
              <a:rPr lang="en-GB" b="1"/>
              <a:t>Distributed Training Frameworks (e.g., Distributed TensorFlow)</a:t>
            </a:r>
            <a:endParaRPr b="1"/>
          </a:p>
        </p:txBody>
      </p:sp>
      <p:sp>
        <p:nvSpPr>
          <p:cNvPr id="585" name="Google Shape;585;p98"/>
          <p:cNvSpPr txBox="1">
            <a:spLocks noGrp="1"/>
          </p:cNvSpPr>
          <p:nvPr>
            <p:ph type="body" idx="1"/>
          </p:nvPr>
        </p:nvSpPr>
        <p:spPr>
          <a:xfrm>
            <a:off x="1061867" y="2186233"/>
            <a:ext cx="10591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397923" algn="l" rtl="0">
              <a:lnSpc>
                <a:spcPct val="150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Key components: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Parameter Servers</a:t>
            </a:r>
            <a:r>
              <a:rPr lang="en-GB" dirty="0">
                <a:solidFill>
                  <a:schemeClr val="dk1"/>
                </a:solidFill>
              </a:rPr>
              <a:t>: Store and update model parameters centrally.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b="1" dirty="0">
                <a:solidFill>
                  <a:schemeClr val="dk1"/>
                </a:solidFill>
              </a:rPr>
              <a:t>Workers</a:t>
            </a:r>
            <a:r>
              <a:rPr lang="en-GB" dirty="0">
                <a:solidFill>
                  <a:schemeClr val="dk1"/>
                </a:solidFill>
              </a:rPr>
              <a:t>: Perform forward and backward passes.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Advantages: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Built-in support for fault tolerance, checkpointing, and gradient synchronization.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Scales to large clusters.</a:t>
            </a:r>
            <a:endParaRPr dirty="0">
              <a:solidFill>
                <a:schemeClr val="dk1"/>
              </a:solidFill>
            </a:endParaRPr>
          </a:p>
          <a:p>
            <a:pPr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❖"/>
            </a:pPr>
            <a:r>
              <a:rPr lang="en-GB" sz="1800" b="1" dirty="0">
                <a:solidFill>
                  <a:schemeClr val="dk1"/>
                </a:solidFill>
              </a:rPr>
              <a:t>Challenges:</a:t>
            </a:r>
            <a:endParaRPr sz="1800" b="1"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Requires proper cluster configuration and network setup.</a:t>
            </a:r>
            <a:endParaRPr dirty="0">
              <a:solidFill>
                <a:schemeClr val="dk1"/>
              </a:solidFill>
            </a:endParaRPr>
          </a:p>
          <a:p>
            <a:pPr lvl="1" indent="-397923" algn="l" rtl="0">
              <a:lnSpc>
                <a:spcPct val="150000"/>
              </a:lnSpc>
              <a:buClr>
                <a:schemeClr val="dk1"/>
              </a:buClr>
              <a:buSzPts val="1100"/>
              <a:buChar char="➢"/>
            </a:pPr>
            <a:r>
              <a:rPr lang="en-GB" dirty="0">
                <a:solidFill>
                  <a:schemeClr val="dk1"/>
                </a:solidFill>
              </a:rPr>
              <a:t>Debugging and performance tuning can be more complex than single-machine training</a:t>
            </a: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8163</Words>
  <Application>Microsoft Office PowerPoint</Application>
  <PresentationFormat>Widescreen</PresentationFormat>
  <Paragraphs>1177</Paragraphs>
  <Slides>87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4" baseType="lpstr">
      <vt:lpstr>Aptos</vt:lpstr>
      <vt:lpstr>Arial</vt:lpstr>
      <vt:lpstr>Arial MT</vt:lpstr>
      <vt:lpstr>Calibri</vt:lpstr>
      <vt:lpstr>Comic Sans MS</vt:lpstr>
      <vt:lpstr>Roboto Mono</vt:lpstr>
      <vt:lpstr>Office Theme</vt:lpstr>
      <vt:lpstr>PowerPoint Presentation</vt:lpstr>
      <vt:lpstr>AIML CLZG516  ML System Optimization</vt:lpstr>
      <vt:lpstr>Multicore CPUs and GPGPU: An Overview</vt:lpstr>
      <vt:lpstr>SIMD – Single Instruction, Multiple Data</vt:lpstr>
      <vt:lpstr>MIMD – Multiple Instruction, Multiple Data</vt:lpstr>
      <vt:lpstr>SIMD vs. MIMD – Key Differences</vt:lpstr>
      <vt:lpstr>Challenges in SIMD &amp; MIMD Execution</vt:lpstr>
      <vt:lpstr>Memory Hierarchy in Multicore &amp; GPGPU</vt:lpstr>
      <vt:lpstr>Memory Bandwidth Considerations</vt:lpstr>
      <vt:lpstr>Optimizing Memory Performance</vt:lpstr>
      <vt:lpstr>Real-World Applications</vt:lpstr>
      <vt:lpstr>AIML CLZG516  ML System Optimization</vt:lpstr>
      <vt:lpstr>Introduction to Distributed Clusters</vt:lpstr>
      <vt:lpstr>CPU-only Clusters</vt:lpstr>
      <vt:lpstr>GPU-Accelerated Clusters</vt:lpstr>
      <vt:lpstr>CPU-only vs GPU-Accelerated Clusters</vt:lpstr>
      <vt:lpstr>What is Data Sharding? </vt:lpstr>
      <vt:lpstr>Horizontal Sharding</vt:lpstr>
      <vt:lpstr>Vertical Sharding</vt:lpstr>
      <vt:lpstr>When to Use Which Sharding?</vt:lpstr>
      <vt:lpstr>Parameter Server Paradigm</vt:lpstr>
      <vt:lpstr>All-Reduce Paradigm</vt:lpstr>
      <vt:lpstr>Parameter Server vs. All-Reduce Comparison</vt:lpstr>
      <vt:lpstr>Real-World Use Cases</vt:lpstr>
      <vt:lpstr>AIML CLZG516  ML System Optimization</vt:lpstr>
      <vt:lpstr>Introduction to Decision Trees</vt:lpstr>
      <vt:lpstr>Introduction to Random Forests</vt:lpstr>
      <vt:lpstr>Need for Distributed Training</vt:lpstr>
      <vt:lpstr>Distributed Training – Two Main Approaches</vt:lpstr>
      <vt:lpstr>Spark MLlib – Decision Trees and Random Forests </vt:lpstr>
      <vt:lpstr>Distributed Decision Tree (e.g., Spark MLlib)</vt:lpstr>
      <vt:lpstr>Distributed Random Forest</vt:lpstr>
      <vt:lpstr>Spark MLlib: Working Mechanism</vt:lpstr>
      <vt:lpstr>XGBoost – Overview </vt:lpstr>
      <vt:lpstr>XGBoost’s Distributed GPU Mode</vt:lpstr>
      <vt:lpstr>XGBoost (Distributed GPU-based Gradient Boosted Trees)</vt:lpstr>
      <vt:lpstr>XGBoost GPU Mode </vt:lpstr>
      <vt:lpstr>Spark MLlib vs XGBoost (GPU Mode)</vt:lpstr>
      <vt:lpstr>AIML CLZG516  ML System Optimization</vt:lpstr>
      <vt:lpstr>Support Vector Machines (SVM)</vt:lpstr>
      <vt:lpstr>Need for Parallelism</vt:lpstr>
      <vt:lpstr>Block-wise Kernel Computation</vt:lpstr>
      <vt:lpstr>MapReduce-Style Kernel Computation</vt:lpstr>
      <vt:lpstr>Tools &amp; Frameworks Supporting Parallel SVM</vt:lpstr>
      <vt:lpstr>AIML CLZG516  ML System Optimization</vt:lpstr>
      <vt:lpstr>Overview of k-NN Algorithm</vt:lpstr>
      <vt:lpstr>Data Partitioning</vt:lpstr>
      <vt:lpstr>Locality-Sensitive Hashing (LSH)</vt:lpstr>
      <vt:lpstr>Locality-Sensitive Hashing (LSH) for Approximate k-NN</vt:lpstr>
      <vt:lpstr>Distributed Indexing Structures</vt:lpstr>
      <vt:lpstr>KD-Tree-Based k-NN</vt:lpstr>
      <vt:lpstr>Distributed Indexing Structures</vt:lpstr>
      <vt:lpstr>Basic Brute-Force k-NN (Single Machine)</vt:lpstr>
      <vt:lpstr>MapReduce-Style Brute-Force k-NN (Distributed)</vt:lpstr>
      <vt:lpstr>Distributed k-NN with LSH + MapReduce</vt:lpstr>
      <vt:lpstr>Trade-offs: Accuracy vs. Latency</vt:lpstr>
      <vt:lpstr>AIML CLZG516  ML System Optimization</vt:lpstr>
      <vt:lpstr>Gradient Descent Overview</vt:lpstr>
      <vt:lpstr>Types of Gradient Descent</vt:lpstr>
      <vt:lpstr>Synchronous SGD</vt:lpstr>
      <vt:lpstr>Asynchronous SGD</vt:lpstr>
      <vt:lpstr>Mini-batch Gradient Descent</vt:lpstr>
      <vt:lpstr>Synchronous SGD (Distributed)</vt:lpstr>
      <vt:lpstr>Asynchronous SGD (Distributed)</vt:lpstr>
      <vt:lpstr>Gradient Descent Variants</vt:lpstr>
      <vt:lpstr>Mini-batch vs Synchronous vs Asynchronous SGD</vt:lpstr>
      <vt:lpstr>AIML CLZG516  ML System Optimization</vt:lpstr>
      <vt:lpstr>Lloyd’s Algorithm in MapReduce</vt:lpstr>
      <vt:lpstr>Lloyd’s Algorithm in MapReduce (Distributed k-Means)</vt:lpstr>
      <vt:lpstr>Mini-batch k-Means </vt:lpstr>
      <vt:lpstr>Mini-batch k-Means</vt:lpstr>
      <vt:lpstr>Streaming Variants</vt:lpstr>
      <vt:lpstr>Streaming k-Means</vt:lpstr>
      <vt:lpstr>Convergence Criteria</vt:lpstr>
      <vt:lpstr>Communication Reduction</vt:lpstr>
      <vt:lpstr>Communication Reduction (Compressing Updates) in Distributed k-Means</vt:lpstr>
      <vt:lpstr>AIML CLZG516  ML System Optimization</vt:lpstr>
      <vt:lpstr>Data Parallelism in CNNs</vt:lpstr>
      <vt:lpstr>Data Parallelism</vt:lpstr>
      <vt:lpstr>Model Parallelism in CNNs</vt:lpstr>
      <vt:lpstr>Model Parallelism (Layer Splitting Example)</vt:lpstr>
      <vt:lpstr>Mixed-Precision</vt:lpstr>
      <vt:lpstr>Mixed-Precision Training</vt:lpstr>
      <vt:lpstr>Pipeline Parallelism</vt:lpstr>
      <vt:lpstr>Pipeline Parallelism</vt:lpstr>
      <vt:lpstr>Distributed Training Frameworks (e.g., Distributed TensorFlow)</vt:lpstr>
      <vt:lpstr>Distributed Training Frameworks (e.g., Distributed TensorFlow)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Shan Balasubramaniam</dc:creator>
  <cp:lastModifiedBy>lenovo</cp:lastModifiedBy>
  <cp:revision>9</cp:revision>
  <dcterms:created xsi:type="dcterms:W3CDTF">2024-11-18T10:17:47Z</dcterms:created>
  <dcterms:modified xsi:type="dcterms:W3CDTF">2025-06-05T06:19:18Z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2024-11-18T00:00:00Z</vt:filetime>
  </property>
</Properties>
</file>