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1"/>
  </p:notesMasterIdLst>
  <p:sldIdLst>
    <p:sldId id="266" r:id="rId2"/>
    <p:sldId id="298" r:id="rId3"/>
    <p:sldId id="313" r:id="rId4"/>
    <p:sldId id="314" r:id="rId5"/>
    <p:sldId id="315" r:id="rId6"/>
    <p:sldId id="316" r:id="rId7"/>
    <p:sldId id="311" r:id="rId8"/>
    <p:sldId id="302" r:id="rId9"/>
    <p:sldId id="303" r:id="rId10"/>
    <p:sldId id="304" r:id="rId11"/>
    <p:sldId id="308" r:id="rId12"/>
    <p:sldId id="309" r:id="rId13"/>
    <p:sldId id="317" r:id="rId14"/>
    <p:sldId id="318" r:id="rId15"/>
    <p:sldId id="321" r:id="rId16"/>
    <p:sldId id="319" r:id="rId17"/>
    <p:sldId id="320" r:id="rId18"/>
    <p:sldId id="296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D71"/>
    <a:srgbClr val="1E2F64"/>
    <a:srgbClr val="1C1573"/>
    <a:srgbClr val="000099"/>
    <a:srgbClr val="150860"/>
    <a:srgbClr val="283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5000" autoAdjust="0"/>
  </p:normalViewPr>
  <p:slideViewPr>
    <p:cSldViewPr>
      <p:cViewPr varScale="1">
        <p:scale>
          <a:sx n="50" d="100"/>
          <a:sy n="50" d="100"/>
        </p:scale>
        <p:origin x="192" y="8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ACF0-FF93-4A02-8BB6-962CA1772BF4}" type="datetimeFigureOut">
              <a:rPr lang="en-US" smtClean="0"/>
              <a:t>6/9/25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2C52D-51E9-4442-B6B5-8D6A287473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454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2C52D-51E9-4442-B6B5-8D6A2874739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29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2C52D-51E9-4442-B6B5-8D6A2874739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57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2C52D-51E9-4442-B6B5-8D6A2874739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4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D7A002-F00F-42E0-BB64-4003DD1547BB}" type="slidenum">
              <a:rPr lang="en-US" altLang="en-US"/>
              <a:pPr/>
              <a:t>18</a:t>
            </a:fld>
            <a:endParaRPr lang="en-US" alt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5699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D7A002-F00F-42E0-BB64-4003DD1547BB}" type="slidenum">
              <a:rPr lang="en-US" altLang="en-US"/>
              <a:pPr/>
              <a:t>19</a:t>
            </a:fld>
            <a:endParaRPr lang="en-US" alt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5180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9347200" y="6492876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49AB6AE-DC6C-4C19-AD98-A8BE141DCE9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sz="14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3695733" y="6307676"/>
            <a:ext cx="4896544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</a:rPr>
              <a:t>Data Mining</a:t>
            </a:r>
            <a:endParaRPr lang="en-US" sz="1400" dirty="0">
              <a:solidFill>
                <a:prstClr val="black">
                  <a:tint val="75000"/>
                </a:prstClr>
              </a:solidFill>
              <a:latin typeface="Calibri"/>
              <a:ea typeface="+mn-ea"/>
            </a:endParaRPr>
          </a:p>
        </p:txBody>
      </p:sp>
      <p:pic>
        <p:nvPicPr>
          <p:cNvPr id="10" name="Picture 9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solidFill>
                  <a:prstClr val="white"/>
                </a:solidFill>
              </a:endParaRPr>
            </a:p>
          </p:txBody>
        </p:sp>
      </p:grpSp>
      <p:sp>
        <p:nvSpPr>
          <p:cNvPr id="15" name="TextBox 14"/>
          <p:cNvSpPr txBox="1">
            <a:spLocks noChangeArrowheads="1"/>
          </p:cNvSpPr>
          <p:nvPr userDrawn="1"/>
        </p:nvSpPr>
        <p:spPr bwMode="auto">
          <a:xfrm>
            <a:off x="4368800" y="6623448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ea typeface="+mn-ea"/>
              </a:rPr>
              <a:t>BITS </a:t>
            </a:r>
            <a:r>
              <a:rPr lang="en-US" sz="1100" dirty="0" err="1">
                <a:solidFill>
                  <a:srgbClr val="101141"/>
                </a:solidFill>
                <a:ea typeface="+mn-ea"/>
              </a:rPr>
              <a:t>Pilani</a:t>
            </a:r>
            <a:r>
              <a:rPr lang="en-US" sz="1100" dirty="0">
                <a:solidFill>
                  <a:srgbClr val="101141"/>
                </a:solidFill>
                <a:ea typeface="+mn-ea"/>
              </a:rPr>
              <a:t>, Deemed to be University under Section 3 of UGC Act, 1956</a:t>
            </a:r>
          </a:p>
        </p:txBody>
      </p:sp>
      <p:grpSp>
        <p:nvGrpSpPr>
          <p:cNvPr id="16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715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  <p:sldLayoutId id="214748374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Neural Language Model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Radhika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Guest Faculty (GF-1973)</a:t>
            </a:r>
          </a:p>
          <a:p>
            <a:r>
              <a:rPr lang="en-US" dirty="0"/>
              <a:t>Birla Institute of Technology &amp; Science, </a:t>
            </a:r>
            <a:r>
              <a:rPr lang="en-US" dirty="0" err="1"/>
              <a:t>Pilani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10572261" cy="4571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Neural Language Models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Feedforward Neural Network Basics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Transformers for beginners - What are they and how do they work?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Inside the Transformer Architecture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Summary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Demo Session</a:t>
            </a:r>
            <a:endParaRPr lang="en-IN" sz="2800" dirty="0">
              <a:solidFill>
                <a:srgbClr val="0070C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98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58032-0D5B-1BD5-236A-BDB43C28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AA7C8-E1E4-D425-2FDE-15B889152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10572261" cy="45719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IN" sz="2800" dirty="0">
              <a:solidFill>
                <a:srgbClr val="0070C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770E8B-9409-727F-7DC9-5ACDA38D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Feedforward Neural Network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5FD5C-CC42-C63E-545D-AE5C986D9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38" y="1371600"/>
            <a:ext cx="9048261" cy="419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0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CBBC9-A96C-DD2D-03EE-D2F20E009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A7B6712-D880-5F1C-F051-A9B7A6B27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528574-45AC-1AEC-E974-9C2F04431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latin typeface="+mj-lt"/>
                <a:ea typeface="+mj-ea"/>
                <a:cs typeface="+mj-cs"/>
              </a:rPr>
              <a:t>Neural Language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BDF53-0A5E-0158-FFDE-A6BDF1F74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7" y="1500379"/>
            <a:ext cx="10102003" cy="491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0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3F091-1DAE-DEB2-1924-58B93A93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FA7D31B-B9DE-134B-037A-D1A51E577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90C504-DDBB-80D5-53EA-F944B902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latin typeface="+mj-lt"/>
                <a:ea typeface="+mj-ea"/>
                <a:cs typeface="+mj-cs"/>
              </a:rPr>
              <a:t>Neural Language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5F76C9-6C13-A580-BE32-C3054B7C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0"/>
            <a:ext cx="10983858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1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83DCB-41CE-2E90-E611-4CA792F6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1C3817-5770-7ECD-CCEB-EF910BD4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D82877-74A2-6272-81BE-4CD55654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latin typeface="+mj-lt"/>
                <a:ea typeface="+mj-ea"/>
                <a:cs typeface="+mj-cs"/>
              </a:rPr>
              <a:t>Neural Language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DEA64-D48B-5151-BC63-08D6169746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17" b="32858"/>
          <a:stretch/>
        </p:blipFill>
        <p:spPr>
          <a:xfrm>
            <a:off x="526827" y="2341161"/>
            <a:ext cx="1032374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6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D6A3A-AF60-CBFB-B15D-2531341C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6C790B-519A-F073-09BD-8FF16DE8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latin typeface="+mj-lt"/>
                <a:ea typeface="+mj-ea"/>
                <a:cs typeface="+mj-cs"/>
              </a:rPr>
              <a:t>Neural Language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A5B6D-AAF3-ACFF-C683-C15143A2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883" y="1675227"/>
            <a:ext cx="833023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74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10572261" cy="45719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The Rise of Transformers in NLP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Inside the Transformer Architecture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Key Ideas in Transformer Architecture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Multi-Headed Attention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Understanding Multi-Headed Attention in Transformers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Positional Encoding: A Solution to Word Order Ambiguity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Bringing It All Together: How Transformers Operate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Final Thoughts on Transformers: Simplicity in Complexity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IN" sz="2800" dirty="0">
              <a:solidFill>
                <a:srgbClr val="0070C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Transformers for beginners - What are they and how do they work ?</a:t>
            </a:r>
          </a:p>
        </p:txBody>
      </p:sp>
    </p:spTree>
    <p:extLst>
      <p:ext uri="{BB962C8B-B14F-4D97-AF65-F5344CB8AC3E}">
        <p14:creationId xmlns:p14="http://schemas.microsoft.com/office/powerpoint/2010/main" val="1544519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4AE314-E2CE-4731-8997-4AFB41014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633" y="1212912"/>
            <a:ext cx="6614733" cy="443217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Inside the Transformer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59368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10572261" cy="457199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Input Embedding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Positional Encoding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Multi-Head Attention: Query, Key-Value, Attention, Weighted Sum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Add &amp; Norm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Feed Forward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Output Embedding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70C0"/>
                </a:solidFill>
              </a:rPr>
              <a:t>SoftMax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IN" sz="2800" dirty="0">
              <a:solidFill>
                <a:srgbClr val="0070C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Inside the Transformer Architecture…</a:t>
            </a:r>
          </a:p>
        </p:txBody>
      </p:sp>
    </p:spTree>
    <p:extLst>
      <p:ext uri="{BB962C8B-B14F-4D97-AF65-F5344CB8AC3E}">
        <p14:creationId xmlns:p14="http://schemas.microsoft.com/office/powerpoint/2010/main" val="787234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371600"/>
            <a:ext cx="11506200" cy="51816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CA" dirty="0">
                <a:solidFill>
                  <a:srgbClr val="000000"/>
                </a:solidFill>
              </a:rPr>
              <a:t>T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he Transformer will act primarily as a </a:t>
            </a: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decoder-only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model, or a model where the "encoder" is implicitly handling the initial prompt. Many popular large language models (LLMs) like GPT-3, GPT-4, Llama, etc., are primarily decoder-only Transformers.</a:t>
            </a:r>
          </a:p>
          <a:p>
            <a:pPr algn="l"/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I. Input Processing (The Prompt: "The old clock tower stood silent...")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Input Embedding: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Concept: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Each word in the input prompt is converted into a numerical vector (embedding).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Example: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marL="1143000" lvl="2" indent="-22860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"The" → embedding vector for "The"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"old" → embedding vector for "old"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...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"silent" → embedding vector for "silent"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Why: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To convert human-readable text into a format the model can process.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 Transformer works in machine translation ?</a:t>
            </a:r>
          </a:p>
        </p:txBody>
      </p:sp>
    </p:spTree>
    <p:extLst>
      <p:ext uri="{BB962C8B-B14F-4D97-AF65-F5344CB8AC3E}">
        <p14:creationId xmlns:p14="http://schemas.microsoft.com/office/powerpoint/2010/main" val="2845104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371600"/>
            <a:ext cx="11506200" cy="5181600"/>
          </a:xfrm>
        </p:spPr>
        <p:txBody>
          <a:bodyPr>
            <a:noAutofit/>
          </a:bodyPr>
          <a:lstStyle/>
          <a:p>
            <a:pPr algn="l"/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Positional Encoding: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Concept: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Information about the order of words in the prompt is added to the embeddings.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Example: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The embedding for "The" gets a positional signal for position 1, "old" for position 2, and so 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Why: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To preserve the sequence and meaning of the prompt. "Clock tower old" means something different from "old clock tower."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8"/>
            <a:ext cx="9448800" cy="8300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 Transformer works in machine translation ?...</a:t>
            </a:r>
          </a:p>
        </p:txBody>
      </p:sp>
    </p:spTree>
    <p:extLst>
      <p:ext uri="{BB962C8B-B14F-4D97-AF65-F5344CB8AC3E}">
        <p14:creationId xmlns:p14="http://schemas.microsoft.com/office/powerpoint/2010/main" val="3064743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90500" y="965199"/>
            <a:ext cx="11811000" cy="51816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II. The Decoder (Generating the Story)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The decoder's primary function here is to predict the </a:t>
            </a:r>
            <a:r>
              <a:rPr lang="en-CA" b="0" i="1" u="none" strike="noStrike" dirty="0">
                <a:solidFill>
                  <a:srgbClr val="000000"/>
                </a:solidFill>
                <a:effectLst/>
              </a:rPr>
              <a:t>next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word in the sequence, based on all the words that have come before it (both the prompt and the words it has already generated). This process is repeated until a "stop" token is generated or a desired length is reached.</a:t>
            </a:r>
          </a:p>
          <a:p>
            <a:pPr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Masked Multi-Head Self-Attention: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Concept: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This is the most critical part for text generation. When the model is trying to predict the </a:t>
            </a:r>
            <a:r>
              <a:rPr lang="en-CA" b="0" i="1" u="none" strike="noStrike" dirty="0">
                <a:solidFill>
                  <a:srgbClr val="000000"/>
                </a:solidFill>
                <a:effectLst/>
              </a:rPr>
              <a:t>next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word, it looks at all the </a:t>
            </a:r>
            <a:r>
              <a:rPr lang="en-CA" b="0" i="1" u="none" strike="noStrike" dirty="0">
                <a:solidFill>
                  <a:srgbClr val="000000"/>
                </a:solidFill>
                <a:effectLst/>
              </a:rPr>
              <a:t>previous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words (the prompt + already generated words) to understand the context. The "masked" part ensures it doesn't "cheat" by looking at future words.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Example: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marL="1143000" lvl="2" indent="-22860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Initial Step (Predicting the first word after "silent"):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The model attends to "The," "old," "clock," "tower," "stood," "silent." It processes these words and their relationships.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Let's say it generates "One":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Now, for the </a:t>
            </a:r>
            <a:r>
              <a:rPr lang="en-CA" b="0" i="1" u="none" strike="noStrike" dirty="0">
                <a:solidFill>
                  <a:srgbClr val="000000"/>
                </a:solidFill>
                <a:effectLst/>
              </a:rPr>
              <a:t>next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prediction, the input to the decoder includes "The old clock tower stood silent One".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Predicting the word after "One":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The model attends to all words from "The" up to "One." It might focus on "clock tower" and "silent" to suggest something related to time or stillness.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Hypothetical Generation: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"The old clock tower stood silent. </a:t>
            </a: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One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night, a strange light flickered from its highest window."</a:t>
            </a:r>
          </a:p>
          <a:p>
            <a:pPr marL="1600200" lvl="3" indent="-22860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To generate "night," it attends to "The old clock tower stood silent. One"</a:t>
            </a:r>
          </a:p>
          <a:p>
            <a:pPr marL="1600200" lvl="3" indent="-22860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To generate "a," it attends to "...silent. One night,"</a:t>
            </a:r>
          </a:p>
          <a:p>
            <a:pPr marL="1600200" lvl="3" indent="-22860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And so 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Why: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This allows the model to understand the long-range dependencies and context within the growing story, ensuring coherence and relevance. For instance, if the story is about a clock tower, it will likely generate words related to time, gears, dust, etc.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8"/>
            <a:ext cx="9448800" cy="8300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 Transformer works in machine translation ?...</a:t>
            </a:r>
          </a:p>
        </p:txBody>
      </p:sp>
    </p:spTree>
    <p:extLst>
      <p:ext uri="{BB962C8B-B14F-4D97-AF65-F5344CB8AC3E}">
        <p14:creationId xmlns:p14="http://schemas.microsoft.com/office/powerpoint/2010/main" val="1329477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42900" y="999564"/>
            <a:ext cx="11506200" cy="518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b="1" dirty="0"/>
              <a:t>Feed-Forward Networks and Layer Normalization: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After the attention mechanism, the contextualized representation of each word passes through a standard feed-forward neural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Layer normalization and residual connections are used to stabilize training and improve information flow through the layers.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The decoder typically has multiple stacked layers, with the output of one feeding into the next.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8"/>
            <a:ext cx="9448800" cy="8300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 Transformer works in machine translation ?...</a:t>
            </a:r>
          </a:p>
        </p:txBody>
      </p:sp>
    </p:spTree>
    <p:extLst>
      <p:ext uri="{BB962C8B-B14F-4D97-AF65-F5344CB8AC3E}">
        <p14:creationId xmlns:p14="http://schemas.microsoft.com/office/powerpoint/2010/main" val="597649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42900" y="1219200"/>
            <a:ext cx="11506200" cy="518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b="1" dirty="0"/>
              <a:t>Output Layer (</a:t>
            </a:r>
            <a:r>
              <a:rPr lang="en-CA" b="1" dirty="0" err="1"/>
              <a:t>Softmax</a:t>
            </a:r>
            <a:r>
              <a:rPr lang="en-CA" b="1" dirty="0"/>
              <a:t>):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Concept:</a:t>
            </a:r>
            <a:r>
              <a:rPr lang="en-CA" dirty="0"/>
              <a:t> The final output of the decoder's last layer is passed through a linear layer and then a </a:t>
            </a:r>
            <a:r>
              <a:rPr lang="en-CA" dirty="0" err="1"/>
              <a:t>Softmax</a:t>
            </a:r>
            <a:r>
              <a:rPr lang="en-CA" dirty="0"/>
              <a:t> function. This function outputs a probability distribution over the entire vocabulary (all possible words the model knows).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Example:</a:t>
            </a:r>
            <a:r>
              <a:rPr lang="en-CA" dirty="0"/>
              <a:t> When the model needs to generate the word after "silent.", the </a:t>
            </a:r>
            <a:r>
              <a:rPr lang="en-CA" dirty="0" err="1"/>
              <a:t>Softmax</a:t>
            </a:r>
            <a:r>
              <a:rPr lang="en-CA" dirty="0"/>
              <a:t> layer might output probabilities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"Then": 0.15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"Suddenly": 0.12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"One": 0.20 (Highest probability chosen)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"But": 0.08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... (probabilities for all other words)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The word with the highest probability is typically selected as the next word. Sometimes, a sampling strategy (like nucleus sampling or top-k sampling) is used to introduce more creativity and less predictability.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8"/>
            <a:ext cx="9448800" cy="8300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 Transformer works in machine translation ?...</a:t>
            </a:r>
          </a:p>
        </p:txBody>
      </p:sp>
    </p:spTree>
    <p:extLst>
      <p:ext uri="{BB962C8B-B14F-4D97-AF65-F5344CB8AC3E}">
        <p14:creationId xmlns:p14="http://schemas.microsoft.com/office/powerpoint/2010/main" val="719565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371600"/>
            <a:ext cx="11506200" cy="51816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III. The Generation Process: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The process is autoregressive, meaning each generated word becomes part of the input for generating the next word.</a:t>
            </a:r>
          </a:p>
          <a:p>
            <a:pPr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Initialize: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Start with the prompt: "The old clock tower stood silent."</a:t>
            </a:r>
          </a:p>
          <a:p>
            <a:pPr algn="l">
              <a:buFont typeface="+mj-lt"/>
              <a:buAutoNum type="arabicPeriod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Loop: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Feed the current sequence (prompt + generated words) through the decoder.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The </a:t>
            </a:r>
            <a:r>
              <a:rPr lang="en-CA" b="0" i="0" u="none" strike="noStrike" dirty="0" err="1">
                <a:solidFill>
                  <a:srgbClr val="000000"/>
                </a:solidFill>
                <a:effectLst/>
              </a:rPr>
              <a:t>Softmax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 layer outputs a probability distribution for the next word.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Select the next word based on these probabilities.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Append the selected word to the sequence.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Repeat until a stopping condition is met (e.g., maximum length reached, or an "end of sequence" token is generated).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8"/>
            <a:ext cx="9448800" cy="8300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 Transformer works in machine translation ?...</a:t>
            </a:r>
          </a:p>
        </p:txBody>
      </p:sp>
    </p:spTree>
    <p:extLst>
      <p:ext uri="{BB962C8B-B14F-4D97-AF65-F5344CB8AC3E}">
        <p14:creationId xmlns:p14="http://schemas.microsoft.com/office/powerpoint/2010/main" val="2155790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371600"/>
            <a:ext cx="11506200" cy="5181600"/>
          </a:xfrm>
        </p:spPr>
        <p:txBody>
          <a:bodyPr>
            <a:noAutofit/>
          </a:bodyPr>
          <a:lstStyle/>
          <a:p>
            <a:pPr algn="l"/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Example Story Generation Flow:</a:t>
            </a:r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Prompt: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"The old clock tower stood silent."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Generate 1st word: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Model predicts "One" (Highest probability after "silent.")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Current sequence: "The old clock tower stood silent. One"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Generate 2nd word: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Model predicts "night" (after "One")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Current sequence: "The old clock tower stood silent. One night"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Generate 3rd word: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Model predicts ","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Current sequence: "The old clock tower stood silent. One night,"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Generate 4th word: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Model predicts "a"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Current sequence: "The old clock tower stood silent. One night, a"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...and so on, until a full story is formed:</a:t>
            </a:r>
          </a:p>
          <a:p>
            <a:pPr algn="l"/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Generated Output: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 "The old clock tower stood silent. </a:t>
            </a: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One night, a strange light flickered from its highest window. Whispers claimed it was the spirit of the long-lost clockmaker, finally returning to mend the broken gears of time.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"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8"/>
            <a:ext cx="9448800" cy="8300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a Transformer works in machine translation ?...</a:t>
            </a:r>
          </a:p>
        </p:txBody>
      </p:sp>
    </p:spTree>
    <p:extLst>
      <p:ext uri="{BB962C8B-B14F-4D97-AF65-F5344CB8AC3E}">
        <p14:creationId xmlns:p14="http://schemas.microsoft.com/office/powerpoint/2010/main" val="3334928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990600" y="2645326"/>
            <a:ext cx="10058400" cy="1008015"/>
          </a:xfrm>
        </p:spPr>
        <p:txBody>
          <a:bodyPr>
            <a:noAutofit/>
          </a:bodyPr>
          <a:lstStyle/>
          <a:p>
            <a:pPr marL="0" indent="0" algn="ctr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en-US" sz="4800" b="1" dirty="0">
                <a:solidFill>
                  <a:srgbClr val="C00000"/>
                </a:solidFill>
              </a:rPr>
              <a:t>DEMO Session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EC16F0D-2289-4732-BBED-27F5B052221F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75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505200" y="2645326"/>
            <a:ext cx="4953000" cy="1008015"/>
          </a:xfrm>
        </p:spPr>
        <p:txBody>
          <a:bodyPr>
            <a:noAutofit/>
          </a:bodyPr>
          <a:lstStyle/>
          <a:p>
            <a:pPr marL="0" indent="0" algn="ctr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en-US" sz="4800" b="1" dirty="0">
                <a:solidFill>
                  <a:srgbClr val="C00000"/>
                </a:solidFill>
              </a:rPr>
              <a:t>Thank you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EC16F0D-2289-4732-BBED-27F5B052221F}" type="slidenum">
              <a:rPr lang="en-US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74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10101</TotalTime>
  <Words>1258</Words>
  <Application>Microsoft Macintosh PowerPoint</Application>
  <PresentationFormat>Widescreen</PresentationFormat>
  <Paragraphs>111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Helvetica</vt:lpstr>
      <vt:lpstr>Helvetica Light</vt:lpstr>
      <vt:lpstr>Office Theme</vt:lpstr>
      <vt:lpstr>Neural Language Model</vt:lpstr>
      <vt:lpstr>Agenda</vt:lpstr>
      <vt:lpstr>Feedforward Neural Network Basics</vt:lpstr>
      <vt:lpstr>Neural Language Models</vt:lpstr>
      <vt:lpstr>Neural Language Models</vt:lpstr>
      <vt:lpstr>Neural Language Models</vt:lpstr>
      <vt:lpstr>Neural Language Models</vt:lpstr>
      <vt:lpstr>Transformers for beginners - What are they and how do they work ?</vt:lpstr>
      <vt:lpstr>Inside the Transformer Architecture</vt:lpstr>
      <vt:lpstr>Inside the Transformer Architecture…</vt:lpstr>
      <vt:lpstr>How a Transformer works in machine translation ?</vt:lpstr>
      <vt:lpstr>How a Transformer works in machine translation ?...</vt:lpstr>
      <vt:lpstr>How a Transformer works in machine translation ?...</vt:lpstr>
      <vt:lpstr>How a Transformer works in machine translation ?...</vt:lpstr>
      <vt:lpstr>How a Transformer works in machine translation ?...</vt:lpstr>
      <vt:lpstr>How a Transformer works in machine translation ?...</vt:lpstr>
      <vt:lpstr>How a Transformer works in machine translation ?...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Microsoft Office User</cp:lastModifiedBy>
  <cp:revision>260</cp:revision>
  <dcterms:created xsi:type="dcterms:W3CDTF">2018-10-16T06:13:57Z</dcterms:created>
  <dcterms:modified xsi:type="dcterms:W3CDTF">2025-06-10T12:34:03Z</dcterms:modified>
</cp:coreProperties>
</file>