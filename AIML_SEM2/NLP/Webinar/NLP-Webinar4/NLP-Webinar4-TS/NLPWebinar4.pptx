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76" r:id="rId3"/>
    <p:sldId id="257" r:id="rId4"/>
    <p:sldId id="353" r:id="rId5"/>
    <p:sldId id="331" r:id="rId6"/>
    <p:sldId id="355" r:id="rId7"/>
    <p:sldId id="356" r:id="rId8"/>
    <p:sldId id="357" r:id="rId9"/>
    <p:sldId id="344" r:id="rId10"/>
    <p:sldId id="275" r:id="rId1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08">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4" autoAdjust="0"/>
    <p:restoredTop sz="89542" autoAdjust="0"/>
  </p:normalViewPr>
  <p:slideViewPr>
    <p:cSldViewPr>
      <p:cViewPr>
        <p:scale>
          <a:sx n="73" d="100"/>
          <a:sy n="73" d="100"/>
        </p:scale>
        <p:origin x="1766" y="77"/>
      </p:cViewPr>
      <p:guideLst>
        <p:guide orient="horz" pos="2908"/>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F94A0FA4-FC76-47DC-B25D-C82CE323E1E5}" type="datetimeFigureOut">
              <a:rPr lang="en-US" smtClean="0"/>
              <a:t>8/12/2025</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5FDECF8F-91E5-4949-97C4-5F814062CEE0}" type="slidenum">
              <a:rPr lang="en-US" smtClean="0"/>
              <a:t>‹#›</a:t>
            </a:fld>
            <a:endParaRPr lang="en-US"/>
          </a:p>
        </p:txBody>
      </p:sp>
    </p:spTree>
    <p:extLst>
      <p:ext uri="{BB962C8B-B14F-4D97-AF65-F5344CB8AC3E}">
        <p14:creationId xmlns:p14="http://schemas.microsoft.com/office/powerpoint/2010/main" val="469020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arlito"/>
                <a:cs typeface="Carlito"/>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arlito"/>
                <a:cs typeface="Carli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3999" cy="6857999"/>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76199" y="3352800"/>
            <a:ext cx="2057400" cy="1979676"/>
          </a:xfrm>
          <a:prstGeom prst="rect">
            <a:avLst/>
          </a:prstGeom>
          <a:blipFill>
            <a:blip r:embed="rId3"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anose="020B0604020202020204" pitchFamily="34" charset="0"/>
                <a:cs typeface="Arial" panose="020B0604020202020204"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panose="020B0604020202020204"/>
                  <a:cs typeface="Arial" panose="020B0604020202020204"/>
                </a:rPr>
                <a:t>BITS</a:t>
              </a:r>
              <a:r>
                <a:rPr lang="en-US" sz="2900" spc="-150" dirty="0">
                  <a:solidFill>
                    <a:schemeClr val="bg1"/>
                  </a:solidFill>
                  <a:latin typeface="Arial" panose="020B0604020202020204"/>
                  <a:cs typeface="Arial" panose="020B0604020202020204"/>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panose="020B0604020202020204"/>
                  <a:cs typeface="Arial" panose="020B0604020202020204"/>
                </a:rPr>
                <a:t>Pilani | Dubai</a:t>
              </a:r>
              <a:r>
                <a:rPr lang="en-US" sz="900" spc="-150" baseline="0" dirty="0">
                  <a:solidFill>
                    <a:srgbClr val="FFFFFF"/>
                  </a:solidFill>
                  <a:latin typeface="Arial" panose="020B0604020202020204"/>
                  <a:cs typeface="Arial" panose="020B0604020202020204"/>
                </a:rPr>
                <a:t> | Goa | Hyderabad</a:t>
              </a:r>
              <a:endParaRPr lang="en-US" sz="900" spc="-150" dirty="0">
                <a:solidFill>
                  <a:srgbClr val="FFFFFF"/>
                </a:solidFill>
                <a:latin typeface="Arial" panose="020B0604020202020204"/>
                <a:cs typeface="Arial" panose="020B0604020202020204"/>
              </a:endParaRPr>
            </a:p>
          </p:txBody>
        </p:sp>
      </p:grpSp>
      <p:sp>
        <p:nvSpPr>
          <p:cNvPr id="2" name="Date Placeholder 1"/>
          <p:cNvSpPr>
            <a:spLocks noGrp="1"/>
          </p:cNvSpPr>
          <p:nvPr>
            <p:ph type="dt" sz="half" idx="11"/>
          </p:nvPr>
        </p:nvSpPr>
        <p:spPr/>
        <p:txBody>
          <a:bodyPr/>
          <a:lstStyle/>
          <a:p>
            <a:endParaRPr lang="en-US"/>
          </a:p>
        </p:txBody>
      </p:sp>
      <p:sp>
        <p:nvSpPr>
          <p:cNvPr id="3" name="Footer Placeholder 2"/>
          <p:cNvSpPr>
            <a:spLocks noGrp="1"/>
          </p:cNvSpPr>
          <p:nvPr>
            <p:ph type="ftr" sz="quarter" idx="12"/>
          </p:nvPr>
        </p:nvSpPr>
        <p:spPr/>
        <p:txBody>
          <a:bodyPr/>
          <a:lstStyle/>
          <a:p>
            <a:endParaRPr lang="en-US"/>
          </a:p>
        </p:txBody>
      </p:sp>
      <p:sp>
        <p:nvSpPr>
          <p:cNvPr id="4" name="Slide Number Placeholder 3"/>
          <p:cNvSpPr>
            <a:spLocks noGrp="1"/>
          </p:cNvSpPr>
          <p:nvPr>
            <p:ph type="sldNum" sz="quarter" idx="13"/>
          </p:nvPr>
        </p:nvSpPr>
        <p:spPr>
          <a:xfrm>
            <a:off x="7010400" y="6313488"/>
            <a:ext cx="2133600" cy="365125"/>
          </a:xfrm>
        </p:spPr>
        <p:txBody>
          <a:bodyPr/>
          <a:lstStyle/>
          <a:p>
            <a:fld id="{BC8D7E44-7D4F-4942-A8C9-2DF6BF8399E8}"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49375" y="3317569"/>
            <a:ext cx="7045248" cy="697229"/>
          </a:xfrm>
          <a:prstGeom prst="rect">
            <a:avLst/>
          </a:prstGeom>
        </p:spPr>
        <p:txBody>
          <a:bodyPr wrap="square" lIns="0" tIns="0" rIns="0" bIns="0">
            <a:spAutoFit/>
          </a:bodyPr>
          <a:lstStyle>
            <a:lvl1pPr>
              <a:defRPr sz="4400" b="1" i="0">
                <a:solidFill>
                  <a:schemeClr val="tx1"/>
                </a:solidFill>
                <a:latin typeface="Carlito"/>
                <a:cs typeface="Carlito"/>
              </a:defRPr>
            </a:lvl1pPr>
          </a:lstStyle>
          <a:p>
            <a:endParaRPr/>
          </a:p>
        </p:txBody>
      </p:sp>
      <p:sp>
        <p:nvSpPr>
          <p:cNvPr id="3" name="Holder 3"/>
          <p:cNvSpPr>
            <a:spLocks noGrp="1"/>
          </p:cNvSpPr>
          <p:nvPr>
            <p:ph type="body" idx="1"/>
          </p:nvPr>
        </p:nvSpPr>
        <p:spPr>
          <a:xfrm>
            <a:off x="496214" y="1418336"/>
            <a:ext cx="8264525" cy="38176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imalsp@wilp.bits-pilani.ac.in" TargetMode="External"/><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themeOverride" Target="../theme/themeOverride3.xml"/><Relationship Id="rId6" Type="http://schemas.openxmlformats.org/officeDocument/2006/relationships/hyperlink" Target="https://en.wikipedia.org/wiki/Natural_language_processing" TargetMode="External"/><Relationship Id="rId5" Type="http://schemas.openxmlformats.org/officeDocument/2006/relationships/hyperlink" Target="https://en.wikipedia.org/wiki/Machine_translation" TargetMode="External"/><Relationship Id="rId4" Type="http://schemas.openxmlformats.org/officeDocument/2006/relationships/hyperlink" Target="https://en.wikipedia.org/wiki/Automatic_summarizatio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8" Type="http://schemas.openxmlformats.org/officeDocument/2006/relationships/hyperlink" Target="https://en.wikipedia.org/wiki/ROUGE_(metric)" TargetMode="External"/><Relationship Id="rId13" Type="http://schemas.openxmlformats.org/officeDocument/2006/relationships/hyperlink" Target="https://www.youtube.com/watch?v=TMshhnrEXlg" TargetMode="External"/><Relationship Id="rId3" Type="http://schemas.openxmlformats.org/officeDocument/2006/relationships/hyperlink" Target="https://nlp.stanford.edu/projects/glove/" TargetMode="External"/><Relationship Id="rId7" Type="http://schemas.openxmlformats.org/officeDocument/2006/relationships/hyperlink" Target="https://huggingface.co/Falconsai/text_summarization" TargetMode="External"/><Relationship Id="rId12" Type="http://schemas.openxmlformats.org/officeDocument/2006/relationships/hyperlink" Target="https://www.youtube.com/watch?v=CDmPBsZ09wg" TargetMode="Externa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hyperlink" Target="https://www.analyticsvidhya.com/blog/2019/06/comprehensive-guide-text-summarization-using-deep-learning-python/" TargetMode="External"/><Relationship Id="rId11" Type="http://schemas.openxmlformats.org/officeDocument/2006/relationships/hyperlink" Target="https://cookbook.openai.com/examples/evaluation/how_to_eval_abstractive_summarization" TargetMode="External"/><Relationship Id="rId5" Type="http://schemas.openxmlformats.org/officeDocument/2006/relationships/hyperlink" Target="https://medium.com/analytics-vidhya/text-summarization-using-nlp-3e85ad0c6349" TargetMode="External"/><Relationship Id="rId10" Type="http://schemas.openxmlformats.org/officeDocument/2006/relationships/hyperlink" Target="https://pypi.org/project/rouge-metric/" TargetMode="External"/><Relationship Id="rId4" Type="http://schemas.openxmlformats.org/officeDocument/2006/relationships/hyperlink" Target="https://www.topcoder.com/thrive/articles/text-summarization-in-nlp" TargetMode="External"/><Relationship Id="rId9" Type="http://schemas.openxmlformats.org/officeDocument/2006/relationships/hyperlink" Target="https://medium.com/nlplanet/two-minutes-nlp-learn-the-rouge-metric-by-examples-f179cc28549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2445" y="5329007"/>
            <a:ext cx="1650364" cy="565785"/>
          </a:xfrm>
          <a:prstGeom prst="rect">
            <a:avLst/>
          </a:prstGeom>
        </p:spPr>
        <p:txBody>
          <a:bodyPr vert="horz" wrap="square" lIns="0" tIns="0" rIns="0" bIns="0" rtlCol="0">
            <a:spAutoFit/>
          </a:bodyPr>
          <a:lstStyle/>
          <a:p>
            <a:pPr>
              <a:lnSpc>
                <a:spcPts val="3105"/>
              </a:lnSpc>
            </a:pPr>
            <a:r>
              <a:rPr sz="2900" b="1" spc="-120" dirty="0">
                <a:solidFill>
                  <a:srgbClr val="FFFFFF"/>
                </a:solidFill>
                <a:latin typeface="Arial" panose="020B0604020202020204"/>
                <a:cs typeface="Arial" panose="020B0604020202020204"/>
              </a:rPr>
              <a:t>BITS</a:t>
            </a:r>
            <a:r>
              <a:rPr sz="2900" b="1" spc="-370" dirty="0">
                <a:solidFill>
                  <a:srgbClr val="FFFFFF"/>
                </a:solidFill>
                <a:latin typeface="Arial" panose="020B0604020202020204"/>
                <a:cs typeface="Arial" panose="020B0604020202020204"/>
              </a:rPr>
              <a:t> </a:t>
            </a:r>
            <a:r>
              <a:rPr sz="2900" spc="-130" dirty="0">
                <a:solidFill>
                  <a:srgbClr val="FFFFFF"/>
                </a:solidFill>
                <a:latin typeface="Arial" panose="020B0604020202020204"/>
                <a:cs typeface="Arial" panose="020B0604020202020204"/>
              </a:rPr>
              <a:t>Pilani</a:t>
            </a:r>
            <a:endParaRPr sz="2900">
              <a:latin typeface="Arial" panose="020B0604020202020204"/>
              <a:cs typeface="Arial" panose="020B0604020202020204"/>
            </a:endParaRPr>
          </a:p>
          <a:p>
            <a:pPr marL="31115">
              <a:lnSpc>
                <a:spcPts val="1335"/>
              </a:lnSpc>
            </a:pPr>
            <a:r>
              <a:rPr sz="1200" spc="-5" dirty="0">
                <a:solidFill>
                  <a:srgbClr val="FFFFFF"/>
                </a:solidFill>
                <a:latin typeface="Arial" panose="020B0604020202020204"/>
                <a:cs typeface="Arial" panose="020B0604020202020204"/>
              </a:rPr>
              <a:t>Pilani</a:t>
            </a:r>
            <a:r>
              <a:rPr sz="1200" spc="-30" dirty="0">
                <a:solidFill>
                  <a:srgbClr val="FFFFFF"/>
                </a:solidFill>
                <a:latin typeface="Arial" panose="020B0604020202020204"/>
                <a:cs typeface="Arial" panose="020B0604020202020204"/>
              </a:rPr>
              <a:t> </a:t>
            </a:r>
            <a:r>
              <a:rPr sz="1200" dirty="0">
                <a:solidFill>
                  <a:srgbClr val="FFFFFF"/>
                </a:solidFill>
                <a:latin typeface="Arial" panose="020B0604020202020204"/>
                <a:cs typeface="Arial" panose="020B0604020202020204"/>
              </a:rPr>
              <a:t>Campus</a:t>
            </a:r>
            <a:endParaRPr sz="1200">
              <a:latin typeface="Arial" panose="020B0604020202020204"/>
              <a:cs typeface="Arial" panose="020B0604020202020204"/>
            </a:endParaRPr>
          </a:p>
        </p:txBody>
      </p:sp>
      <p:grpSp>
        <p:nvGrpSpPr>
          <p:cNvPr id="3" name="object 3"/>
          <p:cNvGrpSpPr/>
          <p:nvPr/>
        </p:nvGrpSpPr>
        <p:grpSpPr>
          <a:xfrm>
            <a:off x="0" y="3352800"/>
            <a:ext cx="8686800" cy="2819400"/>
            <a:chOff x="0" y="3352800"/>
            <a:chExt cx="8686800" cy="2819400"/>
          </a:xfrm>
        </p:grpSpPr>
        <p:sp>
          <p:nvSpPr>
            <p:cNvPr id="4" name="object 4"/>
            <p:cNvSpPr/>
            <p:nvPr/>
          </p:nvSpPr>
          <p:spPr>
            <a:xfrm>
              <a:off x="0" y="3352800"/>
              <a:ext cx="8686800" cy="2743200"/>
            </a:xfrm>
            <a:custGeom>
              <a:avLst/>
              <a:gdLst/>
              <a:ahLst/>
              <a:cxnLst/>
              <a:rect l="l" t="t" r="r" b="b"/>
              <a:pathLst>
                <a:path w="8686800" h="2743200">
                  <a:moveTo>
                    <a:pt x="8686800" y="0"/>
                  </a:moveTo>
                  <a:lnTo>
                    <a:pt x="0" y="0"/>
                  </a:lnTo>
                  <a:lnTo>
                    <a:pt x="0" y="2743200"/>
                  </a:lnTo>
                  <a:lnTo>
                    <a:pt x="8686800" y="2743200"/>
                  </a:lnTo>
                  <a:lnTo>
                    <a:pt x="8686800" y="0"/>
                  </a:lnTo>
                  <a:close/>
                </a:path>
              </a:pathLst>
            </a:custGeom>
            <a:solidFill>
              <a:srgbClr val="0F1141"/>
            </a:solidFill>
          </p:spPr>
          <p:txBody>
            <a:bodyPr wrap="square" lIns="0" tIns="0" rIns="0" bIns="0" rtlCol="0"/>
            <a:lstStyle/>
            <a:p>
              <a:endParaRPr/>
            </a:p>
          </p:txBody>
        </p:sp>
        <p:sp>
          <p:nvSpPr>
            <p:cNvPr id="5" name="object 5"/>
            <p:cNvSpPr/>
            <p:nvPr/>
          </p:nvSpPr>
          <p:spPr>
            <a:xfrm>
              <a:off x="28956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a:p>
          </p:txBody>
        </p:sp>
        <p:sp>
          <p:nvSpPr>
            <p:cNvPr id="6" name="object 6"/>
            <p:cNvSpPr/>
            <p:nvPr/>
          </p:nvSpPr>
          <p:spPr>
            <a:xfrm>
              <a:off x="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a:p>
          </p:txBody>
        </p:sp>
        <p:sp>
          <p:nvSpPr>
            <p:cNvPr id="7" name="object 7"/>
            <p:cNvSpPr/>
            <p:nvPr/>
          </p:nvSpPr>
          <p:spPr>
            <a:xfrm>
              <a:off x="57912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a:p>
          </p:txBody>
        </p:sp>
        <p:sp>
          <p:nvSpPr>
            <p:cNvPr id="8" name="object 8"/>
            <p:cNvSpPr/>
            <p:nvPr/>
          </p:nvSpPr>
          <p:spPr>
            <a:xfrm>
              <a:off x="76200" y="3352800"/>
              <a:ext cx="2057400" cy="1979676"/>
            </a:xfrm>
            <a:prstGeom prst="rect">
              <a:avLst/>
            </a:prstGeom>
            <a:blipFill>
              <a:blip r:embed="rId2" cstate="print"/>
              <a:stretch>
                <a:fillRect/>
              </a:stretch>
            </a:blipFill>
          </p:spPr>
          <p:txBody>
            <a:bodyPr wrap="square" lIns="0" tIns="0" rIns="0" bIns="0" rtlCol="0"/>
            <a:lstStyle/>
            <a:p>
              <a:endParaRPr/>
            </a:p>
          </p:txBody>
        </p:sp>
      </p:grpSp>
      <p:sp>
        <p:nvSpPr>
          <p:cNvPr id="9" name="object 9"/>
          <p:cNvSpPr txBox="1"/>
          <p:nvPr/>
        </p:nvSpPr>
        <p:spPr>
          <a:xfrm>
            <a:off x="199745" y="5281371"/>
            <a:ext cx="1675764" cy="624205"/>
          </a:xfrm>
          <a:prstGeom prst="rect">
            <a:avLst/>
          </a:prstGeom>
        </p:spPr>
        <p:txBody>
          <a:bodyPr vert="horz" wrap="square" lIns="0" tIns="12700" rIns="0" bIns="0" rtlCol="0">
            <a:spAutoFit/>
          </a:bodyPr>
          <a:lstStyle/>
          <a:p>
            <a:pPr marL="12700">
              <a:lnSpc>
                <a:spcPts val="3375"/>
              </a:lnSpc>
              <a:spcBef>
                <a:spcPts val="100"/>
              </a:spcBef>
            </a:pPr>
            <a:r>
              <a:rPr sz="2900" b="1" spc="-120" dirty="0">
                <a:solidFill>
                  <a:srgbClr val="FFFFFF"/>
                </a:solidFill>
                <a:latin typeface="Arial" panose="020B0604020202020204"/>
                <a:cs typeface="Arial" panose="020B0604020202020204"/>
              </a:rPr>
              <a:t>BITS</a:t>
            </a:r>
            <a:r>
              <a:rPr sz="2900" b="1" spc="-355" dirty="0">
                <a:solidFill>
                  <a:srgbClr val="FFFFFF"/>
                </a:solidFill>
                <a:latin typeface="Arial" panose="020B0604020202020204"/>
                <a:cs typeface="Arial" panose="020B0604020202020204"/>
              </a:rPr>
              <a:t> </a:t>
            </a:r>
            <a:r>
              <a:rPr sz="2900" spc="-130" dirty="0">
                <a:solidFill>
                  <a:srgbClr val="FFFFFF"/>
                </a:solidFill>
                <a:latin typeface="Arial" panose="020B0604020202020204"/>
                <a:cs typeface="Arial" panose="020B0604020202020204"/>
              </a:rPr>
              <a:t>Pilani</a:t>
            </a:r>
            <a:endParaRPr sz="2900" dirty="0">
              <a:latin typeface="Arial" panose="020B0604020202020204"/>
              <a:cs typeface="Arial" panose="020B0604020202020204"/>
            </a:endParaRPr>
          </a:p>
          <a:p>
            <a:pPr marL="43815">
              <a:lnSpc>
                <a:spcPts val="1335"/>
              </a:lnSpc>
            </a:pPr>
            <a:r>
              <a:rPr sz="1200" spc="-5" dirty="0">
                <a:solidFill>
                  <a:srgbClr val="FFFFFF"/>
                </a:solidFill>
                <a:latin typeface="Arial" panose="020B0604020202020204"/>
                <a:cs typeface="Arial" panose="020B0604020202020204"/>
              </a:rPr>
              <a:t>Pilani</a:t>
            </a:r>
            <a:r>
              <a:rPr sz="1200" spc="-30" dirty="0">
                <a:solidFill>
                  <a:srgbClr val="FFFFFF"/>
                </a:solidFill>
                <a:latin typeface="Arial" panose="020B0604020202020204"/>
                <a:cs typeface="Arial" panose="020B0604020202020204"/>
              </a:rPr>
              <a:t> </a:t>
            </a:r>
            <a:r>
              <a:rPr sz="1200" dirty="0">
                <a:solidFill>
                  <a:srgbClr val="FFFFFF"/>
                </a:solidFill>
                <a:latin typeface="Arial" panose="020B0604020202020204"/>
                <a:cs typeface="Arial" panose="020B0604020202020204"/>
              </a:rPr>
              <a:t>Campus</a:t>
            </a:r>
            <a:endParaRPr sz="1200" dirty="0">
              <a:latin typeface="Arial" panose="020B0604020202020204"/>
              <a:cs typeface="Arial" panose="020B0604020202020204"/>
            </a:endParaRPr>
          </a:p>
        </p:txBody>
      </p:sp>
      <p:sp>
        <p:nvSpPr>
          <p:cNvPr id="10" name="object 10"/>
          <p:cNvSpPr txBox="1"/>
          <p:nvPr/>
        </p:nvSpPr>
        <p:spPr>
          <a:xfrm>
            <a:off x="2861310" y="3352800"/>
            <a:ext cx="5194935" cy="1709442"/>
          </a:xfrm>
          <a:prstGeom prst="rect">
            <a:avLst/>
          </a:prstGeom>
        </p:spPr>
        <p:txBody>
          <a:bodyPr vert="horz" wrap="square" lIns="0" tIns="153670" rIns="0" bIns="0" rtlCol="0">
            <a:spAutoFit/>
          </a:bodyPr>
          <a:lstStyle/>
          <a:p>
            <a:pPr algn="ctr">
              <a:lnSpc>
                <a:spcPct val="100000"/>
              </a:lnSpc>
              <a:spcBef>
                <a:spcPts val="600"/>
              </a:spcBef>
              <a:tabLst>
                <a:tab pos="1218565" algn="l"/>
              </a:tabLst>
            </a:pPr>
            <a:r>
              <a:rPr lang="en-US" sz="3200" spc="-135" dirty="0">
                <a:solidFill>
                  <a:srgbClr val="CCCC00"/>
                </a:solidFill>
                <a:latin typeface="Arial Unicode MS" panose="020B0604020202020204" charset="-122"/>
                <a:ea typeface="Arial Unicode MS" panose="020B0604020202020204" charset="-122"/>
                <a:cs typeface="Carlito"/>
              </a:rPr>
              <a:t>Natural Language Processing (S2-24_AIMLCZG530)</a:t>
            </a:r>
          </a:p>
          <a:p>
            <a:pPr algn="ctr">
              <a:lnSpc>
                <a:spcPct val="100000"/>
              </a:lnSpc>
              <a:spcBef>
                <a:spcPts val="600"/>
              </a:spcBef>
              <a:tabLst>
                <a:tab pos="1218565" algn="l"/>
              </a:tabLst>
            </a:pPr>
            <a:r>
              <a:rPr lang="en-US" sz="3200" spc="-135" dirty="0">
                <a:solidFill>
                  <a:srgbClr val="CCCC00"/>
                </a:solidFill>
                <a:latin typeface="Arial Unicode MS" panose="020B0604020202020204" charset="-122"/>
                <a:ea typeface="Arial Unicode MS" panose="020B0604020202020204" charset="-122"/>
                <a:cs typeface="Carlito"/>
              </a:rPr>
              <a:t>WEBINAR 4</a:t>
            </a:r>
            <a:endParaRPr sz="3200" dirty="0">
              <a:latin typeface="Arial Unicode MS" panose="020B0604020202020204" charset="-122"/>
              <a:ea typeface="Arial Unicode MS" panose="020B0604020202020204" charset="-122"/>
              <a:cs typeface="Carlito"/>
            </a:endParaRPr>
          </a:p>
        </p:txBody>
      </p:sp>
      <p:sp>
        <p:nvSpPr>
          <p:cNvPr id="11" name="object 11"/>
          <p:cNvSpPr txBox="1"/>
          <p:nvPr/>
        </p:nvSpPr>
        <p:spPr>
          <a:xfrm>
            <a:off x="2667000" y="5105400"/>
            <a:ext cx="5866003" cy="518091"/>
          </a:xfrm>
          <a:prstGeom prst="rect">
            <a:avLst/>
          </a:prstGeom>
        </p:spPr>
        <p:txBody>
          <a:bodyPr vert="horz" wrap="square" lIns="0" tIns="12700" rIns="0" bIns="0" rtlCol="0">
            <a:spAutoFit/>
          </a:bodyPr>
          <a:lstStyle/>
          <a:p>
            <a:pPr marL="732155" marR="5080" indent="1726565" algn="just">
              <a:spcBef>
                <a:spcPts val="100"/>
              </a:spcBef>
            </a:pPr>
            <a:r>
              <a:rPr lang="en-US" sz="1600" spc="-5" dirty="0">
                <a:solidFill>
                  <a:schemeClr val="accent2">
                    <a:lumMod val="60000"/>
                    <a:lumOff val="40000"/>
                  </a:schemeClr>
                </a:solidFill>
                <a:latin typeface="Carlito"/>
                <a:cs typeface="Carlito"/>
              </a:rPr>
              <a:t>Asha M V  </a:t>
            </a:r>
          </a:p>
          <a:p>
            <a:pPr marL="732155" marR="5080" indent="1726565" algn="just">
              <a:spcBef>
                <a:spcPts val="100"/>
              </a:spcBef>
            </a:pPr>
            <a:r>
              <a:rPr lang="en-US" sz="1600" u="heavy" spc="-5" dirty="0">
                <a:solidFill>
                  <a:schemeClr val="accent2">
                    <a:lumMod val="60000"/>
                    <a:lumOff val="40000"/>
                  </a:schemeClr>
                </a:solidFill>
                <a:uFill>
                  <a:solidFill>
                    <a:srgbClr val="0000FF"/>
                  </a:solidFill>
                </a:uFill>
                <a:latin typeface="Carlito"/>
                <a:cs typeface="Carlito"/>
              </a:rPr>
              <a:t>mv.asha</a:t>
            </a:r>
            <a:r>
              <a:rPr lang="en-US" sz="1600" u="heavy" spc="-10"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@w</a:t>
            </a:r>
            <a:r>
              <a:rPr lang="en-US" sz="1600" u="heavy" spc="-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il</a:t>
            </a:r>
            <a:r>
              <a:rPr lang="en-US" sz="1600" u="heavy" spc="-10"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p</a:t>
            </a:r>
            <a:r>
              <a:rPr lang="en-US" sz="1600" u="heavy"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a:t>
            </a:r>
            <a:r>
              <a:rPr lang="en-US" sz="1600" u="heavy" spc="-20"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b</a:t>
            </a:r>
            <a:r>
              <a:rPr lang="en-US" sz="1600" u="heavy" spc="-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i</a:t>
            </a:r>
            <a:r>
              <a:rPr lang="en-US" sz="1600" u="heavy" spc="-1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t</a:t>
            </a:r>
            <a:r>
              <a:rPr lang="en-US" sz="1600" u="heavy" spc="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s</a:t>
            </a:r>
            <a:r>
              <a:rPr lang="en-US" sz="1600" u="heavy" spc="-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a:t>
            </a:r>
            <a:r>
              <a:rPr lang="en-US" sz="1600" u="heavy" spc="-10"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p</a:t>
            </a:r>
            <a:r>
              <a:rPr lang="en-US" sz="1600" u="heavy" spc="-1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il</a:t>
            </a:r>
            <a:r>
              <a:rPr lang="en-US" sz="1600" u="heavy" spc="-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an</a:t>
            </a:r>
            <a:r>
              <a:rPr lang="en-US" sz="1600" u="heavy" spc="-1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i.</a:t>
            </a:r>
            <a:r>
              <a:rPr lang="en-US" sz="1600" u="heavy" spc="-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ac</a:t>
            </a:r>
            <a:r>
              <a:rPr lang="en-US" sz="1600" u="heavy" spc="-1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a:t>
            </a:r>
            <a:r>
              <a:rPr lang="en-US" sz="1600" u="heavy" spc="-5" dirty="0">
                <a:solidFill>
                  <a:schemeClr val="accent2">
                    <a:lumMod val="60000"/>
                    <a:lumOff val="40000"/>
                  </a:schemeClr>
                </a:solidFill>
                <a:uFill>
                  <a:solidFill>
                    <a:srgbClr val="0000FF"/>
                  </a:solidFill>
                </a:uFill>
                <a:latin typeface="Carlito"/>
                <a:cs typeface="Carlito"/>
                <a:hlinkClick r:id="rId3">
                  <a:extLst>
                    <a:ext uri="{A12FA001-AC4F-418D-AE19-62706E023703}">
                      <ahyp:hlinkClr xmlns:ahyp="http://schemas.microsoft.com/office/drawing/2018/hyperlinkcolor" val="tx"/>
                    </a:ext>
                  </a:extLst>
                </a:hlinkClick>
              </a:rPr>
              <a:t>in</a:t>
            </a:r>
            <a:endParaRPr lang="en-US" sz="1600" dirty="0">
              <a:solidFill>
                <a:schemeClr val="accent2">
                  <a:lumMod val="60000"/>
                  <a:lumOff val="40000"/>
                </a:schemeClr>
              </a:solidFill>
              <a:latin typeface="Carlito"/>
              <a:cs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572000"/>
            <a:ext cx="8458200" cy="1600200"/>
          </a:xfrm>
        </p:spPr>
        <p:txBody>
          <a:bodyPr/>
          <a:lstStyle/>
          <a:p>
            <a:r>
              <a:rPr lang="en-US" dirty="0"/>
              <a:t>Text Summarization</a:t>
            </a:r>
          </a:p>
        </p:txBody>
      </p:sp>
      <p:sp>
        <p:nvSpPr>
          <p:cNvPr id="3" name="Slide Number Placeholder 2"/>
          <p:cNvSpPr>
            <a:spLocks noGrp="1"/>
          </p:cNvSpPr>
          <p:nvPr>
            <p:ph type="sldNum" sz="quarter" idx="13"/>
          </p:nvPr>
        </p:nvSpPr>
        <p:spPr/>
        <p:txBody>
          <a:bodyPr/>
          <a:lstStyle/>
          <a:p>
            <a:fld id="{BC8D7E44-7D4F-4942-A8C9-2DF6BF8399E8}"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7358633" y="6626149"/>
            <a:ext cx="1706245" cy="182101"/>
          </a:xfrm>
          <a:prstGeom prst="rect">
            <a:avLst/>
          </a:prstGeom>
        </p:spPr>
        <p:txBody>
          <a:bodyPr vert="horz" wrap="square" lIns="0" tIns="12700" rIns="0" bIns="0" rtlCol="0">
            <a:spAutoFit/>
          </a:bodyPr>
          <a:lstStyle/>
          <a:p>
            <a:pPr marL="12700">
              <a:lnSpc>
                <a:spcPct val="100000"/>
              </a:lnSpc>
              <a:spcBef>
                <a:spcPts val="100"/>
              </a:spcBef>
            </a:pPr>
            <a:r>
              <a:rPr lang="en-IN" sz="1100" b="1" spc="-5" dirty="0">
                <a:solidFill>
                  <a:srgbClr val="0F1141"/>
                </a:solidFill>
                <a:latin typeface="Arial" panose="020B0604020202020204"/>
                <a:cs typeface="Arial" panose="020B0604020202020204"/>
              </a:rPr>
              <a:t>WILP, </a:t>
            </a:r>
            <a:r>
              <a:rPr sz="1100" b="1" spc="-5" dirty="0">
                <a:solidFill>
                  <a:srgbClr val="0F1141"/>
                </a:solidFill>
                <a:latin typeface="Arial" panose="020B0604020202020204"/>
                <a:cs typeface="Arial" panose="020B0604020202020204"/>
              </a:rPr>
              <a:t>BITS </a:t>
            </a:r>
            <a:r>
              <a:rPr sz="1100" spc="-5" dirty="0" err="1">
                <a:solidFill>
                  <a:srgbClr val="0F1141"/>
                </a:solidFill>
                <a:latin typeface="Arial" panose="020B0604020202020204"/>
                <a:cs typeface="Arial" panose="020B0604020202020204"/>
              </a:rPr>
              <a:t>Pilani</a:t>
            </a:r>
            <a:endParaRPr sz="1100" dirty="0">
              <a:latin typeface="Arial" panose="020B0604020202020204"/>
              <a:cs typeface="Arial" panose="020B0604020202020204"/>
            </a:endParaRPr>
          </a:p>
        </p:txBody>
      </p:sp>
      <p:grpSp>
        <p:nvGrpSpPr>
          <p:cNvPr id="3" name="object 3"/>
          <p:cNvGrpSpPr/>
          <p:nvPr/>
        </p:nvGrpSpPr>
        <p:grpSpPr>
          <a:xfrm>
            <a:off x="2084832" y="6550152"/>
            <a:ext cx="7059295" cy="48895"/>
            <a:chOff x="2084832" y="6550152"/>
            <a:chExt cx="7059295" cy="48895"/>
          </a:xfrm>
        </p:grpSpPr>
        <p:sp>
          <p:nvSpPr>
            <p:cNvPr id="4" name="object 4"/>
            <p:cNvSpPr/>
            <p:nvPr/>
          </p:nvSpPr>
          <p:spPr>
            <a:xfrm>
              <a:off x="4631436" y="6550152"/>
              <a:ext cx="2329180"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a:p>
          </p:txBody>
        </p:sp>
        <p:sp>
          <p:nvSpPr>
            <p:cNvPr id="5" name="object 5"/>
            <p:cNvSpPr/>
            <p:nvPr/>
          </p:nvSpPr>
          <p:spPr>
            <a:xfrm>
              <a:off x="6908291" y="6550152"/>
              <a:ext cx="2235835"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a:p>
          </p:txBody>
        </p:sp>
        <p:sp>
          <p:nvSpPr>
            <p:cNvPr id="6" name="object 6"/>
            <p:cNvSpPr/>
            <p:nvPr/>
          </p:nvSpPr>
          <p:spPr>
            <a:xfrm>
              <a:off x="2084832" y="6550152"/>
              <a:ext cx="2580640"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a:p>
          </p:txBody>
        </p:sp>
        <p:sp>
          <p:nvSpPr>
            <p:cNvPr id="7" name="object 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8" name="object 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0" name="object 10"/>
          <p:cNvSpPr/>
          <p:nvPr/>
        </p:nvSpPr>
        <p:spPr>
          <a:xfrm>
            <a:off x="6629400" y="0"/>
            <a:ext cx="2194559" cy="691896"/>
          </a:xfrm>
          <a:prstGeom prst="rect">
            <a:avLst/>
          </a:prstGeom>
          <a:blipFill>
            <a:blip r:embed="rId3" cstate="print"/>
            <a:stretch>
              <a:fillRect/>
            </a:stretch>
          </a:blipFill>
        </p:spPr>
        <p:txBody>
          <a:bodyPr wrap="square" lIns="0" tIns="0" rIns="0" bIns="0" rtlCol="0"/>
          <a:lstStyle/>
          <a:p>
            <a:endParaRPr/>
          </a:p>
        </p:txBody>
      </p:sp>
      <p:grpSp>
        <p:nvGrpSpPr>
          <p:cNvPr id="11" name="object 11"/>
          <p:cNvGrpSpPr/>
          <p:nvPr/>
        </p:nvGrpSpPr>
        <p:grpSpPr>
          <a:xfrm>
            <a:off x="0" y="1295400"/>
            <a:ext cx="7010400" cy="45720"/>
            <a:chOff x="0" y="1295400"/>
            <a:chExt cx="7010400" cy="45720"/>
          </a:xfrm>
        </p:grpSpPr>
        <p:sp>
          <p:nvSpPr>
            <p:cNvPr id="12" name="object 12"/>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3" name="object 13"/>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4" name="object 14"/>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5" name="object 15"/>
          <p:cNvSpPr txBox="1"/>
          <p:nvPr/>
        </p:nvSpPr>
        <p:spPr>
          <a:xfrm>
            <a:off x="383540" y="1691157"/>
            <a:ext cx="7596378" cy="3545842"/>
          </a:xfrm>
          <a:prstGeom prst="rect">
            <a:avLst/>
          </a:prstGeom>
        </p:spPr>
        <p:txBody>
          <a:bodyPr vert="horz" wrap="square" lIns="0" tIns="97790" rIns="0" bIns="0" rtlCol="0">
            <a:spAutoFit/>
          </a:bodyPr>
          <a:lstStyle/>
          <a:p>
            <a:pPr marL="457200" indent="-457200">
              <a:buFont typeface="Arial" panose="020B0604020202020204" pitchFamily="34" charset="0"/>
              <a:buChar char="•"/>
            </a:pPr>
            <a:r>
              <a:rPr lang="en-US" sz="2800" dirty="0"/>
              <a:t>Introduction</a:t>
            </a:r>
          </a:p>
          <a:p>
            <a:pPr marL="457200" indent="-457200">
              <a:buFont typeface="Arial" panose="020B0604020202020204" pitchFamily="34" charset="0"/>
              <a:buChar char="•"/>
            </a:pPr>
            <a:r>
              <a:rPr lang="en-US" sz="2800" dirty="0"/>
              <a:t>Advantages of Text Summarization</a:t>
            </a:r>
          </a:p>
          <a:p>
            <a:pPr marL="457200" indent="-457200">
              <a:buFont typeface="Arial" panose="020B0604020202020204" pitchFamily="34" charset="0"/>
              <a:buChar char="•"/>
            </a:pPr>
            <a:r>
              <a:rPr lang="en-US" sz="2800" spc="-15" dirty="0">
                <a:ea typeface="Arial Unicode MS" panose="020B0604020202020204" charset="-122"/>
              </a:rPr>
              <a:t>Approaches to Text Summarization</a:t>
            </a:r>
          </a:p>
          <a:p>
            <a:pPr marL="457200" indent="-457200">
              <a:buFont typeface="Arial" panose="020B0604020202020204" pitchFamily="34" charset="0"/>
              <a:buChar char="•"/>
            </a:pPr>
            <a:r>
              <a:rPr lang="en-US" sz="2800" spc="-15" dirty="0">
                <a:ea typeface="Arial Unicode MS" panose="020B0604020202020204" charset="-122"/>
              </a:rPr>
              <a:t>ROUGE (metric)</a:t>
            </a:r>
          </a:p>
          <a:p>
            <a:pPr marL="457200" indent="-457200">
              <a:buFont typeface="Arial" panose="020B0604020202020204" pitchFamily="34" charset="0"/>
              <a:buChar char="•"/>
            </a:pPr>
            <a:r>
              <a:rPr lang="en-IN" sz="2800" dirty="0"/>
              <a:t>References</a:t>
            </a:r>
          </a:p>
          <a:p>
            <a:pPr lvl="1"/>
            <a:endParaRPr lang="en-US" sz="2800" dirty="0"/>
          </a:p>
          <a:p>
            <a:pPr marL="914400" lvl="1"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p:txBody>
      </p:sp>
      <p:sp>
        <p:nvSpPr>
          <p:cNvPr id="16" name="object 16"/>
          <p:cNvSpPr txBox="1">
            <a:spLocks noGrp="1"/>
          </p:cNvSpPr>
          <p:nvPr>
            <p:ph type="title"/>
          </p:nvPr>
        </p:nvSpPr>
        <p:spPr>
          <a:xfrm>
            <a:off x="383540" y="379221"/>
            <a:ext cx="1602740" cy="574040"/>
          </a:xfrm>
          <a:prstGeom prst="rect">
            <a:avLst/>
          </a:prstGeom>
        </p:spPr>
        <p:txBody>
          <a:bodyPr vert="horz" wrap="square" lIns="0" tIns="12700" rIns="0" bIns="0" rtlCol="0">
            <a:spAutoFit/>
          </a:bodyPr>
          <a:lstStyle/>
          <a:p>
            <a:pPr marL="12700">
              <a:lnSpc>
                <a:spcPct val="100000"/>
              </a:lnSpc>
              <a:spcBef>
                <a:spcPts val="100"/>
              </a:spcBef>
            </a:pPr>
            <a:r>
              <a:rPr sz="3600" spc="-160" dirty="0">
                <a:latin typeface="Arial" panose="020B0604020202020204"/>
                <a:cs typeface="Arial" panose="020B0604020202020204"/>
              </a:rPr>
              <a:t>Agend</a:t>
            </a:r>
            <a:r>
              <a:rPr sz="3600" spc="-5" dirty="0">
                <a:latin typeface="Arial" panose="020B0604020202020204"/>
                <a:cs typeface="Arial" panose="020B0604020202020204"/>
              </a:rPr>
              <a:t>a</a:t>
            </a:r>
            <a:endParaRPr sz="3600">
              <a:latin typeface="Arial" panose="020B0604020202020204"/>
              <a:cs typeface="Arial" panose="020B0604020202020204"/>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084832" y="6550152"/>
            <a:ext cx="7059295" cy="48895"/>
            <a:chOff x="2084832" y="6550152"/>
            <a:chExt cx="7059295" cy="48895"/>
          </a:xfrm>
        </p:grpSpPr>
        <p:sp>
          <p:nvSpPr>
            <p:cNvPr id="4" name="object 4"/>
            <p:cNvSpPr/>
            <p:nvPr/>
          </p:nvSpPr>
          <p:spPr>
            <a:xfrm>
              <a:off x="4631436" y="6550152"/>
              <a:ext cx="2329180"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a:p>
          </p:txBody>
        </p:sp>
        <p:sp>
          <p:nvSpPr>
            <p:cNvPr id="5" name="object 5"/>
            <p:cNvSpPr/>
            <p:nvPr/>
          </p:nvSpPr>
          <p:spPr>
            <a:xfrm>
              <a:off x="6908291" y="6550152"/>
              <a:ext cx="2235835"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a:p>
          </p:txBody>
        </p:sp>
        <p:sp>
          <p:nvSpPr>
            <p:cNvPr id="6" name="object 6"/>
            <p:cNvSpPr/>
            <p:nvPr/>
          </p:nvSpPr>
          <p:spPr>
            <a:xfrm>
              <a:off x="2084832" y="6550152"/>
              <a:ext cx="2580640"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a:p>
          </p:txBody>
        </p:sp>
        <p:sp>
          <p:nvSpPr>
            <p:cNvPr id="7" name="object 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8" name="object 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0" name="object 10"/>
          <p:cNvSpPr/>
          <p:nvPr/>
        </p:nvSpPr>
        <p:spPr>
          <a:xfrm>
            <a:off x="6629400" y="0"/>
            <a:ext cx="2194559" cy="691896"/>
          </a:xfrm>
          <a:prstGeom prst="rect">
            <a:avLst/>
          </a:prstGeom>
          <a:blipFill>
            <a:blip r:embed="rId2" cstate="print"/>
            <a:stretch>
              <a:fillRect/>
            </a:stretch>
          </a:blipFill>
        </p:spPr>
        <p:txBody>
          <a:bodyPr wrap="square" lIns="0" tIns="0" rIns="0" bIns="0" rtlCol="0"/>
          <a:lstStyle/>
          <a:p>
            <a:endParaRPr/>
          </a:p>
        </p:txBody>
      </p:sp>
      <p:grpSp>
        <p:nvGrpSpPr>
          <p:cNvPr id="11" name="object 11"/>
          <p:cNvGrpSpPr/>
          <p:nvPr/>
        </p:nvGrpSpPr>
        <p:grpSpPr>
          <a:xfrm>
            <a:off x="0" y="1295400"/>
            <a:ext cx="7010400" cy="45720"/>
            <a:chOff x="0" y="1295400"/>
            <a:chExt cx="7010400" cy="45720"/>
          </a:xfrm>
        </p:grpSpPr>
        <p:sp>
          <p:nvSpPr>
            <p:cNvPr id="12" name="object 12"/>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3" name="object 13"/>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4" name="object 14"/>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6" name="object 16"/>
          <p:cNvSpPr txBox="1">
            <a:spLocks noGrp="1"/>
          </p:cNvSpPr>
          <p:nvPr>
            <p:ph type="title"/>
          </p:nvPr>
        </p:nvSpPr>
        <p:spPr>
          <a:xfrm>
            <a:off x="228599" y="652378"/>
            <a:ext cx="7130033" cy="566822"/>
          </a:xfrm>
          <a:prstGeom prst="rect">
            <a:avLst/>
          </a:prstGeom>
        </p:spPr>
        <p:txBody>
          <a:bodyPr vert="horz" wrap="square" lIns="0" tIns="12700" rIns="0" bIns="0" rtlCol="0">
            <a:spAutoFit/>
          </a:bodyPr>
          <a:lstStyle/>
          <a:p>
            <a:r>
              <a:rPr lang="en-US" sz="3600" dirty="0"/>
              <a:t>Introduction</a:t>
            </a:r>
          </a:p>
        </p:txBody>
      </p:sp>
      <p:sp>
        <p:nvSpPr>
          <p:cNvPr id="15" name="Rectangle 14"/>
          <p:cNvSpPr/>
          <p:nvPr/>
        </p:nvSpPr>
        <p:spPr>
          <a:xfrm>
            <a:off x="566928" y="1371600"/>
            <a:ext cx="7967472" cy="4524315"/>
          </a:xfrm>
          <a:prstGeom prst="rect">
            <a:avLst/>
          </a:prstGeom>
        </p:spPr>
        <p:txBody>
          <a:bodyPr wrap="square">
            <a:spAutoFit/>
          </a:bodyPr>
          <a:lstStyle/>
          <a:p>
            <a:pPr marL="342900" indent="-342900" algn="just">
              <a:buFont typeface="Arial" panose="020B0604020202020204" pitchFamily="34" charset="0"/>
              <a:buChar char="•"/>
            </a:pPr>
            <a:r>
              <a:rPr lang="en-US" sz="2400" b="0" i="0" dirty="0">
                <a:solidFill>
                  <a:srgbClr val="242424"/>
                </a:solidFill>
                <a:effectLst/>
                <a:latin typeface="source-serif-pro"/>
              </a:rPr>
              <a:t>Text summarization is the process of generating short, fluent, and most importantly accurate summary of a respectively longer text document. </a:t>
            </a:r>
          </a:p>
          <a:p>
            <a:pPr marL="342900" indent="-342900" algn="just">
              <a:buFont typeface="Arial" panose="020B0604020202020204" pitchFamily="34" charset="0"/>
              <a:buChar char="•"/>
            </a:pPr>
            <a:r>
              <a:rPr lang="en-US" sz="2400" b="0" i="0" dirty="0">
                <a:solidFill>
                  <a:srgbClr val="242424"/>
                </a:solidFill>
                <a:effectLst/>
                <a:latin typeface="source-serif-pro"/>
              </a:rPr>
              <a:t>The main idea behind automatic text summarization is to be able to find a short subset of the most essential information from the entire set and present it in a human-readable format. </a:t>
            </a:r>
            <a:endParaRPr lang="en-US" sz="2400" dirty="0"/>
          </a:p>
          <a:p>
            <a:pPr marL="342900" indent="-342900" algn="just">
              <a:buFont typeface="Arial" panose="020B0604020202020204" pitchFamily="34" charset="0"/>
              <a:buChar char="•"/>
            </a:pPr>
            <a:r>
              <a:rPr lang="en-US" sz="2400" dirty="0"/>
              <a:t>Text Summarization is the process of distilling the most important information from a source text.</a:t>
            </a:r>
          </a:p>
          <a:p>
            <a:pPr marL="342900" indent="-342900" algn="just">
              <a:buFont typeface="Arial" panose="020B0604020202020204" pitchFamily="34" charset="0"/>
              <a:buChar char="•"/>
            </a:pPr>
            <a:r>
              <a:rPr lang="en-US" sz="2400" dirty="0">
                <a:solidFill>
                  <a:srgbClr val="242424"/>
                </a:solidFill>
                <a:latin typeface="source-serif-pro"/>
              </a:rPr>
              <a:t>A</a:t>
            </a:r>
            <a:r>
              <a:rPr lang="en-US" sz="2400" b="0" i="0" dirty="0">
                <a:solidFill>
                  <a:srgbClr val="242424"/>
                </a:solidFill>
                <a:effectLst/>
                <a:latin typeface="source-serif-pro"/>
              </a:rPr>
              <a:t>utomatic text summarization methods have the potential to be very helpful because more useful information can be read in a short time.</a:t>
            </a:r>
            <a:endParaRPr lang="en-US" sz="2400" dirty="0"/>
          </a:p>
        </p:txBody>
      </p:sp>
      <p:sp>
        <p:nvSpPr>
          <p:cNvPr id="17" name="object 2"/>
          <p:cNvSpPr txBox="1"/>
          <p:nvPr/>
        </p:nvSpPr>
        <p:spPr>
          <a:xfrm>
            <a:off x="7358633" y="6626149"/>
            <a:ext cx="1706245" cy="182101"/>
          </a:xfrm>
          <a:prstGeom prst="rect">
            <a:avLst/>
          </a:prstGeom>
        </p:spPr>
        <p:txBody>
          <a:bodyPr vert="horz" wrap="square" lIns="0" tIns="12700" rIns="0" bIns="0" rtlCol="0">
            <a:spAutoFit/>
          </a:bodyPr>
          <a:lstStyle/>
          <a:p>
            <a:pPr marL="12700">
              <a:lnSpc>
                <a:spcPct val="100000"/>
              </a:lnSpc>
              <a:spcBef>
                <a:spcPts val="100"/>
              </a:spcBef>
            </a:pPr>
            <a:r>
              <a:rPr lang="en-IN" sz="1100" b="1" spc="-5" dirty="0">
                <a:solidFill>
                  <a:srgbClr val="0F1141"/>
                </a:solidFill>
                <a:latin typeface="Arial" panose="020B0604020202020204"/>
                <a:cs typeface="Arial" panose="020B0604020202020204"/>
              </a:rPr>
              <a:t>WILP, </a:t>
            </a:r>
            <a:r>
              <a:rPr sz="1100" b="1" spc="-5" dirty="0">
                <a:solidFill>
                  <a:srgbClr val="0F1141"/>
                </a:solidFill>
                <a:latin typeface="Arial" panose="020B0604020202020204"/>
                <a:cs typeface="Arial" panose="020B0604020202020204"/>
              </a:rPr>
              <a:t>BITS </a:t>
            </a:r>
            <a:r>
              <a:rPr sz="1100" spc="-5" dirty="0" err="1">
                <a:solidFill>
                  <a:srgbClr val="0F1141"/>
                </a:solidFill>
                <a:latin typeface="Arial" panose="020B0604020202020204"/>
                <a:cs typeface="Arial" panose="020B0604020202020204"/>
              </a:rPr>
              <a:t>Pilani</a:t>
            </a:r>
            <a:endParaRPr sz="1100" dirty="0">
              <a:latin typeface="Arial" panose="020B0604020202020204"/>
              <a:cs typeface="Arial" panose="020B0604020202020204"/>
            </a:endParaRPr>
          </a:p>
        </p:txBody>
      </p:sp>
    </p:spTree>
    <p:extLst>
      <p:ext uri="{BB962C8B-B14F-4D97-AF65-F5344CB8AC3E}">
        <p14:creationId xmlns:p14="http://schemas.microsoft.com/office/powerpoint/2010/main" val="2301444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084832" y="6550152"/>
            <a:ext cx="7059295" cy="48895"/>
            <a:chOff x="2084832" y="6550152"/>
            <a:chExt cx="7059295" cy="48895"/>
          </a:xfrm>
        </p:grpSpPr>
        <p:sp>
          <p:nvSpPr>
            <p:cNvPr id="4" name="object 4"/>
            <p:cNvSpPr/>
            <p:nvPr/>
          </p:nvSpPr>
          <p:spPr>
            <a:xfrm>
              <a:off x="4631436" y="6550152"/>
              <a:ext cx="2329180"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a:p>
          </p:txBody>
        </p:sp>
        <p:sp>
          <p:nvSpPr>
            <p:cNvPr id="5" name="object 5"/>
            <p:cNvSpPr/>
            <p:nvPr/>
          </p:nvSpPr>
          <p:spPr>
            <a:xfrm>
              <a:off x="6908291" y="6550152"/>
              <a:ext cx="2235835"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a:p>
          </p:txBody>
        </p:sp>
        <p:sp>
          <p:nvSpPr>
            <p:cNvPr id="6" name="object 6"/>
            <p:cNvSpPr/>
            <p:nvPr/>
          </p:nvSpPr>
          <p:spPr>
            <a:xfrm>
              <a:off x="2084832" y="6550152"/>
              <a:ext cx="2580640"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a:p>
          </p:txBody>
        </p:sp>
        <p:sp>
          <p:nvSpPr>
            <p:cNvPr id="7" name="object 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8" name="object 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0" name="object 10"/>
          <p:cNvSpPr/>
          <p:nvPr/>
        </p:nvSpPr>
        <p:spPr>
          <a:xfrm>
            <a:off x="6629400" y="0"/>
            <a:ext cx="2194559" cy="691896"/>
          </a:xfrm>
          <a:prstGeom prst="rect">
            <a:avLst/>
          </a:prstGeom>
          <a:blipFill>
            <a:blip r:embed="rId2" cstate="print"/>
            <a:stretch>
              <a:fillRect/>
            </a:stretch>
          </a:blipFill>
        </p:spPr>
        <p:txBody>
          <a:bodyPr wrap="square" lIns="0" tIns="0" rIns="0" bIns="0" rtlCol="0"/>
          <a:lstStyle/>
          <a:p>
            <a:endParaRPr/>
          </a:p>
        </p:txBody>
      </p:sp>
      <p:grpSp>
        <p:nvGrpSpPr>
          <p:cNvPr id="11" name="object 11"/>
          <p:cNvGrpSpPr/>
          <p:nvPr/>
        </p:nvGrpSpPr>
        <p:grpSpPr>
          <a:xfrm>
            <a:off x="0" y="1295400"/>
            <a:ext cx="7010400" cy="45720"/>
            <a:chOff x="0" y="1295400"/>
            <a:chExt cx="7010400" cy="45720"/>
          </a:xfrm>
        </p:grpSpPr>
        <p:sp>
          <p:nvSpPr>
            <p:cNvPr id="12" name="object 12"/>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3" name="object 13"/>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4" name="object 14"/>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6" name="object 16"/>
          <p:cNvSpPr txBox="1">
            <a:spLocks noGrp="1"/>
          </p:cNvSpPr>
          <p:nvPr>
            <p:ph type="title"/>
          </p:nvPr>
        </p:nvSpPr>
        <p:spPr>
          <a:xfrm>
            <a:off x="320041" y="467566"/>
            <a:ext cx="7038592" cy="566822"/>
          </a:xfrm>
          <a:prstGeom prst="rect">
            <a:avLst/>
          </a:prstGeom>
        </p:spPr>
        <p:txBody>
          <a:bodyPr vert="horz" wrap="square" lIns="0" tIns="12700" rIns="0" bIns="0" rtlCol="0">
            <a:spAutoFit/>
          </a:bodyPr>
          <a:lstStyle/>
          <a:p>
            <a:pPr marL="12700">
              <a:spcBef>
                <a:spcPts val="100"/>
              </a:spcBef>
            </a:pPr>
            <a:r>
              <a:rPr lang="en-US" sz="3600" dirty="0"/>
              <a:t>Advantages of Text Summarization</a:t>
            </a:r>
            <a:endParaRPr sz="3600" dirty="0">
              <a:latin typeface="Arial" panose="020B0604020202020204"/>
              <a:cs typeface="Arial" panose="020B0604020202020204"/>
            </a:endParaRPr>
          </a:p>
        </p:txBody>
      </p:sp>
      <p:sp>
        <p:nvSpPr>
          <p:cNvPr id="15" name="Rectangle 14"/>
          <p:cNvSpPr/>
          <p:nvPr/>
        </p:nvSpPr>
        <p:spPr>
          <a:xfrm>
            <a:off x="566928" y="1371600"/>
            <a:ext cx="7967472" cy="4524315"/>
          </a:xfrm>
          <a:prstGeom prst="rect">
            <a:avLst/>
          </a:prstGeom>
        </p:spPr>
        <p:txBody>
          <a:bodyPr wrap="square">
            <a:spAutoFit/>
          </a:bodyPr>
          <a:lstStyle/>
          <a:p>
            <a:pPr marL="342900" indent="-342900" algn="just">
              <a:buFont typeface="Arial" panose="020B0604020202020204" pitchFamily="34" charset="0"/>
              <a:buChar char="•"/>
            </a:pPr>
            <a:r>
              <a:rPr lang="en-US" sz="2400" b="0" i="0" dirty="0">
                <a:solidFill>
                  <a:srgbClr val="242424"/>
                </a:solidFill>
                <a:effectLst/>
                <a:latin typeface="source-serif-pro"/>
              </a:rPr>
              <a:t>Summaries reduce reading time.</a:t>
            </a:r>
          </a:p>
          <a:p>
            <a:pPr marL="342900" indent="-342900" algn="just">
              <a:buFont typeface="Arial" panose="020B0604020202020204" pitchFamily="34" charset="0"/>
              <a:buChar char="•"/>
            </a:pPr>
            <a:r>
              <a:rPr lang="en-US" sz="2400" b="0" i="0" dirty="0">
                <a:solidFill>
                  <a:srgbClr val="242424"/>
                </a:solidFill>
                <a:effectLst/>
                <a:latin typeface="source-serif-pro"/>
              </a:rPr>
              <a:t>When researching documents, summaries make the selection process easier.</a:t>
            </a:r>
          </a:p>
          <a:p>
            <a:pPr marL="342900" indent="-342900" algn="just">
              <a:buFont typeface="Arial" panose="020B0604020202020204" pitchFamily="34" charset="0"/>
              <a:buChar char="•"/>
            </a:pPr>
            <a:r>
              <a:rPr lang="en-US" sz="2400" b="0" i="0" dirty="0">
                <a:solidFill>
                  <a:srgbClr val="242424"/>
                </a:solidFill>
                <a:effectLst/>
                <a:latin typeface="source-serif-pro"/>
              </a:rPr>
              <a:t>Automatic summarization improves the effectiveness of indexing.</a:t>
            </a:r>
          </a:p>
          <a:p>
            <a:pPr marL="342900" indent="-342900" algn="just">
              <a:buFont typeface="Arial" panose="020B0604020202020204" pitchFamily="34" charset="0"/>
              <a:buChar char="•"/>
            </a:pPr>
            <a:r>
              <a:rPr lang="en-US" sz="2400" b="0" i="0" dirty="0">
                <a:solidFill>
                  <a:srgbClr val="242424"/>
                </a:solidFill>
                <a:effectLst/>
                <a:latin typeface="source-serif-pro"/>
              </a:rPr>
              <a:t>Automatic summarization algorithms are less biased than human summarization.</a:t>
            </a:r>
          </a:p>
          <a:p>
            <a:pPr marL="342900" indent="-342900" algn="just">
              <a:buFont typeface="Arial" panose="020B0604020202020204" pitchFamily="34" charset="0"/>
              <a:buChar char="•"/>
            </a:pPr>
            <a:r>
              <a:rPr lang="en-US" sz="2400" b="0" i="0" dirty="0">
                <a:solidFill>
                  <a:srgbClr val="242424"/>
                </a:solidFill>
                <a:effectLst/>
                <a:latin typeface="source-serif-pro"/>
              </a:rPr>
              <a:t>Personalized summaries are useful in question-answering systems as they provide personalized information.</a:t>
            </a:r>
          </a:p>
          <a:p>
            <a:pPr marL="342900" indent="-342900" algn="just">
              <a:buFont typeface="Arial" panose="020B0604020202020204" pitchFamily="34" charset="0"/>
              <a:buChar char="•"/>
            </a:pPr>
            <a:r>
              <a:rPr lang="en-US" sz="2400" b="0" i="0" dirty="0">
                <a:solidFill>
                  <a:srgbClr val="242424"/>
                </a:solidFill>
                <a:effectLst/>
                <a:latin typeface="source-serif-pro"/>
              </a:rPr>
              <a:t>Using automatic or semi-automatic summarization systems enables commercial abstract services to increase the number of text documents they are able to process.</a:t>
            </a:r>
          </a:p>
        </p:txBody>
      </p:sp>
      <p:sp>
        <p:nvSpPr>
          <p:cNvPr id="17" name="object 2"/>
          <p:cNvSpPr txBox="1"/>
          <p:nvPr/>
        </p:nvSpPr>
        <p:spPr>
          <a:xfrm>
            <a:off x="7358633" y="6626149"/>
            <a:ext cx="1706245" cy="182101"/>
          </a:xfrm>
          <a:prstGeom prst="rect">
            <a:avLst/>
          </a:prstGeom>
        </p:spPr>
        <p:txBody>
          <a:bodyPr vert="horz" wrap="square" lIns="0" tIns="12700" rIns="0" bIns="0" rtlCol="0">
            <a:spAutoFit/>
          </a:bodyPr>
          <a:lstStyle/>
          <a:p>
            <a:pPr marL="12700">
              <a:lnSpc>
                <a:spcPct val="100000"/>
              </a:lnSpc>
              <a:spcBef>
                <a:spcPts val="100"/>
              </a:spcBef>
            </a:pPr>
            <a:r>
              <a:rPr lang="en-IN" sz="1100" b="1" spc="-5" dirty="0">
                <a:solidFill>
                  <a:srgbClr val="0F1141"/>
                </a:solidFill>
                <a:latin typeface="Arial" panose="020B0604020202020204"/>
                <a:cs typeface="Arial" panose="020B0604020202020204"/>
              </a:rPr>
              <a:t>WILP, </a:t>
            </a:r>
            <a:r>
              <a:rPr sz="1100" b="1" spc="-5" dirty="0">
                <a:solidFill>
                  <a:srgbClr val="0F1141"/>
                </a:solidFill>
                <a:latin typeface="Arial" panose="020B0604020202020204"/>
                <a:cs typeface="Arial" panose="020B0604020202020204"/>
              </a:rPr>
              <a:t>BITS </a:t>
            </a:r>
            <a:r>
              <a:rPr sz="1100" spc="-5" dirty="0" err="1">
                <a:solidFill>
                  <a:srgbClr val="0F1141"/>
                </a:solidFill>
                <a:latin typeface="Arial" panose="020B0604020202020204"/>
                <a:cs typeface="Arial" panose="020B0604020202020204"/>
              </a:rPr>
              <a:t>Pilani</a:t>
            </a:r>
            <a:endParaRPr sz="1100" dirty="0">
              <a:latin typeface="Arial" panose="020B0604020202020204"/>
              <a:cs typeface="Arial" panose="020B0604020202020204"/>
            </a:endParaRPr>
          </a:p>
        </p:txBody>
      </p:sp>
    </p:spTree>
    <p:extLst>
      <p:ext uri="{BB962C8B-B14F-4D97-AF65-F5344CB8AC3E}">
        <p14:creationId xmlns:p14="http://schemas.microsoft.com/office/powerpoint/2010/main" val="2315011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p:nvPr/>
        </p:nvSpPr>
        <p:spPr>
          <a:xfrm>
            <a:off x="6629400" y="0"/>
            <a:ext cx="2193036" cy="693420"/>
          </a:xfrm>
          <a:prstGeom prst="rect">
            <a:avLst/>
          </a:prstGeom>
          <a:blipFill>
            <a:blip r:embed="rId3" cstate="print"/>
            <a:stretch>
              <a:fillRect/>
            </a:stretch>
          </a:blipFill>
        </p:spPr>
        <p:txBody>
          <a:bodyPr wrap="square" lIns="0" tIns="0" rIns="0" bIns="0" rtlCol="0"/>
          <a:lstStyle/>
          <a:p>
            <a:endParaRPr/>
          </a:p>
        </p:txBody>
      </p:sp>
      <p:grpSp>
        <p:nvGrpSpPr>
          <p:cNvPr id="4" name="object 4"/>
          <p:cNvGrpSpPr/>
          <p:nvPr/>
        </p:nvGrpSpPr>
        <p:grpSpPr>
          <a:xfrm>
            <a:off x="2133600" y="6553200"/>
            <a:ext cx="7010400" cy="45720"/>
            <a:chOff x="2133600" y="6553200"/>
            <a:chExt cx="7010400" cy="45720"/>
          </a:xfrm>
        </p:grpSpPr>
        <p:sp>
          <p:nvSpPr>
            <p:cNvPr id="5" name="object 5"/>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6" name="object 6"/>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7" name="object 7"/>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grpSp>
        <p:nvGrpSpPr>
          <p:cNvPr id="8" name="object 8"/>
          <p:cNvGrpSpPr/>
          <p:nvPr/>
        </p:nvGrpSpPr>
        <p:grpSpPr>
          <a:xfrm>
            <a:off x="0" y="1295400"/>
            <a:ext cx="7010400" cy="45720"/>
            <a:chOff x="0" y="1295400"/>
            <a:chExt cx="7010400" cy="45720"/>
          </a:xfrm>
        </p:grpSpPr>
        <p:sp>
          <p:nvSpPr>
            <p:cNvPr id="9" name="object 9"/>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0" name="object 10"/>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1" name="object 11"/>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2" name="object 12"/>
          <p:cNvSpPr txBox="1">
            <a:spLocks noGrp="1"/>
          </p:cNvSpPr>
          <p:nvPr>
            <p:ph type="title"/>
          </p:nvPr>
        </p:nvSpPr>
        <p:spPr>
          <a:xfrm>
            <a:off x="307339" y="533400"/>
            <a:ext cx="8757539" cy="629018"/>
          </a:xfrm>
          <a:prstGeom prst="rect">
            <a:avLst/>
          </a:prstGeom>
        </p:spPr>
        <p:txBody>
          <a:bodyPr vert="horz" wrap="square" lIns="0" tIns="13335" rIns="0" bIns="0" rtlCol="0">
            <a:spAutoFit/>
          </a:bodyPr>
          <a:lstStyle/>
          <a:p>
            <a:pPr marL="12700">
              <a:lnSpc>
                <a:spcPct val="100000"/>
              </a:lnSpc>
              <a:spcBef>
                <a:spcPts val="105"/>
              </a:spcBef>
            </a:pPr>
            <a:r>
              <a:rPr lang="en-US" sz="4000" spc="-15" dirty="0">
                <a:latin typeface="Arial Unicode MS" panose="020B0604020202020204" charset="-122"/>
                <a:ea typeface="Arial Unicode MS" panose="020B0604020202020204" charset="-122"/>
              </a:rPr>
              <a:t>Approaches to Text Summarization</a:t>
            </a:r>
          </a:p>
        </p:txBody>
      </p:sp>
      <p:sp>
        <p:nvSpPr>
          <p:cNvPr id="14" name="Rectangle 13"/>
          <p:cNvSpPr/>
          <p:nvPr/>
        </p:nvSpPr>
        <p:spPr>
          <a:xfrm>
            <a:off x="307339" y="1416185"/>
            <a:ext cx="8305800" cy="4893647"/>
          </a:xfrm>
          <a:prstGeom prst="rect">
            <a:avLst/>
          </a:prstGeom>
        </p:spPr>
        <p:txBody>
          <a:bodyPr wrap="square">
            <a:spAutoFit/>
          </a:bodyPr>
          <a:lstStyle/>
          <a:p>
            <a:pPr marL="342900" indent="-342900" algn="just" fontAlgn="base">
              <a:buFont typeface="Arial" panose="020B0604020202020204" pitchFamily="34" charset="0"/>
              <a:buChar char="•"/>
            </a:pPr>
            <a:r>
              <a:rPr lang="en-US" sz="2400" dirty="0">
                <a:solidFill>
                  <a:srgbClr val="242424"/>
                </a:solidFill>
                <a:latin typeface="source-serif-pro"/>
              </a:rPr>
              <a:t>There are two approaches to text summarization.</a:t>
            </a:r>
          </a:p>
          <a:p>
            <a:pPr marL="800100" lvl="1" indent="-342900" algn="just" fontAlgn="base">
              <a:buFont typeface="Arial" panose="020B0604020202020204" pitchFamily="34" charset="0"/>
              <a:buChar char="•"/>
            </a:pPr>
            <a:r>
              <a:rPr lang="en-US" sz="2400" dirty="0">
                <a:solidFill>
                  <a:srgbClr val="242424"/>
                </a:solidFill>
                <a:latin typeface="source-serif-pro"/>
              </a:rPr>
              <a:t>Extractive approaches</a:t>
            </a:r>
          </a:p>
          <a:p>
            <a:pPr marL="800100" lvl="1" indent="-342900" algn="just" fontAlgn="base">
              <a:buFont typeface="Arial" panose="020B0604020202020204" pitchFamily="34" charset="0"/>
              <a:buChar char="•"/>
            </a:pPr>
            <a:r>
              <a:rPr lang="en-US" sz="2400" dirty="0">
                <a:solidFill>
                  <a:srgbClr val="242424"/>
                </a:solidFill>
                <a:latin typeface="source-serif-pro"/>
              </a:rPr>
              <a:t>Abstractive approaches</a:t>
            </a:r>
          </a:p>
          <a:p>
            <a:pPr marL="342900" indent="-342900" algn="just" fontAlgn="base">
              <a:buFont typeface="Arial" panose="020B0604020202020204" pitchFamily="34" charset="0"/>
              <a:buChar char="•"/>
            </a:pPr>
            <a:r>
              <a:rPr lang="en-US" sz="2400" dirty="0">
                <a:solidFill>
                  <a:srgbClr val="242424"/>
                </a:solidFill>
                <a:latin typeface="source-serif-pro"/>
              </a:rPr>
              <a:t>EXTRACTIVE APPROACHES:</a:t>
            </a:r>
          </a:p>
          <a:p>
            <a:pPr marL="800100" lvl="1" indent="-342900" algn="just" fontAlgn="base">
              <a:buFont typeface="Arial" panose="020B0604020202020204" pitchFamily="34" charset="0"/>
              <a:buChar char="•"/>
            </a:pPr>
            <a:r>
              <a:rPr lang="en-US" sz="2400" dirty="0">
                <a:solidFill>
                  <a:srgbClr val="242424"/>
                </a:solidFill>
                <a:latin typeface="source-serif-pro"/>
              </a:rPr>
              <a:t>Take in the original text document and extract parts of it that are  important. This means that they do not create new data (new sentences). </a:t>
            </a:r>
          </a:p>
          <a:p>
            <a:pPr marL="342900" indent="-342900" algn="just" fontAlgn="base">
              <a:buFont typeface="Arial" panose="020B0604020202020204" pitchFamily="34" charset="0"/>
              <a:buChar char="•"/>
            </a:pPr>
            <a:r>
              <a:rPr lang="en-US" sz="2400" dirty="0">
                <a:solidFill>
                  <a:srgbClr val="242424"/>
                </a:solidFill>
                <a:latin typeface="source-serif-pro"/>
              </a:rPr>
              <a:t>ABSTRACTIVE APPROACHES:</a:t>
            </a:r>
          </a:p>
          <a:p>
            <a:pPr marL="800100" lvl="1" indent="-342900" algn="just" fontAlgn="base">
              <a:buFont typeface="Arial" panose="020B0604020202020204" pitchFamily="34" charset="0"/>
              <a:buChar char="•"/>
            </a:pPr>
            <a:r>
              <a:rPr lang="en-US" sz="2400" dirty="0">
                <a:solidFill>
                  <a:srgbClr val="242424"/>
                </a:solidFill>
                <a:latin typeface="source-serif-pro"/>
              </a:rPr>
              <a:t>Mimic humans by creating completely new sentences to describe key concepts from the original text document. These new sentences can often use new words, not present in the original text, and aim to contain just the core information.</a:t>
            </a:r>
          </a:p>
        </p:txBody>
      </p:sp>
      <p:sp>
        <p:nvSpPr>
          <p:cNvPr id="15" name="object 2"/>
          <p:cNvSpPr txBox="1"/>
          <p:nvPr/>
        </p:nvSpPr>
        <p:spPr>
          <a:xfrm>
            <a:off x="7358633" y="6626149"/>
            <a:ext cx="1706245" cy="182101"/>
          </a:xfrm>
          <a:prstGeom prst="rect">
            <a:avLst/>
          </a:prstGeom>
        </p:spPr>
        <p:txBody>
          <a:bodyPr vert="horz" wrap="square" lIns="0" tIns="12700" rIns="0" bIns="0" rtlCol="0">
            <a:spAutoFit/>
          </a:bodyPr>
          <a:lstStyle/>
          <a:p>
            <a:pPr marL="12700">
              <a:lnSpc>
                <a:spcPct val="100000"/>
              </a:lnSpc>
              <a:spcBef>
                <a:spcPts val="100"/>
              </a:spcBef>
            </a:pPr>
            <a:r>
              <a:rPr lang="en-IN" sz="1100" b="1" spc="-5" dirty="0">
                <a:solidFill>
                  <a:srgbClr val="0F1141"/>
                </a:solidFill>
                <a:latin typeface="Arial" panose="020B0604020202020204"/>
                <a:cs typeface="Arial" panose="020B0604020202020204"/>
              </a:rPr>
              <a:t>WILP, </a:t>
            </a:r>
            <a:r>
              <a:rPr sz="1100" b="1" spc="-5" dirty="0">
                <a:solidFill>
                  <a:srgbClr val="0F1141"/>
                </a:solidFill>
                <a:latin typeface="Arial" panose="020B0604020202020204"/>
                <a:cs typeface="Arial" panose="020B0604020202020204"/>
              </a:rPr>
              <a:t>BITS </a:t>
            </a:r>
            <a:r>
              <a:rPr sz="1100" spc="-5" dirty="0" err="1">
                <a:solidFill>
                  <a:srgbClr val="0F1141"/>
                </a:solidFill>
                <a:latin typeface="Arial" panose="020B0604020202020204"/>
                <a:cs typeface="Arial" panose="020B0604020202020204"/>
              </a:rPr>
              <a:t>Pilani</a:t>
            </a:r>
            <a:endParaRPr sz="1100" dirty="0">
              <a:latin typeface="Arial" panose="020B0604020202020204"/>
              <a:cs typeface="Arial" panose="020B0604020202020204"/>
            </a:endParaRPr>
          </a:p>
        </p:txBody>
      </p:sp>
    </p:spTree>
    <p:extLst>
      <p:ext uri="{BB962C8B-B14F-4D97-AF65-F5344CB8AC3E}">
        <p14:creationId xmlns:p14="http://schemas.microsoft.com/office/powerpoint/2010/main" val="204819300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p:nvPr/>
        </p:nvSpPr>
        <p:spPr>
          <a:xfrm>
            <a:off x="6629400" y="0"/>
            <a:ext cx="2193036" cy="693420"/>
          </a:xfrm>
          <a:prstGeom prst="rect">
            <a:avLst/>
          </a:prstGeom>
          <a:blipFill>
            <a:blip r:embed="rId3" cstate="print"/>
            <a:stretch>
              <a:fillRect/>
            </a:stretch>
          </a:blipFill>
        </p:spPr>
        <p:txBody>
          <a:bodyPr wrap="square" lIns="0" tIns="0" rIns="0" bIns="0" rtlCol="0"/>
          <a:lstStyle/>
          <a:p>
            <a:endParaRPr/>
          </a:p>
        </p:txBody>
      </p:sp>
      <p:grpSp>
        <p:nvGrpSpPr>
          <p:cNvPr id="4" name="object 4"/>
          <p:cNvGrpSpPr/>
          <p:nvPr/>
        </p:nvGrpSpPr>
        <p:grpSpPr>
          <a:xfrm>
            <a:off x="2133600" y="6553200"/>
            <a:ext cx="7010400" cy="45720"/>
            <a:chOff x="2133600" y="6553200"/>
            <a:chExt cx="7010400" cy="45720"/>
          </a:xfrm>
        </p:grpSpPr>
        <p:sp>
          <p:nvSpPr>
            <p:cNvPr id="5" name="object 5"/>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6" name="object 6"/>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7" name="object 7"/>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grpSp>
        <p:nvGrpSpPr>
          <p:cNvPr id="8" name="object 8"/>
          <p:cNvGrpSpPr/>
          <p:nvPr/>
        </p:nvGrpSpPr>
        <p:grpSpPr>
          <a:xfrm>
            <a:off x="0" y="1295400"/>
            <a:ext cx="7010400" cy="45720"/>
            <a:chOff x="0" y="1295400"/>
            <a:chExt cx="7010400" cy="45720"/>
          </a:xfrm>
        </p:grpSpPr>
        <p:sp>
          <p:nvSpPr>
            <p:cNvPr id="9" name="object 9"/>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0" name="object 10"/>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1" name="object 11"/>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2" name="object 12"/>
          <p:cNvSpPr txBox="1">
            <a:spLocks noGrp="1"/>
          </p:cNvSpPr>
          <p:nvPr>
            <p:ph type="title"/>
          </p:nvPr>
        </p:nvSpPr>
        <p:spPr>
          <a:xfrm>
            <a:off x="307339" y="533400"/>
            <a:ext cx="8757539" cy="629018"/>
          </a:xfrm>
          <a:prstGeom prst="rect">
            <a:avLst/>
          </a:prstGeom>
        </p:spPr>
        <p:txBody>
          <a:bodyPr vert="horz" wrap="square" lIns="0" tIns="13335" rIns="0" bIns="0" rtlCol="0">
            <a:spAutoFit/>
          </a:bodyPr>
          <a:lstStyle/>
          <a:p>
            <a:pPr marL="12700">
              <a:lnSpc>
                <a:spcPct val="100000"/>
              </a:lnSpc>
              <a:spcBef>
                <a:spcPts val="105"/>
              </a:spcBef>
            </a:pPr>
            <a:r>
              <a:rPr lang="en-US" sz="4000" spc="-15" dirty="0">
                <a:latin typeface="Arial Unicode MS" panose="020B0604020202020204" charset="-122"/>
                <a:ea typeface="Arial Unicode MS" panose="020B0604020202020204" charset="-122"/>
              </a:rPr>
              <a:t>ROUGE (metric)</a:t>
            </a:r>
          </a:p>
        </p:txBody>
      </p:sp>
      <p:sp>
        <p:nvSpPr>
          <p:cNvPr id="14" name="Rectangle 13"/>
          <p:cNvSpPr/>
          <p:nvPr/>
        </p:nvSpPr>
        <p:spPr>
          <a:xfrm>
            <a:off x="307339" y="1416185"/>
            <a:ext cx="8305800" cy="4154984"/>
          </a:xfrm>
          <a:prstGeom prst="rect">
            <a:avLst/>
          </a:prstGeom>
        </p:spPr>
        <p:txBody>
          <a:bodyPr wrap="square">
            <a:spAutoFit/>
          </a:bodyPr>
          <a:lstStyle/>
          <a:p>
            <a:pPr marL="342900" indent="-342900" algn="just" fontAlgn="base">
              <a:buFont typeface="Arial" panose="020B0604020202020204" pitchFamily="34" charset="0"/>
              <a:buChar char="•"/>
            </a:pPr>
            <a:r>
              <a:rPr lang="en-US" sz="2400" b="1" i="0" dirty="0">
                <a:solidFill>
                  <a:srgbClr val="202122"/>
                </a:solidFill>
                <a:effectLst/>
                <a:highlight>
                  <a:srgbClr val="FFFFFF"/>
                </a:highlight>
                <a:latin typeface="Arial" panose="020B0604020202020204" pitchFamily="34" charset="0"/>
              </a:rPr>
              <a:t>ROUGE</a:t>
            </a:r>
            <a:r>
              <a:rPr lang="en-US" sz="2400" b="0" i="0" dirty="0">
                <a:solidFill>
                  <a:srgbClr val="202122"/>
                </a:solidFill>
                <a:effectLst/>
                <a:highlight>
                  <a:srgbClr val="FFFFFF"/>
                </a:highlight>
                <a:latin typeface="Arial" panose="020B0604020202020204" pitchFamily="34" charset="0"/>
              </a:rPr>
              <a:t>, or </a:t>
            </a:r>
            <a:r>
              <a:rPr lang="en-US" sz="2400" b="1" i="0" dirty="0">
                <a:solidFill>
                  <a:srgbClr val="202122"/>
                </a:solidFill>
                <a:effectLst/>
                <a:highlight>
                  <a:srgbClr val="FFFFFF"/>
                </a:highlight>
                <a:latin typeface="Arial" panose="020B0604020202020204" pitchFamily="34" charset="0"/>
              </a:rPr>
              <a:t>Recall-Oriented Understudy for </a:t>
            </a:r>
            <a:r>
              <a:rPr lang="en-US" sz="2400" b="1" i="0" dirty="0" err="1">
                <a:solidFill>
                  <a:srgbClr val="202122"/>
                </a:solidFill>
                <a:effectLst/>
                <a:highlight>
                  <a:srgbClr val="FFFFFF"/>
                </a:highlight>
                <a:latin typeface="Arial" panose="020B0604020202020204" pitchFamily="34" charset="0"/>
              </a:rPr>
              <a:t>Gisting</a:t>
            </a:r>
            <a:r>
              <a:rPr lang="en-US" sz="2400" b="1" i="0" dirty="0">
                <a:solidFill>
                  <a:srgbClr val="202122"/>
                </a:solidFill>
                <a:effectLst/>
                <a:highlight>
                  <a:srgbClr val="FFFFFF"/>
                </a:highlight>
                <a:latin typeface="Arial" panose="020B0604020202020204" pitchFamily="34" charset="0"/>
              </a:rPr>
              <a:t> Evaluation</a:t>
            </a:r>
            <a:r>
              <a:rPr lang="en-US" sz="2400" b="0" i="0" dirty="0">
                <a:solidFill>
                  <a:srgbClr val="202122"/>
                </a:solidFill>
                <a:effectLst/>
                <a:highlight>
                  <a:srgbClr val="FFFFFF"/>
                </a:highlight>
                <a:latin typeface="Arial" panose="020B0604020202020204" pitchFamily="34" charset="0"/>
              </a:rPr>
              <a:t>, is a set of metrics and a software package used for evaluating </a:t>
            </a:r>
            <a:r>
              <a:rPr lang="en-US" sz="2400" b="0" i="0" u="none" strike="noStrike" dirty="0">
                <a:effectLst/>
                <a:highlight>
                  <a:srgbClr val="FFFFFF"/>
                </a:highlight>
                <a:latin typeface="Arial" panose="020B0604020202020204" pitchFamily="34" charset="0"/>
                <a:hlinkClick r:id="rId4" tooltip="Automatic summarization"/>
              </a:rPr>
              <a:t>automatic summarization</a:t>
            </a:r>
            <a:r>
              <a:rPr lang="en-US" sz="2400" b="0" i="0" dirty="0">
                <a:solidFill>
                  <a:srgbClr val="202122"/>
                </a:solidFill>
                <a:effectLst/>
                <a:highlight>
                  <a:srgbClr val="FFFFFF"/>
                </a:highlight>
                <a:latin typeface="Arial" panose="020B0604020202020204" pitchFamily="34" charset="0"/>
              </a:rPr>
              <a:t> and </a:t>
            </a:r>
            <a:r>
              <a:rPr lang="en-US" sz="2400" b="0" i="0" u="none" strike="noStrike" dirty="0">
                <a:effectLst/>
                <a:highlight>
                  <a:srgbClr val="FFFFFF"/>
                </a:highlight>
                <a:latin typeface="Arial" panose="020B0604020202020204" pitchFamily="34" charset="0"/>
                <a:hlinkClick r:id="rId5" tooltip="Machine translation"/>
              </a:rPr>
              <a:t>machine translation</a:t>
            </a:r>
            <a:r>
              <a:rPr lang="en-US" sz="2400" b="0" i="0" dirty="0">
                <a:solidFill>
                  <a:srgbClr val="202122"/>
                </a:solidFill>
                <a:effectLst/>
                <a:highlight>
                  <a:srgbClr val="FFFFFF"/>
                </a:highlight>
                <a:latin typeface="Arial" panose="020B0604020202020204" pitchFamily="34" charset="0"/>
              </a:rPr>
              <a:t> software in </a:t>
            </a:r>
            <a:r>
              <a:rPr lang="en-US" sz="2400" b="0" i="0" u="none" strike="noStrike" dirty="0">
                <a:effectLst/>
                <a:highlight>
                  <a:srgbClr val="FFFFFF"/>
                </a:highlight>
                <a:latin typeface="Arial" panose="020B0604020202020204" pitchFamily="34" charset="0"/>
                <a:hlinkClick r:id="rId6" tooltip="Natural language processing"/>
              </a:rPr>
              <a:t>natural language processing</a:t>
            </a:r>
            <a:r>
              <a:rPr lang="en-US" sz="2400" b="0" i="0" dirty="0">
                <a:solidFill>
                  <a:srgbClr val="202122"/>
                </a:solidFill>
                <a:effectLst/>
                <a:highlight>
                  <a:srgbClr val="FFFFFF"/>
                </a:highlight>
                <a:latin typeface="Arial" panose="020B0604020202020204" pitchFamily="34" charset="0"/>
              </a:rPr>
              <a:t>. </a:t>
            </a:r>
          </a:p>
          <a:p>
            <a:pPr marL="342900" indent="-342900" algn="just" fontAlgn="base">
              <a:buFont typeface="Arial" panose="020B0604020202020204" pitchFamily="34" charset="0"/>
              <a:buChar char="•"/>
            </a:pPr>
            <a:r>
              <a:rPr lang="en-US" sz="2400" b="0" i="0" dirty="0">
                <a:solidFill>
                  <a:srgbClr val="202122"/>
                </a:solidFill>
                <a:effectLst/>
                <a:highlight>
                  <a:srgbClr val="FFFFFF"/>
                </a:highlight>
                <a:latin typeface="Arial" panose="020B0604020202020204" pitchFamily="34" charset="0"/>
              </a:rPr>
              <a:t>The metrics compare an automatically produced summary or translation against a reference or a set of references (human-produced) summary or translation. ROUGE metrics range between 0 and 1, with higher scores indicating higher similarity between the automatically produced summary and the reference.</a:t>
            </a:r>
            <a:endParaRPr lang="en-US" sz="2400" dirty="0">
              <a:solidFill>
                <a:srgbClr val="242424"/>
              </a:solidFill>
              <a:latin typeface="source-serif-pro"/>
            </a:endParaRPr>
          </a:p>
        </p:txBody>
      </p:sp>
      <p:sp>
        <p:nvSpPr>
          <p:cNvPr id="15" name="object 2"/>
          <p:cNvSpPr txBox="1"/>
          <p:nvPr/>
        </p:nvSpPr>
        <p:spPr>
          <a:xfrm>
            <a:off x="7358633" y="6626149"/>
            <a:ext cx="1706245" cy="182101"/>
          </a:xfrm>
          <a:prstGeom prst="rect">
            <a:avLst/>
          </a:prstGeom>
        </p:spPr>
        <p:txBody>
          <a:bodyPr vert="horz" wrap="square" lIns="0" tIns="12700" rIns="0" bIns="0" rtlCol="0">
            <a:spAutoFit/>
          </a:bodyPr>
          <a:lstStyle/>
          <a:p>
            <a:pPr marL="12700">
              <a:lnSpc>
                <a:spcPct val="100000"/>
              </a:lnSpc>
              <a:spcBef>
                <a:spcPts val="100"/>
              </a:spcBef>
            </a:pPr>
            <a:r>
              <a:rPr lang="en-IN" sz="1100" b="1" spc="-5" dirty="0">
                <a:solidFill>
                  <a:srgbClr val="0F1141"/>
                </a:solidFill>
                <a:latin typeface="Arial" panose="020B0604020202020204"/>
                <a:cs typeface="Arial" panose="020B0604020202020204"/>
              </a:rPr>
              <a:t>WILP, </a:t>
            </a:r>
            <a:r>
              <a:rPr sz="1100" b="1" spc="-5" dirty="0">
                <a:solidFill>
                  <a:srgbClr val="0F1141"/>
                </a:solidFill>
                <a:latin typeface="Arial" panose="020B0604020202020204"/>
                <a:cs typeface="Arial" panose="020B0604020202020204"/>
              </a:rPr>
              <a:t>BITS </a:t>
            </a:r>
            <a:r>
              <a:rPr sz="1100" spc="-5" dirty="0" err="1">
                <a:solidFill>
                  <a:srgbClr val="0F1141"/>
                </a:solidFill>
                <a:latin typeface="Arial" panose="020B0604020202020204"/>
                <a:cs typeface="Arial" panose="020B0604020202020204"/>
              </a:rPr>
              <a:t>Pilani</a:t>
            </a:r>
            <a:endParaRPr sz="1100" dirty="0">
              <a:latin typeface="Arial" panose="020B0604020202020204"/>
              <a:cs typeface="Arial" panose="020B0604020202020204"/>
            </a:endParaRPr>
          </a:p>
        </p:txBody>
      </p:sp>
    </p:spTree>
    <p:extLst>
      <p:ext uri="{BB962C8B-B14F-4D97-AF65-F5344CB8AC3E}">
        <p14:creationId xmlns:p14="http://schemas.microsoft.com/office/powerpoint/2010/main" val="3989562753"/>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p:nvPr/>
        </p:nvSpPr>
        <p:spPr>
          <a:xfrm>
            <a:off x="6629400" y="0"/>
            <a:ext cx="2193036" cy="693420"/>
          </a:xfrm>
          <a:prstGeom prst="rect">
            <a:avLst/>
          </a:prstGeom>
          <a:blipFill>
            <a:blip r:embed="rId3" cstate="print"/>
            <a:stretch>
              <a:fillRect/>
            </a:stretch>
          </a:blipFill>
        </p:spPr>
        <p:txBody>
          <a:bodyPr wrap="square" lIns="0" tIns="0" rIns="0" bIns="0" rtlCol="0"/>
          <a:lstStyle/>
          <a:p>
            <a:endParaRPr/>
          </a:p>
        </p:txBody>
      </p:sp>
      <p:grpSp>
        <p:nvGrpSpPr>
          <p:cNvPr id="4" name="object 4"/>
          <p:cNvGrpSpPr/>
          <p:nvPr/>
        </p:nvGrpSpPr>
        <p:grpSpPr>
          <a:xfrm>
            <a:off x="2133600" y="6553200"/>
            <a:ext cx="7010400" cy="45720"/>
            <a:chOff x="2133600" y="6553200"/>
            <a:chExt cx="7010400" cy="45720"/>
          </a:xfrm>
        </p:grpSpPr>
        <p:sp>
          <p:nvSpPr>
            <p:cNvPr id="5" name="object 5"/>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6" name="object 6"/>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7" name="object 7"/>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grpSp>
        <p:nvGrpSpPr>
          <p:cNvPr id="8" name="object 8"/>
          <p:cNvGrpSpPr/>
          <p:nvPr/>
        </p:nvGrpSpPr>
        <p:grpSpPr>
          <a:xfrm>
            <a:off x="0" y="1295400"/>
            <a:ext cx="7010400" cy="45720"/>
            <a:chOff x="0" y="1295400"/>
            <a:chExt cx="7010400" cy="45720"/>
          </a:xfrm>
        </p:grpSpPr>
        <p:sp>
          <p:nvSpPr>
            <p:cNvPr id="9" name="object 9"/>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0" name="object 10"/>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1" name="object 11"/>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2" name="object 12"/>
          <p:cNvSpPr txBox="1">
            <a:spLocks noGrp="1"/>
          </p:cNvSpPr>
          <p:nvPr>
            <p:ph type="title"/>
          </p:nvPr>
        </p:nvSpPr>
        <p:spPr>
          <a:xfrm>
            <a:off x="307339" y="533400"/>
            <a:ext cx="8757539" cy="629018"/>
          </a:xfrm>
          <a:prstGeom prst="rect">
            <a:avLst/>
          </a:prstGeom>
        </p:spPr>
        <p:txBody>
          <a:bodyPr vert="horz" wrap="square" lIns="0" tIns="13335" rIns="0" bIns="0" rtlCol="0">
            <a:spAutoFit/>
          </a:bodyPr>
          <a:lstStyle/>
          <a:p>
            <a:pPr marL="12700">
              <a:lnSpc>
                <a:spcPct val="100000"/>
              </a:lnSpc>
              <a:spcBef>
                <a:spcPts val="105"/>
              </a:spcBef>
            </a:pPr>
            <a:r>
              <a:rPr lang="en-US" sz="4000" spc="-15" dirty="0">
                <a:latin typeface="Arial Unicode MS" panose="020B0604020202020204" charset="-122"/>
                <a:ea typeface="Arial Unicode MS" panose="020B0604020202020204" charset="-122"/>
              </a:rPr>
              <a:t>ROUGE (metric)…</a:t>
            </a:r>
          </a:p>
        </p:txBody>
      </p:sp>
      <p:sp>
        <p:nvSpPr>
          <p:cNvPr id="14" name="Rectangle 13"/>
          <p:cNvSpPr/>
          <p:nvPr/>
        </p:nvSpPr>
        <p:spPr>
          <a:xfrm>
            <a:off x="307339" y="1416185"/>
            <a:ext cx="8305800" cy="4801314"/>
          </a:xfrm>
          <a:prstGeom prst="rect">
            <a:avLst/>
          </a:prstGeom>
        </p:spPr>
        <p:txBody>
          <a:bodyPr wrap="square">
            <a:spAutoFit/>
          </a:bodyPr>
          <a:lstStyle/>
          <a:p>
            <a:pPr algn="l"/>
            <a:r>
              <a:rPr lang="en-US" b="0" i="0" dirty="0">
                <a:solidFill>
                  <a:srgbClr val="202122"/>
                </a:solidFill>
                <a:effectLst/>
                <a:highlight>
                  <a:srgbClr val="FFFFFF"/>
                </a:highlight>
                <a:latin typeface="Arial" panose="020B0604020202020204" pitchFamily="34" charset="0"/>
              </a:rPr>
              <a:t>The following five evaluation metrics are available.</a:t>
            </a:r>
          </a:p>
          <a:p>
            <a:pPr marL="285750" indent="-285750" algn="l">
              <a:buFont typeface="Arial" panose="020B0604020202020204" pitchFamily="34" charset="0"/>
              <a:buChar char="•"/>
            </a:pPr>
            <a:r>
              <a:rPr lang="en-US" b="0" i="0" dirty="0">
                <a:solidFill>
                  <a:srgbClr val="202122"/>
                </a:solidFill>
                <a:effectLst/>
                <a:highlight>
                  <a:srgbClr val="FFFFFF"/>
                </a:highlight>
                <a:latin typeface="Arial" panose="020B0604020202020204" pitchFamily="34" charset="0"/>
              </a:rPr>
              <a:t>ROUGE-N: Overlap of </a:t>
            </a:r>
            <a:r>
              <a:rPr lang="en-US" b="0" i="0" u="none" strike="noStrike" dirty="0">
                <a:solidFill>
                  <a:srgbClr val="202122"/>
                </a:solidFill>
                <a:effectLst/>
                <a:highlight>
                  <a:srgbClr val="FFFFFF"/>
                </a:highlight>
                <a:latin typeface="Arial" panose="020B0604020202020204" pitchFamily="34" charset="0"/>
              </a:rPr>
              <a:t>n-grams</a:t>
            </a:r>
            <a:r>
              <a:rPr lang="en-US" b="0" i="0" u="none" strike="noStrike" baseline="30000" dirty="0">
                <a:solidFill>
                  <a:srgbClr val="202122"/>
                </a:solidFill>
                <a:effectLst/>
                <a:highlight>
                  <a:srgbClr val="FFFFFF"/>
                </a:highlight>
                <a:latin typeface="Arial" panose="020B0604020202020204" pitchFamily="34" charset="0"/>
              </a:rPr>
              <a:t> </a:t>
            </a:r>
            <a:r>
              <a:rPr lang="en-US" b="0" i="0" dirty="0">
                <a:solidFill>
                  <a:srgbClr val="202122"/>
                </a:solidFill>
                <a:effectLst/>
                <a:highlight>
                  <a:srgbClr val="FFFFFF"/>
                </a:highlight>
                <a:latin typeface="Arial" panose="020B0604020202020204" pitchFamily="34" charset="0"/>
              </a:rPr>
              <a:t>between the system and reference summaries.</a:t>
            </a:r>
          </a:p>
          <a:p>
            <a:pPr marL="742950" lvl="1" indent="-285750" algn="l">
              <a:buFont typeface="Arial" panose="020B0604020202020204" pitchFamily="34" charset="0"/>
              <a:buChar char="•"/>
            </a:pPr>
            <a:r>
              <a:rPr lang="en-US" b="0" i="0" dirty="0">
                <a:solidFill>
                  <a:srgbClr val="202122"/>
                </a:solidFill>
                <a:effectLst/>
                <a:highlight>
                  <a:srgbClr val="FFFFFF"/>
                </a:highlight>
                <a:latin typeface="Arial" panose="020B0604020202020204" pitchFamily="34" charset="0"/>
              </a:rPr>
              <a:t>ROUGE-1 refers to the overlap of </a:t>
            </a:r>
            <a:r>
              <a:rPr lang="en-US" b="1" i="1" dirty="0">
                <a:solidFill>
                  <a:srgbClr val="202122"/>
                </a:solidFill>
                <a:effectLst/>
                <a:highlight>
                  <a:srgbClr val="FFFFFF"/>
                </a:highlight>
                <a:latin typeface="Arial" panose="020B0604020202020204" pitchFamily="34" charset="0"/>
              </a:rPr>
              <a:t>unigrams</a:t>
            </a:r>
            <a:r>
              <a:rPr lang="en-US" b="0" i="0" dirty="0">
                <a:solidFill>
                  <a:srgbClr val="202122"/>
                </a:solidFill>
                <a:effectLst/>
                <a:highlight>
                  <a:srgbClr val="FFFFFF"/>
                </a:highlight>
                <a:latin typeface="Arial" panose="020B0604020202020204" pitchFamily="34" charset="0"/>
              </a:rPr>
              <a:t> </a:t>
            </a:r>
            <a:r>
              <a:rPr lang="en-US" b="0" i="1" dirty="0">
                <a:solidFill>
                  <a:srgbClr val="202122"/>
                </a:solidFill>
                <a:effectLst/>
                <a:highlight>
                  <a:srgbClr val="FFFFFF"/>
                </a:highlight>
                <a:latin typeface="Arial" panose="020B0604020202020204" pitchFamily="34" charset="0"/>
              </a:rPr>
              <a:t>(each word)</a:t>
            </a:r>
            <a:r>
              <a:rPr lang="en-US" b="0" i="0" dirty="0">
                <a:solidFill>
                  <a:srgbClr val="202122"/>
                </a:solidFill>
                <a:effectLst/>
                <a:highlight>
                  <a:srgbClr val="FFFFFF"/>
                </a:highlight>
                <a:latin typeface="Arial" panose="020B0604020202020204" pitchFamily="34" charset="0"/>
              </a:rPr>
              <a:t> between the system and reference summaries.</a:t>
            </a:r>
          </a:p>
          <a:p>
            <a:pPr marL="742950" lvl="1" indent="-285750" algn="l">
              <a:buFont typeface="Arial" panose="020B0604020202020204" pitchFamily="34" charset="0"/>
              <a:buChar char="•"/>
            </a:pPr>
            <a:r>
              <a:rPr lang="en-US" b="0" i="0" dirty="0">
                <a:solidFill>
                  <a:srgbClr val="202122"/>
                </a:solidFill>
                <a:effectLst/>
                <a:highlight>
                  <a:srgbClr val="FFFFFF"/>
                </a:highlight>
                <a:latin typeface="Arial" panose="020B0604020202020204" pitchFamily="34" charset="0"/>
              </a:rPr>
              <a:t>ROUGE-2 refers to the overlap of </a:t>
            </a:r>
            <a:r>
              <a:rPr lang="en-US" b="1" i="1" dirty="0">
                <a:solidFill>
                  <a:srgbClr val="202122"/>
                </a:solidFill>
                <a:effectLst/>
                <a:highlight>
                  <a:srgbClr val="FFFFFF"/>
                </a:highlight>
                <a:latin typeface="Arial" panose="020B0604020202020204" pitchFamily="34" charset="0"/>
              </a:rPr>
              <a:t>bigrams</a:t>
            </a:r>
            <a:r>
              <a:rPr lang="en-US" b="0" i="0" dirty="0">
                <a:solidFill>
                  <a:srgbClr val="202122"/>
                </a:solidFill>
                <a:effectLst/>
                <a:highlight>
                  <a:srgbClr val="FFFFFF"/>
                </a:highlight>
                <a:latin typeface="Arial" panose="020B0604020202020204" pitchFamily="34" charset="0"/>
              </a:rPr>
              <a:t> between the system and reference summaries.</a:t>
            </a:r>
          </a:p>
          <a:p>
            <a:pPr marL="285750" indent="-285750" algn="l">
              <a:buFont typeface="Arial" panose="020B0604020202020204" pitchFamily="34" charset="0"/>
              <a:buChar char="•"/>
            </a:pPr>
            <a:r>
              <a:rPr lang="en-US" b="0" i="0" dirty="0">
                <a:solidFill>
                  <a:srgbClr val="202122"/>
                </a:solidFill>
                <a:effectLst/>
                <a:highlight>
                  <a:srgbClr val="FFFFFF"/>
                </a:highlight>
                <a:latin typeface="Arial" panose="020B0604020202020204" pitchFamily="34" charset="0"/>
              </a:rPr>
              <a:t>ROUGE-L: Longest Common Subsequence (LCS)</a:t>
            </a:r>
            <a:r>
              <a:rPr lang="en-US" b="0" i="0" baseline="30000" dirty="0">
                <a:solidFill>
                  <a:srgbClr val="202122"/>
                </a:solidFill>
                <a:effectLst/>
                <a:highlight>
                  <a:srgbClr val="FFFFFF"/>
                </a:highlight>
                <a:latin typeface="Arial" panose="020B0604020202020204" pitchFamily="34" charset="0"/>
              </a:rPr>
              <a:t> </a:t>
            </a:r>
            <a:r>
              <a:rPr lang="en-US" b="0" i="0" dirty="0">
                <a:solidFill>
                  <a:srgbClr val="202122"/>
                </a:solidFill>
                <a:effectLst/>
                <a:highlight>
                  <a:srgbClr val="FFFFFF"/>
                </a:highlight>
                <a:latin typeface="Arial" panose="020B0604020202020204" pitchFamily="34" charset="0"/>
              </a:rPr>
              <a:t>based statistics. </a:t>
            </a:r>
            <a:r>
              <a:rPr lang="en-US" b="0" i="0" u="none" strike="noStrike" dirty="0">
                <a:solidFill>
                  <a:srgbClr val="202122"/>
                </a:solidFill>
                <a:effectLst/>
                <a:highlight>
                  <a:srgbClr val="FFFFFF"/>
                </a:highlight>
                <a:latin typeface="Arial" panose="020B0604020202020204" pitchFamily="34" charset="0"/>
              </a:rPr>
              <a:t>Longest common subsequence problem</a:t>
            </a:r>
            <a:r>
              <a:rPr lang="en-US" b="0" i="0" dirty="0">
                <a:solidFill>
                  <a:srgbClr val="202122"/>
                </a:solidFill>
                <a:effectLst/>
                <a:highlight>
                  <a:srgbClr val="FFFFFF"/>
                </a:highlight>
                <a:latin typeface="Arial" panose="020B0604020202020204" pitchFamily="34" charset="0"/>
              </a:rPr>
              <a:t> takes into account sentence-level structure similarity naturally and identifies longest co-occurring in sequence n-grams automatically.</a:t>
            </a:r>
          </a:p>
          <a:p>
            <a:pPr marL="285750" indent="-285750" algn="l">
              <a:buFont typeface="Arial" panose="020B0604020202020204" pitchFamily="34" charset="0"/>
              <a:buChar char="•"/>
            </a:pPr>
            <a:r>
              <a:rPr lang="en-US" b="0" i="0" dirty="0">
                <a:solidFill>
                  <a:srgbClr val="202122"/>
                </a:solidFill>
                <a:effectLst/>
                <a:highlight>
                  <a:srgbClr val="FFFFFF"/>
                </a:highlight>
                <a:latin typeface="Arial" panose="020B0604020202020204" pitchFamily="34" charset="0"/>
              </a:rPr>
              <a:t>ROUGE-W: Weighted LCS-based statistics that favors consecutive </a:t>
            </a:r>
            <a:r>
              <a:rPr lang="en-US" b="0" i="0" dirty="0" err="1">
                <a:solidFill>
                  <a:srgbClr val="202122"/>
                </a:solidFill>
                <a:effectLst/>
                <a:highlight>
                  <a:srgbClr val="FFFFFF"/>
                </a:highlight>
                <a:latin typeface="Arial" panose="020B0604020202020204" pitchFamily="34" charset="0"/>
              </a:rPr>
              <a:t>LCSes</a:t>
            </a:r>
            <a:r>
              <a:rPr lang="en-US" b="0" i="0" dirty="0">
                <a:solidFill>
                  <a:srgbClr val="202122"/>
                </a:solidFill>
                <a:effectLst/>
                <a:highlight>
                  <a:srgbClr val="FFFFFF"/>
                </a:highlight>
                <a:latin typeface="Arial" panose="020B0604020202020204" pitchFamily="34" charset="0"/>
              </a:rPr>
              <a:t>.</a:t>
            </a:r>
          </a:p>
          <a:p>
            <a:pPr marL="285750" indent="-285750" algn="l">
              <a:buFont typeface="Arial" panose="020B0604020202020204" pitchFamily="34" charset="0"/>
              <a:buChar char="•"/>
            </a:pPr>
            <a:r>
              <a:rPr lang="en-US" b="0" i="0" dirty="0">
                <a:solidFill>
                  <a:srgbClr val="202122"/>
                </a:solidFill>
                <a:effectLst/>
                <a:highlight>
                  <a:srgbClr val="FFFFFF"/>
                </a:highlight>
                <a:latin typeface="Arial" panose="020B0604020202020204" pitchFamily="34" charset="0"/>
              </a:rPr>
              <a:t>ROUGE-S: Skip-</a:t>
            </a:r>
            <a:r>
              <a:rPr lang="en-US" b="0" i="0" u="none" strike="noStrike" dirty="0">
                <a:solidFill>
                  <a:srgbClr val="202122"/>
                </a:solidFill>
                <a:effectLst/>
                <a:highlight>
                  <a:srgbClr val="FFFFFF"/>
                </a:highlight>
                <a:latin typeface="Arial" panose="020B0604020202020204" pitchFamily="34" charset="0"/>
              </a:rPr>
              <a:t>bigram</a:t>
            </a:r>
            <a:r>
              <a:rPr lang="en-US" b="0" i="0" u="none" strike="noStrike" baseline="30000" dirty="0">
                <a:solidFill>
                  <a:srgbClr val="202122"/>
                </a:solidFill>
                <a:effectLst/>
                <a:highlight>
                  <a:srgbClr val="FFFFFF"/>
                </a:highlight>
                <a:latin typeface="Arial" panose="020B0604020202020204" pitchFamily="34" charset="0"/>
              </a:rPr>
              <a:t> </a:t>
            </a:r>
            <a:r>
              <a:rPr lang="en-US" b="0" i="0" dirty="0">
                <a:solidFill>
                  <a:srgbClr val="202122"/>
                </a:solidFill>
                <a:effectLst/>
                <a:highlight>
                  <a:srgbClr val="FFFFFF"/>
                </a:highlight>
                <a:latin typeface="Arial" panose="020B0604020202020204" pitchFamily="34" charset="0"/>
              </a:rPr>
              <a:t>based co-occurrence statistics. Skip-bigram is any pair of words in their sentence order.</a:t>
            </a:r>
          </a:p>
          <a:p>
            <a:pPr marL="285750" indent="-285750" algn="l">
              <a:buFont typeface="Arial" panose="020B0604020202020204" pitchFamily="34" charset="0"/>
              <a:buChar char="•"/>
            </a:pPr>
            <a:r>
              <a:rPr lang="en-US" b="0" i="0" dirty="0">
                <a:solidFill>
                  <a:srgbClr val="202122"/>
                </a:solidFill>
                <a:effectLst/>
                <a:highlight>
                  <a:srgbClr val="FFFFFF"/>
                </a:highlight>
                <a:latin typeface="Arial" panose="020B0604020202020204" pitchFamily="34" charset="0"/>
              </a:rPr>
              <a:t>ROUGE-SU: Skip-bigram plus unigram-based co-occurrence statistics.</a:t>
            </a:r>
          </a:p>
          <a:p>
            <a:pPr marL="285750" indent="-285750" algn="l">
              <a:buFont typeface="Arial" panose="020B0604020202020204" pitchFamily="34" charset="0"/>
              <a:buChar char="•"/>
            </a:pPr>
            <a:endParaRPr lang="en-US" dirty="0">
              <a:solidFill>
                <a:srgbClr val="202122"/>
              </a:solidFill>
              <a:highlight>
                <a:srgbClr val="FFFFFF"/>
              </a:highlight>
              <a:latin typeface="Arial" panose="020B0604020202020204" pitchFamily="34" charset="0"/>
            </a:endParaRPr>
          </a:p>
          <a:p>
            <a:pPr marL="285750" indent="-285750" algn="l">
              <a:buFont typeface="Arial" panose="020B0604020202020204" pitchFamily="34" charset="0"/>
              <a:buChar char="•"/>
            </a:pPr>
            <a:r>
              <a:rPr lang="en-US" b="0" i="0" dirty="0">
                <a:solidFill>
                  <a:srgbClr val="202122"/>
                </a:solidFill>
                <a:effectLst/>
                <a:highlight>
                  <a:srgbClr val="FFFFFF"/>
                </a:highlight>
                <a:latin typeface="Arial" panose="020B0604020202020204" pitchFamily="34" charset="0"/>
              </a:rPr>
              <a:t>Reference free evaluation : Use GPT-4</a:t>
            </a:r>
          </a:p>
        </p:txBody>
      </p:sp>
      <p:sp>
        <p:nvSpPr>
          <p:cNvPr id="15" name="object 2"/>
          <p:cNvSpPr txBox="1"/>
          <p:nvPr/>
        </p:nvSpPr>
        <p:spPr>
          <a:xfrm>
            <a:off x="7358633" y="6626149"/>
            <a:ext cx="1706245" cy="182101"/>
          </a:xfrm>
          <a:prstGeom prst="rect">
            <a:avLst/>
          </a:prstGeom>
        </p:spPr>
        <p:txBody>
          <a:bodyPr vert="horz" wrap="square" lIns="0" tIns="12700" rIns="0" bIns="0" rtlCol="0">
            <a:spAutoFit/>
          </a:bodyPr>
          <a:lstStyle/>
          <a:p>
            <a:pPr marL="12700">
              <a:lnSpc>
                <a:spcPct val="100000"/>
              </a:lnSpc>
              <a:spcBef>
                <a:spcPts val="100"/>
              </a:spcBef>
            </a:pPr>
            <a:r>
              <a:rPr lang="en-IN" sz="1100" b="1" spc="-5" dirty="0">
                <a:solidFill>
                  <a:srgbClr val="0F1141"/>
                </a:solidFill>
                <a:latin typeface="Arial" panose="020B0604020202020204"/>
                <a:cs typeface="Arial" panose="020B0604020202020204"/>
              </a:rPr>
              <a:t>WILP, </a:t>
            </a:r>
            <a:r>
              <a:rPr sz="1100" b="1" spc="-5" dirty="0">
                <a:solidFill>
                  <a:srgbClr val="0F1141"/>
                </a:solidFill>
                <a:latin typeface="Arial" panose="020B0604020202020204"/>
                <a:cs typeface="Arial" panose="020B0604020202020204"/>
              </a:rPr>
              <a:t>BITS </a:t>
            </a:r>
            <a:r>
              <a:rPr sz="1100" spc="-5" dirty="0" err="1">
                <a:solidFill>
                  <a:srgbClr val="0F1141"/>
                </a:solidFill>
                <a:latin typeface="Arial" panose="020B0604020202020204"/>
                <a:cs typeface="Arial" panose="020B0604020202020204"/>
              </a:rPr>
              <a:t>Pilani</a:t>
            </a:r>
            <a:endParaRPr sz="1100" dirty="0">
              <a:latin typeface="Arial" panose="020B0604020202020204"/>
              <a:cs typeface="Arial" panose="020B0604020202020204"/>
            </a:endParaRPr>
          </a:p>
        </p:txBody>
      </p:sp>
    </p:spTree>
    <p:extLst>
      <p:ext uri="{BB962C8B-B14F-4D97-AF65-F5344CB8AC3E}">
        <p14:creationId xmlns:p14="http://schemas.microsoft.com/office/powerpoint/2010/main" val="78530493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58633" y="6626453"/>
            <a:ext cx="1706245" cy="193675"/>
          </a:xfrm>
          <a:prstGeom prst="rect">
            <a:avLst/>
          </a:prstGeom>
        </p:spPr>
        <p:txBody>
          <a:bodyPr vert="horz" wrap="square" lIns="0" tIns="12700" rIns="0" bIns="0" rtlCol="0">
            <a:spAutoFit/>
          </a:bodyPr>
          <a:lstStyle/>
          <a:p>
            <a:pPr marL="12700">
              <a:lnSpc>
                <a:spcPct val="100000"/>
              </a:lnSpc>
              <a:spcBef>
                <a:spcPts val="100"/>
              </a:spcBef>
            </a:pPr>
            <a:r>
              <a:rPr sz="1100" b="1" spc="-5" dirty="0">
                <a:solidFill>
                  <a:srgbClr val="0F1141"/>
                </a:solidFill>
                <a:latin typeface="Arial" panose="020B0604020202020204"/>
                <a:cs typeface="Arial" panose="020B0604020202020204"/>
              </a:rPr>
              <a:t>BITS </a:t>
            </a:r>
            <a:r>
              <a:rPr sz="1100" spc="-5" dirty="0">
                <a:solidFill>
                  <a:srgbClr val="0F1141"/>
                </a:solidFill>
                <a:latin typeface="Arial" panose="020B0604020202020204"/>
                <a:cs typeface="Arial" panose="020B0604020202020204"/>
              </a:rPr>
              <a:t>Pilani, Pilani</a:t>
            </a:r>
            <a:r>
              <a:rPr sz="1100" spc="-20" dirty="0">
                <a:solidFill>
                  <a:srgbClr val="0F1141"/>
                </a:solidFill>
                <a:latin typeface="Arial" panose="020B0604020202020204"/>
                <a:cs typeface="Arial" panose="020B0604020202020204"/>
              </a:rPr>
              <a:t> </a:t>
            </a:r>
            <a:r>
              <a:rPr sz="1100" dirty="0">
                <a:solidFill>
                  <a:srgbClr val="0F1141"/>
                </a:solidFill>
                <a:latin typeface="Arial" panose="020B0604020202020204"/>
                <a:cs typeface="Arial" panose="020B0604020202020204"/>
              </a:rPr>
              <a:t>Campus</a:t>
            </a:r>
            <a:endParaRPr sz="1100">
              <a:latin typeface="Arial" panose="020B0604020202020204"/>
              <a:cs typeface="Arial" panose="020B0604020202020204"/>
            </a:endParaRPr>
          </a:p>
        </p:txBody>
      </p:sp>
      <p:sp>
        <p:nvSpPr>
          <p:cNvPr id="3" name="object 3"/>
          <p:cNvSpPr/>
          <p:nvPr/>
        </p:nvSpPr>
        <p:spPr>
          <a:xfrm>
            <a:off x="6629400" y="0"/>
            <a:ext cx="2193036" cy="693420"/>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2133600" y="6553200"/>
            <a:ext cx="7010400" cy="45720"/>
            <a:chOff x="2133600" y="6553200"/>
            <a:chExt cx="7010400" cy="45720"/>
          </a:xfrm>
        </p:grpSpPr>
        <p:sp>
          <p:nvSpPr>
            <p:cNvPr id="5" name="object 5"/>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6" name="object 6"/>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7" name="object 7"/>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grpSp>
        <p:nvGrpSpPr>
          <p:cNvPr id="8" name="object 8"/>
          <p:cNvGrpSpPr/>
          <p:nvPr/>
        </p:nvGrpSpPr>
        <p:grpSpPr>
          <a:xfrm>
            <a:off x="0" y="1295400"/>
            <a:ext cx="7010400" cy="45720"/>
            <a:chOff x="0" y="1295400"/>
            <a:chExt cx="7010400" cy="45720"/>
          </a:xfrm>
        </p:grpSpPr>
        <p:sp>
          <p:nvSpPr>
            <p:cNvPr id="9" name="object 9"/>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0" name="object 10"/>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1" name="object 11"/>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2" name="object 12"/>
          <p:cNvSpPr txBox="1">
            <a:spLocks noGrp="1"/>
          </p:cNvSpPr>
          <p:nvPr>
            <p:ph type="title"/>
          </p:nvPr>
        </p:nvSpPr>
        <p:spPr>
          <a:xfrm>
            <a:off x="638235" y="605155"/>
            <a:ext cx="7515165" cy="505908"/>
          </a:xfrm>
          <a:prstGeom prst="rect">
            <a:avLst/>
          </a:prstGeom>
        </p:spPr>
        <p:txBody>
          <a:bodyPr vert="horz" wrap="square" lIns="0" tIns="13335" rIns="0" bIns="0" rtlCol="0">
            <a:spAutoFit/>
          </a:bodyPr>
          <a:lstStyle/>
          <a:p>
            <a:r>
              <a:rPr lang="en-US" sz="3200" dirty="0"/>
              <a:t>References</a:t>
            </a:r>
          </a:p>
        </p:txBody>
      </p:sp>
      <p:sp>
        <p:nvSpPr>
          <p:cNvPr id="15" name="Text Placeholder 3"/>
          <p:cNvSpPr txBox="1">
            <a:spLocks/>
          </p:cNvSpPr>
          <p:nvPr/>
        </p:nvSpPr>
        <p:spPr>
          <a:xfrm>
            <a:off x="152400" y="1041023"/>
            <a:ext cx="9220200" cy="6124754"/>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dirty="0">
              <a:hlinkClick r:id="rId3"/>
            </a:endParaRPr>
          </a:p>
          <a:p>
            <a:pPr marL="285750" indent="-285750">
              <a:buFont typeface="Arial" pitchFamily="34" charset="0"/>
              <a:buChar char="•"/>
            </a:pPr>
            <a:r>
              <a:rPr lang="en-US" sz="2000" dirty="0">
                <a:hlinkClick r:id="rId4"/>
              </a:rPr>
              <a:t>Text Summarization In NLP (topcoder.com)</a:t>
            </a:r>
            <a:endParaRPr lang="en-US" sz="2000" dirty="0"/>
          </a:p>
          <a:p>
            <a:pPr marL="285750" indent="-285750">
              <a:buFont typeface="Arial" pitchFamily="34" charset="0"/>
              <a:buChar char="•"/>
            </a:pPr>
            <a:r>
              <a:rPr lang="en-US" sz="2000" dirty="0">
                <a:hlinkClick r:id="rId5"/>
              </a:rPr>
              <a:t>https://medium.com/analytics-vidhya/text-summarization-using-nlp-3e85ad0c6349</a:t>
            </a:r>
            <a:endParaRPr lang="en-US" sz="2000" dirty="0"/>
          </a:p>
          <a:p>
            <a:pPr marL="285750" indent="-285750">
              <a:buFont typeface="Arial" pitchFamily="34" charset="0"/>
              <a:buChar char="•"/>
            </a:pPr>
            <a:r>
              <a:rPr lang="en-US" sz="2000" dirty="0">
                <a:hlinkClick r:id="rId6"/>
              </a:rPr>
              <a:t>https://www.analyticsvidhya.com/blog/2019/06/comprehensive-guide-text-summarization-using-deep-learning-python/</a:t>
            </a:r>
            <a:endParaRPr lang="en-US" sz="2000" dirty="0"/>
          </a:p>
          <a:p>
            <a:pPr marL="285750" indent="-285750">
              <a:buFont typeface="Arial" pitchFamily="34" charset="0"/>
              <a:buChar char="•"/>
            </a:pPr>
            <a:r>
              <a:rPr lang="en-US" sz="2000" dirty="0"/>
              <a:t>https://huggingface.co/models?pipeline_tag=summarization&amp;sort=trending</a:t>
            </a:r>
          </a:p>
          <a:p>
            <a:pPr marL="285750" indent="-285750">
              <a:buFont typeface="Arial" pitchFamily="34" charset="0"/>
              <a:buChar char="•"/>
            </a:pPr>
            <a:r>
              <a:rPr lang="en-US" sz="2000" dirty="0">
                <a:hlinkClick r:id="rId7"/>
              </a:rPr>
              <a:t>https://huggingface.co/Falconsai/text_summarization</a:t>
            </a:r>
            <a:endParaRPr lang="en-US" sz="2000" dirty="0"/>
          </a:p>
          <a:p>
            <a:pPr marL="285750" indent="-285750">
              <a:buFont typeface="Arial" pitchFamily="34" charset="0"/>
              <a:buChar char="•"/>
            </a:pPr>
            <a:r>
              <a:rPr lang="en-US" sz="2000" dirty="0">
                <a:hlinkClick r:id="rId8"/>
              </a:rPr>
              <a:t>https://en.wikipedia.org/wiki/ROUGE_(metric)</a:t>
            </a:r>
            <a:endParaRPr lang="en-US" sz="2000" dirty="0"/>
          </a:p>
          <a:p>
            <a:pPr marL="285750" indent="-285750">
              <a:buFont typeface="Arial" pitchFamily="34" charset="0"/>
              <a:buChar char="•"/>
            </a:pPr>
            <a:r>
              <a:rPr lang="en-US" sz="2000" dirty="0">
                <a:hlinkClick r:id="rId9"/>
              </a:rPr>
              <a:t>https://medium.com/nlplanet/two-minutes-nlp-learn-the-rouge-metric-by-examples-f179cc285499</a:t>
            </a:r>
            <a:endParaRPr lang="en-US" sz="2000" dirty="0"/>
          </a:p>
          <a:p>
            <a:pPr marL="285750" indent="-285750">
              <a:buFont typeface="Arial" pitchFamily="34" charset="0"/>
              <a:buChar char="•"/>
            </a:pPr>
            <a:r>
              <a:rPr lang="en-US" sz="2000" dirty="0">
                <a:hlinkClick r:id="rId10"/>
              </a:rPr>
              <a:t>https://pypi.org/project/rouge-metric/</a:t>
            </a:r>
            <a:endParaRPr lang="en-US" sz="2000" dirty="0"/>
          </a:p>
          <a:p>
            <a:pPr marL="285750" indent="-285750">
              <a:buFont typeface="Arial" pitchFamily="34" charset="0"/>
              <a:buChar char="•"/>
            </a:pPr>
            <a:r>
              <a:rPr lang="en-US" sz="2000" dirty="0">
                <a:hlinkClick r:id="rId11"/>
              </a:rPr>
              <a:t>https://cookbook.openai.com/examples/evaluation/how_to_eval_abstractive_summarization</a:t>
            </a:r>
            <a:endParaRPr lang="en-US" sz="2000" dirty="0"/>
          </a:p>
          <a:p>
            <a:pPr marL="285750" indent="-285750">
              <a:buFont typeface="Arial" pitchFamily="34" charset="0"/>
              <a:buChar char="•"/>
            </a:pPr>
            <a:r>
              <a:rPr lang="en-US" sz="2000" dirty="0"/>
              <a:t>https://www.kaggle.com/code/evilspirit05/abstractive-summarization-with-huggingface</a:t>
            </a:r>
          </a:p>
          <a:p>
            <a:pPr marL="285750" indent="-285750">
              <a:buFont typeface="Arial" pitchFamily="34" charset="0"/>
              <a:buChar char="•"/>
            </a:pPr>
            <a:r>
              <a:rPr lang="en-US" sz="2000" dirty="0"/>
              <a:t>YouTube Videos:-</a:t>
            </a:r>
          </a:p>
          <a:p>
            <a:pPr marL="742950" lvl="1" indent="-285750">
              <a:buFont typeface="Arial" pitchFamily="34" charset="0"/>
              <a:buChar char="•"/>
            </a:pPr>
            <a:r>
              <a:rPr lang="en-US" sz="2000" dirty="0"/>
              <a:t>https://www.youtube.com/watch?v=SNimr_nOC7w&amp;t=327s</a:t>
            </a:r>
          </a:p>
          <a:p>
            <a:pPr marL="742950" lvl="1" indent="-285750">
              <a:buFont typeface="Arial" pitchFamily="34" charset="0"/>
              <a:buChar char="•"/>
            </a:pPr>
            <a:r>
              <a:rPr lang="en-US" sz="2000" dirty="0">
                <a:hlinkClick r:id="rId12"/>
              </a:rPr>
              <a:t>https://www.youtube.com/watch?v=CDmPBsZ09wg</a:t>
            </a:r>
            <a:endParaRPr lang="en-US" sz="2000" dirty="0"/>
          </a:p>
          <a:p>
            <a:pPr marL="742950" lvl="1" indent="-285750">
              <a:buFont typeface="Arial" pitchFamily="34" charset="0"/>
              <a:buChar char="•"/>
            </a:pPr>
            <a:r>
              <a:rPr lang="en-US" sz="2000" dirty="0">
                <a:hlinkClick r:id="rId13"/>
              </a:rPr>
              <a:t>https://www.youtube.com/watch?v=TMshhnrEXlg</a:t>
            </a:r>
            <a:endParaRPr lang="en-US" sz="2000" dirty="0"/>
          </a:p>
          <a:p>
            <a:pPr marL="742950" lvl="1" indent="-285750">
              <a:buFont typeface="Arial" pitchFamily="34" charset="0"/>
              <a:buChar char="•"/>
            </a:pPr>
            <a:r>
              <a:rPr lang="en-US" sz="2000" dirty="0"/>
              <a:t>https://www.youtube.com/watch?v=Aqpi6abDAiM</a:t>
            </a:r>
          </a:p>
        </p:txBody>
      </p:sp>
    </p:spTree>
    <p:extLst>
      <p:ext uri="{BB962C8B-B14F-4D97-AF65-F5344CB8AC3E}">
        <p14:creationId xmlns:p14="http://schemas.microsoft.com/office/powerpoint/2010/main" val="3945077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0"/>
            <a:ext cx="7045248" cy="697229"/>
          </a:xfrm>
        </p:spPr>
        <p:txBody>
          <a:bodyPr/>
          <a:lstStyle/>
          <a:p>
            <a:pPr algn="ctr"/>
            <a:r>
              <a:rPr lang="en-US"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28799</TotalTime>
  <Words>744</Words>
  <Application>Microsoft Office PowerPoint</Application>
  <PresentationFormat>On-screen Show (4:3)</PresentationFormat>
  <Paragraphs>76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Unicode MS</vt:lpstr>
      <vt:lpstr>Calibri</vt:lpstr>
      <vt:lpstr>Carlito</vt:lpstr>
      <vt:lpstr>source-serif-pro</vt:lpstr>
      <vt:lpstr>Office Theme</vt:lpstr>
      <vt:lpstr>PowerPoint Presentation</vt:lpstr>
      <vt:lpstr>PowerPoint Presentation</vt:lpstr>
      <vt:lpstr>Agenda</vt:lpstr>
      <vt:lpstr>Introduction</vt:lpstr>
      <vt:lpstr>Advantages of Text Summarization</vt:lpstr>
      <vt:lpstr>Approaches to Text Summarization</vt:lpstr>
      <vt:lpstr>ROUGE (metric)</vt:lpstr>
      <vt:lpstr>ROUGE (metric)…</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Avinash</dc:creator>
  <cp:lastModifiedBy>Asha M V</cp:lastModifiedBy>
  <cp:revision>181</cp:revision>
  <dcterms:created xsi:type="dcterms:W3CDTF">2020-12-24T18:58:00Z</dcterms:created>
  <dcterms:modified xsi:type="dcterms:W3CDTF">2025-08-12T13:33:51Z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2020-11-12T22:00:00Z</vt:filetime>
  </property>
  <property fmtid="{D5CDD505-2E9C-101B-9397-08002B2CF9AE}" pid="3" name="Creator">
    <vt:lpwstr>Microsoft® PowerPoint® 2016</vt:lpwstr>
  </property>
  <property fmtid="{D5CDD505-2E9C-101B-9397-08002B2CF9AE}" pid="4" name="LastSaved">
    <vt:filetime>2020-12-24T22:00:00Z</vt:filetime>
  </property>
  <property fmtid="{D5CDD505-2E9C-101B-9397-08002B2CF9AE}" pid="5" name="KSOProductBuildVer">
    <vt:lpwstr>2057-11.2.0.10132</vt:lpwstr>
  </property>
</Properties>
</file>